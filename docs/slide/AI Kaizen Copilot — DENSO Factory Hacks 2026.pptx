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ptos" charset="1" panose="020B0004020202020204"/>
      <p:regular r:id="rId15"/>
    </p:embeddedFont>
    <p:embeddedFont>
      <p:font typeface="Aptos Bold" charset="1" panose="020B0004020202020204"/>
      <p:regular r:id="rId16"/>
    </p:embeddedFont>
    <p:embeddedFont>
      <p:font typeface="Segoe UI" charset="1" panose="020B0502040204020203"/>
      <p:regular r:id="rId20"/>
    </p:embeddedFont>
    <p:embeddedFont>
      <p:font typeface="Arial" charset="1" panose="020B0604020202020204"/>
      <p:regular r:id="rId21"/>
    </p:embeddedFont>
    <p:embeddedFont>
      <p:font typeface="Calibri (MS) Bold" charset="1" panose="020F0702030404030204"/>
      <p:regular r:id="rId22"/>
    </p:embeddedFont>
    <p:embeddedFont>
      <p:font typeface="Times New Roman Bold" charset="1" panose="020208030705050203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- Existing template structure from Denso Hack_Presentation Template.pptx provided by user.</a:t>
            </a:r>
          </a:p>
          <a:p>
            <a:r>
              <a:rPr lang="en-US"/>
              <a:t>- Visual on this slide was generated with Microsoft Copilot.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08206" y="95250"/>
            <a:ext cx="130968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0000">
                    <a:alpha val="49804"/>
                  </a:srgbClr>
                </a:solidFill>
                <a:latin typeface="Aptos"/>
                <a:ea typeface="Aptos"/>
                <a:cs typeface="Aptos"/>
                <a:sym typeface="Aptos"/>
              </a:rPr>
              <a:t>CONFIDENTIAL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22671" y="1747333"/>
            <a:ext cx="8655796" cy="3462318"/>
            <a:chOff x="0" y="0"/>
            <a:chExt cx="11541062" cy="46164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40998" cy="4616450"/>
            </a:xfrm>
            <a:custGeom>
              <a:avLst/>
              <a:gdLst/>
              <a:ahLst/>
              <a:cxnLst/>
              <a:rect r="r" b="b" t="t" l="l"/>
              <a:pathLst>
                <a:path h="4616450" w="11540998">
                  <a:moveTo>
                    <a:pt x="0" y="0"/>
                  </a:moveTo>
                  <a:lnTo>
                    <a:pt x="11540998" y="0"/>
                  </a:lnTo>
                  <a:lnTo>
                    <a:pt x="11540998" y="4616450"/>
                  </a:lnTo>
                  <a:lnTo>
                    <a:pt x="0" y="461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18804" y="7365873"/>
            <a:ext cx="8691372" cy="66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AI KAIZEN COPILOT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59952" y="8069580"/>
            <a:ext cx="8691372" cy="56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Từ video thao tác đến đề xuất cải tiến có bằng chứng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87384" y="8810244"/>
            <a:ext cx="8142732" cy="20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E7F3FF"/>
                </a:solidFill>
                <a:latin typeface="Aptos Bold"/>
                <a:ea typeface="Aptos Bold"/>
                <a:cs typeface="Aptos Bold"/>
                <a:sym typeface="Aptos Bold"/>
              </a:rPr>
              <a:t>A1 • TRI THỨC CHUYÊN GIA   +   A3 • PHÂN TÍCH CHUYỂN ĐỘNG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08206" y="95250"/>
            <a:ext cx="130968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0000">
                    <a:alpha val="49804"/>
                  </a:srgbClr>
                </a:solidFill>
                <a:latin typeface="Aptos"/>
                <a:ea typeface="Aptos"/>
                <a:cs typeface="Aptos"/>
                <a:sym typeface="Aptos"/>
              </a:rPr>
              <a:t>CONFIDENTIAL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8980713"/>
            <a:ext cx="18288000" cy="1306287"/>
            <a:chOff x="0" y="0"/>
            <a:chExt cx="24384000" cy="17417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741678"/>
            </a:xfrm>
            <a:custGeom>
              <a:avLst/>
              <a:gdLst/>
              <a:ahLst/>
              <a:cxnLst/>
              <a:rect r="r" b="b" t="t" l="l"/>
              <a:pathLst>
                <a:path h="17416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41678"/>
                  </a:lnTo>
                  <a:lnTo>
                    <a:pt x="0" y="1741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6176" r="0" b="-527175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7543" cy="1303020"/>
            <a:chOff x="0" y="0"/>
            <a:chExt cx="24383390" cy="1737360"/>
          </a:xfrm>
        </p:grpSpPr>
        <p:sp>
          <p:nvSpPr>
            <p:cNvPr name="Freeform 6" id="6" descr="/mnt/data/ff1500126d.png"/>
            <p:cNvSpPr/>
            <p:nvPr/>
          </p:nvSpPr>
          <p:spPr>
            <a:xfrm flipH="false" flipV="false" rot="0">
              <a:off x="0" y="0"/>
              <a:ext cx="24383364" cy="1737360"/>
            </a:xfrm>
            <a:custGeom>
              <a:avLst/>
              <a:gdLst/>
              <a:ahLst/>
              <a:cxnLst/>
              <a:rect r="r" b="b" t="t" l="l"/>
              <a:pathLst>
                <a:path h="173736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737360"/>
                  </a:lnTo>
                  <a:lnTo>
                    <a:pt x="0" y="1737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17824" r="0" b="-41782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38912" y="315468"/>
            <a:ext cx="3634740" cy="905256"/>
            <a:chOff x="0" y="0"/>
            <a:chExt cx="4846320" cy="1207008"/>
          </a:xfrm>
        </p:grpSpPr>
        <p:sp>
          <p:nvSpPr>
            <p:cNvPr name="Freeform 8" id="8" descr="/mnt/data/denso_fpt_logo_transparent.png"/>
            <p:cNvSpPr/>
            <p:nvPr/>
          </p:nvSpPr>
          <p:spPr>
            <a:xfrm flipH="false" flipV="false" rot="0">
              <a:off x="0" y="0"/>
              <a:ext cx="48463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207008"/>
                  </a:lnTo>
                  <a:lnTo>
                    <a:pt x="0" y="1207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20" r="0" b="-222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457700" y="342900"/>
            <a:ext cx="9464040" cy="548640"/>
            <a:chOff x="0" y="0"/>
            <a:chExt cx="1261872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61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6116" r="0" b="-28611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26187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TÓM TẮT ĐỀ XUẤT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48846" y="9036996"/>
            <a:ext cx="15019020" cy="342900"/>
            <a:chOff x="0" y="0"/>
            <a:chExt cx="20025360" cy="457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025361" cy="457200"/>
            </a:xfrm>
            <a:custGeom>
              <a:avLst/>
              <a:gdLst/>
              <a:ahLst/>
              <a:cxnLst/>
              <a:rect r="r" b="b" t="t" l="l"/>
              <a:pathLst>
                <a:path h="457200" w="20025361">
                  <a:moveTo>
                    <a:pt x="0" y="0"/>
                  </a:moveTo>
                  <a:lnTo>
                    <a:pt x="20025361" y="0"/>
                  </a:lnTo>
                  <a:lnTo>
                    <a:pt x="20025361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03444" r="0" b="-80344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002536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FINAL PITCH MESSAGE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48846" y="9517056"/>
            <a:ext cx="15019020" cy="164592"/>
            <a:chOff x="0" y="0"/>
            <a:chExt cx="20025360" cy="2194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025361" cy="219456"/>
            </a:xfrm>
            <a:custGeom>
              <a:avLst/>
              <a:gdLst/>
              <a:ahLst/>
              <a:cxnLst/>
              <a:rect r="r" b="b" t="t" l="l"/>
              <a:pathLst>
                <a:path h="219456" w="20025361">
                  <a:moveTo>
                    <a:pt x="0" y="0"/>
                  </a:moveTo>
                  <a:lnTo>
                    <a:pt x="20025361" y="0"/>
                  </a:lnTo>
                  <a:lnTo>
                    <a:pt x="20025361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28009" r="0" b="-172800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0025360" cy="219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7"/>
                </a:lnSpc>
              </a:pPr>
              <a:r>
                <a:rPr lang="en-US" sz="1147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Nếu được chọn, đội sẽ xây dựng PoC 4 tuần giúp DENSO biến video tại một trạm thành báo cáo Kaizen có số liệu, nguồn SOP tham chiếu và KPI xác minh được.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2700">
            <a:off x="610552" y="9678734"/>
            <a:ext cx="17089765" cy="0"/>
          </a:xfrm>
          <a:prstGeom prst="line">
            <a:avLst/>
          </a:prstGeom>
          <a:ln cap="rnd" w="9525">
            <a:solidFill>
              <a:srgbClr val="D9E2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685800" y="9834372"/>
            <a:ext cx="11658600" cy="246888"/>
            <a:chOff x="0" y="0"/>
            <a:chExt cx="15544800" cy="3291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544800" cy="329184"/>
            </a:xfrm>
            <a:custGeom>
              <a:avLst/>
              <a:gdLst/>
              <a:ahLst/>
              <a:cxnLst/>
              <a:rect r="r" b="b" t="t" l="l"/>
              <a:pathLst>
                <a:path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70126" r="0" b="-87012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554480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BFD6E8"/>
                  </a:solidFill>
                  <a:latin typeface="Aptos"/>
                  <a:ea typeface="Aptos"/>
                  <a:cs typeface="Aptos"/>
                  <a:sym typeface="Aptos"/>
                </a:rPr>
                <a:t>DENSO Factory Hacks 2026  |  AI Kaizen Copilot</a:t>
              </a:r>
            </a:p>
          </p:txBody>
        </p:sp>
      </p:grp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800552" y="3667316"/>
          <a:ext cx="16478250" cy="4324350"/>
        </p:xfrm>
        <a:graphic>
          <a:graphicData uri="http://schemas.openxmlformats.org/drawingml/2006/table">
            <a:tbl>
              <a:tblPr/>
              <a:tblGrid>
                <a:gridCol w="7855269"/>
                <a:gridCol w="8622981"/>
              </a:tblGrid>
              <a:tr h="4019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CÂU HỎI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8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TRẢ LỜI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866"/>
                    </a:solidFill>
                  </a:tcPr>
                </a:tc>
              </a:tr>
              <a:tr h="6357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  <a:sym typeface="Segoe UI"/>
                        </a:rPr>
                        <a:t>1. Trình bày điểm mới, đột phá so với các giải pháp truyền thống?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4"/>
                        </a:lnSpc>
                        <a:defRPr/>
                      </a:pPr>
                      <a:r>
                        <a:rPr lang="en-US" sz="1395">
                          <a:solidFill>
                            <a:srgbClr val="1F2D3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Kết hợp A3 (đo thao tác từ video) với A1 (truy xuất SOP/Kaizen) để nối số liệu có timestamp với tri thức có dẫn chứng — không chỉ sinh câu trả lời.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7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  <a:sym typeface="Segoe UI"/>
                        </a:rPr>
                        <a:t>2. Ý tưởng này đang giải quyết vấn đề gì tại Denso? 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4"/>
                        </a:lnSpc>
                        <a:defRPr/>
                      </a:pPr>
                      <a:r>
                        <a:rPr lang="en-US" sz="1395">
                          <a:solidFill>
                            <a:srgbClr val="1F2D3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Tạo quy trình nhất quán để đo cycle time, thao tác/chờ và quỹ đạo; kết nối insight định lượng với tiêu chuẩn thao tác. Pain point cần xác thực tại trạm pilot.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97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  <a:sym typeface="Segoe UI"/>
                        </a:rPr>
                        <a:t>3. Phương pháp/công cụ áp dụng và thời gian thực hiện dự án?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4"/>
                        </a:lnSpc>
                        <a:defRPr/>
                      </a:pPr>
                      <a:r>
                        <a:rPr lang="en-US" sz="1395">
                          <a:solidFill>
                            <a:srgbClr val="1F2D3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OpenCV + pose/tracking + time study; RAG trên SOP/standard work; dashboard/API. PoC 4 tuần: chốt bài toán → A3 → A1 → kiểm chứng tại pilot.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17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  <a:sym typeface="Segoe UI"/>
                        </a:rPr>
                        <a:t>4. Ý tưởng này mang lại hiệu quả gì? Cho số liệu.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4"/>
                        </a:lnSpc>
                        <a:defRPr/>
                      </a:pPr>
                      <a:r>
                        <a:rPr lang="en-US" sz="1395">
                          <a:solidFill>
                            <a:srgbClr val="1F2D3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KPI mục tiêu: sai số cycle time ≤5%; thời gian lập báo cáo giảm ≥30%; Macro-F1 ≥0.80; 100% gợi ý có nguồn bằng chứng. Đây là mục tiêu nghiệm thu, chưa phải kết quả đo.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57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  <a:sym typeface="Segoe UI"/>
                        </a:rPr>
                        <a:t>5.  Khả năng mở rộng, triển khai ngang của dự án là gì (trong nội bộ Denso hoặc các nhà máy khác)? 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4"/>
                        </a:lnSpc>
                        <a:defRPr/>
                      </a:pPr>
                      <a:r>
                        <a:rPr lang="en-US" sz="1395">
                          <a:solidFill>
                            <a:srgbClr val="1F2D3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Thiết kế module theo trạm, SOP và bộ nhãn thao tác. Bắt đầu từ một use case; chỉ nhân rộng khi KPI, bảo mật và tính hữu dụng được kỹ sư xác nhận.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37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  <a:sym typeface="Segoe UI"/>
                        </a:rPr>
                        <a:t>6. Nhóm đã có những kiến thức hoặc kinh nghiệm nào giúp thực hiện giải pháp? 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4"/>
                        </a:lnSpc>
                        <a:defRPr/>
                      </a:pPr>
                      <a:r>
                        <a:rPr lang="en-US" sz="1395">
                          <a:solidFill>
                            <a:srgbClr val="1F2D3D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Phân vai đề xuất: Computer Vision &amp; tracking; AI/RAG &amp; backend; dashboard &amp; evaluation. Bổ sung tên thành viên cùng minh chứng kinh nghiệm thực tế trước khi nộp.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23" id="23"/>
          <p:cNvSpPr txBox="true"/>
          <p:nvPr/>
        </p:nvSpPr>
        <p:spPr>
          <a:xfrm rot="0">
            <a:off x="706345" y="1557223"/>
            <a:ext cx="8234686" cy="37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F2D3D"/>
                </a:solidFill>
                <a:latin typeface="Aptos Bold"/>
                <a:ea typeface="Aptos Bold"/>
                <a:cs typeface="Aptos Bold"/>
                <a:sym typeface="Aptos Bold"/>
              </a:rPr>
              <a:t>TÊN CHỦ ĐỀ:  AI KAIZEN COPILOT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01548" y="2314642"/>
            <a:ext cx="15019020" cy="342900"/>
            <a:chOff x="0" y="0"/>
            <a:chExt cx="20025360" cy="457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025361" cy="457200"/>
            </a:xfrm>
            <a:custGeom>
              <a:avLst/>
              <a:gdLst/>
              <a:ahLst/>
              <a:cxnLst/>
              <a:rect r="r" b="b" t="t" l="l"/>
              <a:pathLst>
                <a:path h="457200" w="20025361">
                  <a:moveTo>
                    <a:pt x="0" y="0"/>
                  </a:moveTo>
                  <a:lnTo>
                    <a:pt x="20025361" y="0"/>
                  </a:lnTo>
                  <a:lnTo>
                    <a:pt x="20025361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03444" r="0" b="-80344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002536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2D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CHỦ ĐỀ DỰ THI ĐỀ XUẤT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71616" y="2809789"/>
            <a:ext cx="2383222" cy="135788"/>
            <a:chOff x="0" y="0"/>
            <a:chExt cx="3177629" cy="1810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77624" cy="181046"/>
            </a:xfrm>
            <a:custGeom>
              <a:avLst/>
              <a:gdLst/>
              <a:ahLst/>
              <a:cxnLst/>
              <a:rect r="r" b="b" t="t" l="l"/>
              <a:pathLst>
                <a:path h="181046" w="3177624">
                  <a:moveTo>
                    <a:pt x="0" y="0"/>
                  </a:moveTo>
                  <a:lnTo>
                    <a:pt x="3177624" y="0"/>
                  </a:lnTo>
                  <a:lnTo>
                    <a:pt x="3177624" y="181046"/>
                  </a:lnTo>
                  <a:lnTo>
                    <a:pt x="0" y="18104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1990" r="0" b="-29199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177629" cy="2001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AI - Dự báo &amp; Tri thức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256522" y="2803112"/>
            <a:ext cx="2383222" cy="135788"/>
            <a:chOff x="0" y="0"/>
            <a:chExt cx="3177629" cy="18105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77624" cy="181046"/>
            </a:xfrm>
            <a:custGeom>
              <a:avLst/>
              <a:gdLst/>
              <a:ahLst/>
              <a:cxnLst/>
              <a:rect r="r" b="b" t="t" l="l"/>
              <a:pathLst>
                <a:path h="181046" w="3177624">
                  <a:moveTo>
                    <a:pt x="0" y="0"/>
                  </a:moveTo>
                  <a:lnTo>
                    <a:pt x="3177624" y="0"/>
                  </a:lnTo>
                  <a:lnTo>
                    <a:pt x="3177624" y="181046"/>
                  </a:lnTo>
                  <a:lnTo>
                    <a:pt x="0" y="18104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1990" r="0" b="-29199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3177629" cy="2001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Humanoid &amp; Robot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416108" y="2816398"/>
            <a:ext cx="2713983" cy="129180"/>
            <a:chOff x="0" y="0"/>
            <a:chExt cx="3609518" cy="1718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09516" cy="171800"/>
            </a:xfrm>
            <a:custGeom>
              <a:avLst/>
              <a:gdLst/>
              <a:ahLst/>
              <a:cxnLst/>
              <a:rect r="r" b="b" t="t" l="l"/>
              <a:pathLst>
                <a:path h="171800" w="3609516">
                  <a:moveTo>
                    <a:pt x="0" y="0"/>
                  </a:moveTo>
                  <a:lnTo>
                    <a:pt x="3609516" y="0"/>
                  </a:lnTo>
                  <a:lnTo>
                    <a:pt x="3609516" y="171800"/>
                  </a:lnTo>
                  <a:lnTo>
                    <a:pt x="0" y="171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9378" r="0" b="-35938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3609518" cy="190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Data - Chuẩn hóa &amp; Khai thác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6834" y="2800264"/>
            <a:ext cx="236372" cy="154838"/>
            <a:chOff x="0" y="0"/>
            <a:chExt cx="315163" cy="20645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15214" cy="206502"/>
            </a:xfrm>
            <a:custGeom>
              <a:avLst/>
              <a:gdLst/>
              <a:ahLst/>
              <a:cxnLst/>
              <a:rect r="r" b="b" t="t" l="l"/>
              <a:pathLst>
                <a:path h="206502" w="315214">
                  <a:moveTo>
                    <a:pt x="0" y="0"/>
                  </a:moveTo>
                  <a:lnTo>
                    <a:pt x="315214" y="0"/>
                  </a:lnTo>
                  <a:lnTo>
                    <a:pt x="315214" y="206502"/>
                  </a:lnTo>
                  <a:lnTo>
                    <a:pt x="0" y="20650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3914775" y="2793340"/>
            <a:ext cx="236372" cy="154838"/>
            <a:chOff x="0" y="0"/>
            <a:chExt cx="315163" cy="2064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5214" cy="206502"/>
            </a:xfrm>
            <a:custGeom>
              <a:avLst/>
              <a:gdLst/>
              <a:ahLst/>
              <a:cxnLst/>
              <a:rect r="r" b="b" t="t" l="l"/>
              <a:pathLst>
                <a:path h="206502" w="315214">
                  <a:moveTo>
                    <a:pt x="0" y="0"/>
                  </a:moveTo>
                  <a:lnTo>
                    <a:pt x="315214" y="0"/>
                  </a:lnTo>
                  <a:lnTo>
                    <a:pt x="315214" y="206502"/>
                  </a:lnTo>
                  <a:lnTo>
                    <a:pt x="0" y="20650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115185" y="2793340"/>
            <a:ext cx="236372" cy="154838"/>
            <a:chOff x="0" y="0"/>
            <a:chExt cx="315163" cy="20645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5214" cy="206502"/>
            </a:xfrm>
            <a:custGeom>
              <a:avLst/>
              <a:gdLst/>
              <a:ahLst/>
              <a:cxnLst/>
              <a:rect r="r" b="b" t="t" l="l"/>
              <a:pathLst>
                <a:path h="206502" w="315214">
                  <a:moveTo>
                    <a:pt x="0" y="0"/>
                  </a:moveTo>
                  <a:lnTo>
                    <a:pt x="315214" y="0"/>
                  </a:lnTo>
                  <a:lnTo>
                    <a:pt x="315214" y="206502"/>
                  </a:lnTo>
                  <a:lnTo>
                    <a:pt x="0" y="20650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429454" y="9032262"/>
            <a:ext cx="87630" cy="896874"/>
            <a:chOff x="0" y="0"/>
            <a:chExt cx="116840" cy="119583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6840" cy="1195832"/>
            </a:xfrm>
            <a:custGeom>
              <a:avLst/>
              <a:gdLst/>
              <a:ahLst/>
              <a:cxnLst/>
              <a:rect r="r" b="b" t="t" l="l"/>
              <a:pathLst>
                <a:path h="1195832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195832"/>
                  </a:lnTo>
                  <a:lnTo>
                    <a:pt x="0" y="1195832"/>
                  </a:lnTo>
                  <a:close/>
                </a:path>
              </a:pathLst>
            </a:custGeom>
            <a:solidFill>
              <a:srgbClr val="30D158"/>
            </a:solidFill>
            <a:ln w="19050" cap="sq">
              <a:solidFill>
                <a:srgbClr val="30D158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25830" y="2763774"/>
            <a:ext cx="246888" cy="246888"/>
            <a:chOff x="0" y="0"/>
            <a:chExt cx="329184" cy="3291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29184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B9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084314" y="2763774"/>
            <a:ext cx="246888" cy="246888"/>
            <a:chOff x="0" y="0"/>
            <a:chExt cx="329184" cy="3291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29184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B9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08206" y="95250"/>
            <a:ext cx="130968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0000">
                    <a:alpha val="49804"/>
                  </a:srgbClr>
                </a:solidFill>
                <a:latin typeface="Aptos"/>
                <a:ea typeface="Aptos"/>
                <a:cs typeface="Aptos"/>
                <a:sym typeface="Aptos"/>
              </a:rPr>
              <a:t>CONFIDENTIAL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1862595"/>
            <a:ext cx="18283390" cy="8686800"/>
            <a:chOff x="0" y="0"/>
            <a:chExt cx="24377853" cy="1158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11582400"/>
            </a:xfrm>
            <a:custGeom>
              <a:avLst/>
              <a:gdLst/>
              <a:ahLst/>
              <a:cxnLst/>
              <a:rect r="r" b="b" t="t" l="l"/>
              <a:pathLst>
                <a:path h="115824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1582400"/>
                  </a:lnTo>
                  <a:lnTo>
                    <a:pt x="0" y="11582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8980713"/>
            <a:ext cx="18288000" cy="1306287"/>
            <a:chOff x="0" y="0"/>
            <a:chExt cx="24384000" cy="1741716"/>
          </a:xfrm>
        </p:grpSpPr>
        <p:sp>
          <p:nvSpPr>
            <p:cNvPr name="Freeform 7" id="7" descr="A blue and green rectangle with a circle and lines  AI-generated content may be incorrect."/>
            <p:cNvSpPr/>
            <p:nvPr/>
          </p:nvSpPr>
          <p:spPr>
            <a:xfrm flipH="false" flipV="false" rot="0">
              <a:off x="0" y="0"/>
              <a:ext cx="24384000" cy="1741678"/>
            </a:xfrm>
            <a:custGeom>
              <a:avLst/>
              <a:gdLst/>
              <a:ahLst/>
              <a:cxnLst/>
              <a:rect r="r" b="b" t="t" l="l"/>
              <a:pathLst>
                <a:path h="17416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41678"/>
                  </a:lnTo>
                  <a:lnTo>
                    <a:pt x="0" y="1741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6176" r="0" b="-52717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730284" y="562346"/>
            <a:ext cx="15590520" cy="1868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sz="54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GIỚI THIỆU TEAM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34204" y="9277188"/>
            <a:ext cx="87630" cy="896874"/>
            <a:chOff x="0" y="0"/>
            <a:chExt cx="116840" cy="11958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840" cy="1195832"/>
            </a:xfrm>
            <a:custGeom>
              <a:avLst/>
              <a:gdLst/>
              <a:ahLst/>
              <a:cxnLst/>
              <a:rect r="r" b="b" t="t" l="l"/>
              <a:pathLst>
                <a:path h="1195832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195832"/>
                  </a:lnTo>
                  <a:lnTo>
                    <a:pt x="0" y="1195832"/>
                  </a:lnTo>
                  <a:close/>
                </a:path>
              </a:pathLst>
            </a:custGeom>
            <a:solidFill>
              <a:srgbClr val="30D158"/>
            </a:solidFill>
            <a:ln w="19050" cap="sq">
              <a:solidFill>
                <a:srgbClr val="30D158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76901" y="9410157"/>
            <a:ext cx="15019020" cy="342900"/>
            <a:chOff x="0" y="0"/>
            <a:chExt cx="2002536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025361" cy="457200"/>
            </a:xfrm>
            <a:custGeom>
              <a:avLst/>
              <a:gdLst/>
              <a:ahLst/>
              <a:cxnLst/>
              <a:rect r="r" b="b" t="t" l="l"/>
              <a:pathLst>
                <a:path h="457200" w="20025361">
                  <a:moveTo>
                    <a:pt x="0" y="0"/>
                  </a:moveTo>
                  <a:lnTo>
                    <a:pt x="20025361" y="0"/>
                  </a:lnTo>
                  <a:lnTo>
                    <a:pt x="20025361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03444" r="0" b="-80344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002536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NĂNG LỰC TRIỂN KHAI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6901" y="9890217"/>
            <a:ext cx="15019020" cy="164592"/>
            <a:chOff x="0" y="0"/>
            <a:chExt cx="20025360" cy="2194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025361" cy="219456"/>
            </a:xfrm>
            <a:custGeom>
              <a:avLst/>
              <a:gdLst/>
              <a:ahLst/>
              <a:cxnLst/>
              <a:rect r="r" b="b" t="t" l="l"/>
              <a:pathLst>
                <a:path h="219456" w="20025361">
                  <a:moveTo>
                    <a:pt x="0" y="0"/>
                  </a:moveTo>
                  <a:lnTo>
                    <a:pt x="20025361" y="0"/>
                  </a:lnTo>
                  <a:lnTo>
                    <a:pt x="20025361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8009" r="0" b="-17280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0025360" cy="228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Vai trò dưới đây là khung phân công đề xuất; thay bằng tên và kinh nghiệm thật của đội trước khi nộp.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46760" y="2077212"/>
            <a:ext cx="5254752" cy="6269736"/>
            <a:chOff x="0" y="0"/>
            <a:chExt cx="7006336" cy="83596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06336" cy="8359648"/>
            </a:xfrm>
            <a:custGeom>
              <a:avLst/>
              <a:gdLst/>
              <a:ahLst/>
              <a:cxnLst/>
              <a:rect r="r" b="b" t="t" l="l"/>
              <a:pathLst>
                <a:path h="8359648" w="7006336">
                  <a:moveTo>
                    <a:pt x="0" y="1167765"/>
                  </a:moveTo>
                  <a:cubicBezTo>
                    <a:pt x="0" y="522859"/>
                    <a:pt x="522859" y="0"/>
                    <a:pt x="1167765" y="0"/>
                  </a:cubicBezTo>
                  <a:lnTo>
                    <a:pt x="5838571" y="0"/>
                  </a:lnTo>
                  <a:cubicBezTo>
                    <a:pt x="6483477" y="0"/>
                    <a:pt x="7006336" y="522859"/>
                    <a:pt x="7006336" y="1167765"/>
                  </a:cubicBezTo>
                  <a:lnTo>
                    <a:pt x="7006336" y="7191883"/>
                  </a:lnTo>
                  <a:cubicBezTo>
                    <a:pt x="7006336" y="7836789"/>
                    <a:pt x="6483477" y="8359648"/>
                    <a:pt x="5838571" y="8359648"/>
                  </a:cubicBezTo>
                  <a:lnTo>
                    <a:pt x="1167765" y="8359648"/>
                  </a:lnTo>
                  <a:cubicBezTo>
                    <a:pt x="522859" y="8359648"/>
                    <a:pt x="0" y="7836789"/>
                    <a:pt x="0" y="7191883"/>
                  </a:cubicBezTo>
                  <a:close/>
                </a:path>
              </a:pathLst>
            </a:custGeom>
            <a:solidFill>
              <a:srgbClr val="F3F7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754380" y="2084832"/>
            <a:ext cx="5239512" cy="123444"/>
            <a:chOff x="0" y="0"/>
            <a:chExt cx="6986016" cy="164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86016" cy="164592"/>
            </a:xfrm>
            <a:custGeom>
              <a:avLst/>
              <a:gdLst/>
              <a:ahLst/>
              <a:cxnLst/>
              <a:rect r="r" b="b" t="t" l="l"/>
              <a:pathLst>
                <a:path h="164592" w="6986016">
                  <a:moveTo>
                    <a:pt x="0" y="0"/>
                  </a:moveTo>
                  <a:lnTo>
                    <a:pt x="6986016" y="0"/>
                  </a:lnTo>
                  <a:lnTo>
                    <a:pt x="6986016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1265A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56132" y="2427732"/>
            <a:ext cx="576072" cy="576072"/>
            <a:chOff x="0" y="0"/>
            <a:chExt cx="768096" cy="7680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265A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56132" y="2448306"/>
            <a:ext cx="576072" cy="507492"/>
            <a:chOff x="0" y="0"/>
            <a:chExt cx="768096" cy="6766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8096" cy="676656"/>
            </a:xfrm>
            <a:custGeom>
              <a:avLst/>
              <a:gdLst/>
              <a:ahLst/>
              <a:cxnLst/>
              <a:rect r="r" b="b" t="t" l="l"/>
              <a:pathLst>
                <a:path h="67665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3029" t="0" r="-63029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768096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805940" y="2446020"/>
            <a:ext cx="3904488" cy="70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Computer Vision &amp; Motion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65276" y="3351276"/>
            <a:ext cx="4617720" cy="484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Pose / keypoints, person tracking và phân đoạn thao tác.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Đầu ra: trajectory, timeline, thời lượng từng hoạt động và độ tin cậy.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397752" y="2077212"/>
            <a:ext cx="5254752" cy="6269736"/>
            <a:chOff x="0" y="0"/>
            <a:chExt cx="7006336" cy="83596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06336" cy="8359648"/>
            </a:xfrm>
            <a:custGeom>
              <a:avLst/>
              <a:gdLst/>
              <a:ahLst/>
              <a:cxnLst/>
              <a:rect r="r" b="b" t="t" l="l"/>
              <a:pathLst>
                <a:path h="8359648" w="7006336">
                  <a:moveTo>
                    <a:pt x="0" y="1167765"/>
                  </a:moveTo>
                  <a:cubicBezTo>
                    <a:pt x="0" y="522859"/>
                    <a:pt x="522859" y="0"/>
                    <a:pt x="1167765" y="0"/>
                  </a:cubicBezTo>
                  <a:lnTo>
                    <a:pt x="5838571" y="0"/>
                  </a:lnTo>
                  <a:cubicBezTo>
                    <a:pt x="6483477" y="0"/>
                    <a:pt x="7006336" y="522859"/>
                    <a:pt x="7006336" y="1167765"/>
                  </a:cubicBezTo>
                  <a:lnTo>
                    <a:pt x="7006336" y="7191883"/>
                  </a:lnTo>
                  <a:cubicBezTo>
                    <a:pt x="7006336" y="7836789"/>
                    <a:pt x="6483477" y="8359648"/>
                    <a:pt x="5838571" y="8359648"/>
                  </a:cubicBezTo>
                  <a:lnTo>
                    <a:pt x="1167765" y="8359648"/>
                  </a:lnTo>
                  <a:cubicBezTo>
                    <a:pt x="522859" y="8359648"/>
                    <a:pt x="0" y="7836789"/>
                    <a:pt x="0" y="7191883"/>
                  </a:cubicBezTo>
                  <a:close/>
                </a:path>
              </a:pathLst>
            </a:custGeom>
            <a:solidFill>
              <a:srgbClr val="F3F7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405372" y="2084832"/>
            <a:ext cx="5239512" cy="123444"/>
            <a:chOff x="0" y="0"/>
            <a:chExt cx="6986016" cy="1645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86016" cy="164592"/>
            </a:xfrm>
            <a:custGeom>
              <a:avLst/>
              <a:gdLst/>
              <a:ahLst/>
              <a:cxnLst/>
              <a:rect r="r" b="b" t="t" l="l"/>
              <a:pathLst>
                <a:path h="164592" w="6986016">
                  <a:moveTo>
                    <a:pt x="0" y="0"/>
                  </a:moveTo>
                  <a:lnTo>
                    <a:pt x="6986016" y="0"/>
                  </a:lnTo>
                  <a:lnTo>
                    <a:pt x="6986016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00B96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707124" y="2427732"/>
            <a:ext cx="576072" cy="576072"/>
            <a:chOff x="0" y="0"/>
            <a:chExt cx="768096" cy="7680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0B96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707124" y="2448306"/>
            <a:ext cx="576072" cy="507492"/>
            <a:chOff x="0" y="0"/>
            <a:chExt cx="768096" cy="6766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8096" cy="676656"/>
            </a:xfrm>
            <a:custGeom>
              <a:avLst/>
              <a:gdLst/>
              <a:ahLst/>
              <a:cxnLst/>
              <a:rect r="r" b="b" t="t" l="l"/>
              <a:pathLst>
                <a:path h="67665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3029" t="0" r="-6302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768096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7456932" y="2446020"/>
            <a:ext cx="3904488" cy="70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AI Knowledge Copilot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716268" y="3351276"/>
            <a:ext cx="4617720" cy="484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RAG trên SOP, standard work và ghi chú Kaizen.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Đầu ra: giải thích có trích dẫn, đề xuất bước cải tiến và câu hỏi cần chuyên gia xác nhận.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048744" y="2077212"/>
            <a:ext cx="5254752" cy="6269736"/>
            <a:chOff x="0" y="0"/>
            <a:chExt cx="7006336" cy="83596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06336" cy="8359648"/>
            </a:xfrm>
            <a:custGeom>
              <a:avLst/>
              <a:gdLst/>
              <a:ahLst/>
              <a:cxnLst/>
              <a:rect r="r" b="b" t="t" l="l"/>
              <a:pathLst>
                <a:path h="8359648" w="7006336">
                  <a:moveTo>
                    <a:pt x="0" y="1167765"/>
                  </a:moveTo>
                  <a:cubicBezTo>
                    <a:pt x="0" y="522859"/>
                    <a:pt x="522859" y="0"/>
                    <a:pt x="1167765" y="0"/>
                  </a:cubicBezTo>
                  <a:lnTo>
                    <a:pt x="5838571" y="0"/>
                  </a:lnTo>
                  <a:cubicBezTo>
                    <a:pt x="6483477" y="0"/>
                    <a:pt x="7006336" y="522859"/>
                    <a:pt x="7006336" y="1167765"/>
                  </a:cubicBezTo>
                  <a:lnTo>
                    <a:pt x="7006336" y="7191883"/>
                  </a:lnTo>
                  <a:cubicBezTo>
                    <a:pt x="7006336" y="7836789"/>
                    <a:pt x="6483477" y="8359648"/>
                    <a:pt x="5838571" y="8359648"/>
                  </a:cubicBezTo>
                  <a:lnTo>
                    <a:pt x="1167765" y="8359648"/>
                  </a:lnTo>
                  <a:cubicBezTo>
                    <a:pt x="522859" y="8359648"/>
                    <a:pt x="0" y="7836789"/>
                    <a:pt x="0" y="7191883"/>
                  </a:cubicBezTo>
                  <a:close/>
                </a:path>
              </a:pathLst>
            </a:custGeom>
            <a:solidFill>
              <a:srgbClr val="F3F7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056364" y="2084832"/>
            <a:ext cx="5239512" cy="123444"/>
            <a:chOff x="0" y="0"/>
            <a:chExt cx="6986016" cy="164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86016" cy="164592"/>
            </a:xfrm>
            <a:custGeom>
              <a:avLst/>
              <a:gdLst/>
              <a:ahLst/>
              <a:cxnLst/>
              <a:rect r="r" b="b" t="t" l="l"/>
              <a:pathLst>
                <a:path h="164592" w="6986016">
                  <a:moveTo>
                    <a:pt x="0" y="0"/>
                  </a:moveTo>
                  <a:lnTo>
                    <a:pt x="6986016" y="0"/>
                  </a:lnTo>
                  <a:lnTo>
                    <a:pt x="6986016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008F8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358116" y="2427732"/>
            <a:ext cx="576072" cy="576072"/>
            <a:chOff x="0" y="0"/>
            <a:chExt cx="768096" cy="7680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08F8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358116" y="2448306"/>
            <a:ext cx="576072" cy="507492"/>
            <a:chOff x="0" y="0"/>
            <a:chExt cx="768096" cy="6766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68096" cy="676656"/>
            </a:xfrm>
            <a:custGeom>
              <a:avLst/>
              <a:gdLst/>
              <a:ahLst/>
              <a:cxnLst/>
              <a:rect r="r" b="b" t="t" l="l"/>
              <a:pathLst>
                <a:path h="67665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3029" t="0" r="-63029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768096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3107924" y="2446020"/>
            <a:ext cx="3904488" cy="70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Platform &amp; Evaluation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67260" y="3351276"/>
            <a:ext cx="4617720" cy="484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API, dashboard và lưu bằng chứng theo timestamp.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Đầu ra: CSV/JSON, báo cáo trước–sau, quy trình đánh giá cùng kỹ sư.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3497580" y="8462772"/>
            <a:ext cx="11247120" cy="493776"/>
            <a:chOff x="0" y="0"/>
            <a:chExt cx="14996160" cy="6583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996161" cy="658368"/>
            </a:xfrm>
            <a:custGeom>
              <a:avLst/>
              <a:gdLst/>
              <a:ahLst/>
              <a:cxnLst/>
              <a:rect r="r" b="b" t="t" l="l"/>
              <a:pathLst>
                <a:path h="658368" w="14996161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4886432" y="0"/>
                  </a:lnTo>
                  <a:cubicBezTo>
                    <a:pt x="14947012" y="0"/>
                    <a:pt x="14996161" y="49149"/>
                    <a:pt x="14996161" y="109728"/>
                  </a:cubicBezTo>
                  <a:lnTo>
                    <a:pt x="14996161" y="548640"/>
                  </a:lnTo>
                  <a:cubicBezTo>
                    <a:pt x="14996161" y="609219"/>
                    <a:pt x="14947012" y="658368"/>
                    <a:pt x="14886432" y="658368"/>
                  </a:cubicBezTo>
                  <a:lnTo>
                    <a:pt x="109728" y="658368"/>
                  </a:lnTo>
                  <a:cubicBezTo>
                    <a:pt x="49149" y="658368"/>
                    <a:pt x="0" y="609219"/>
                    <a:pt x="0" y="548640"/>
                  </a:cubicBezTo>
                  <a:close/>
                </a:path>
              </a:pathLst>
            </a:custGeom>
            <a:solidFill>
              <a:srgbClr val="E9F8F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3552444" y="8483346"/>
            <a:ext cx="11137392" cy="452628"/>
            <a:chOff x="0" y="0"/>
            <a:chExt cx="14849856" cy="60350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849855" cy="603502"/>
            </a:xfrm>
            <a:custGeom>
              <a:avLst/>
              <a:gdLst/>
              <a:ahLst/>
              <a:cxnLst/>
              <a:rect r="r" b="b" t="t" l="l"/>
              <a:pathLst>
                <a:path h="603502" w="14849855">
                  <a:moveTo>
                    <a:pt x="0" y="0"/>
                  </a:moveTo>
                  <a:lnTo>
                    <a:pt x="14849855" y="0"/>
                  </a:lnTo>
                  <a:lnTo>
                    <a:pt x="14849855" y="603502"/>
                  </a:lnTo>
                  <a:lnTo>
                    <a:pt x="0" y="603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9451" r="0" b="-42945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4849856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538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PHỐI HỢP: CV &amp; TRACKING  •  AI/RAG  •  BACKEND  •  ĐO LƯỜNG &amp; HUMAN REVIEW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08206" y="95250"/>
            <a:ext cx="130968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0000">
                    <a:alpha val="49804"/>
                  </a:srgbClr>
                </a:solidFill>
                <a:latin typeface="Aptos"/>
                <a:ea typeface="Aptos"/>
                <a:cs typeface="Aptos"/>
                <a:sym typeface="Aptos"/>
              </a:rPr>
              <a:t>CONFIDENTIAL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1862595"/>
            <a:ext cx="18283390" cy="8686800"/>
            <a:chOff x="0" y="0"/>
            <a:chExt cx="24377853" cy="1158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11582400"/>
            </a:xfrm>
            <a:custGeom>
              <a:avLst/>
              <a:gdLst/>
              <a:ahLst/>
              <a:cxnLst/>
              <a:rect r="r" b="b" t="t" l="l"/>
              <a:pathLst>
                <a:path h="115824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1582400"/>
                  </a:lnTo>
                  <a:lnTo>
                    <a:pt x="0" y="11582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8980713"/>
            <a:ext cx="18288000" cy="1306287"/>
            <a:chOff x="0" y="0"/>
            <a:chExt cx="24384000" cy="1741716"/>
          </a:xfrm>
        </p:grpSpPr>
        <p:sp>
          <p:nvSpPr>
            <p:cNvPr name="Freeform 7" id="7" descr="A blue and green rectangle with a circle and lines  AI-generated content may be incorrect."/>
            <p:cNvSpPr/>
            <p:nvPr/>
          </p:nvSpPr>
          <p:spPr>
            <a:xfrm flipH="false" flipV="false" rot="0">
              <a:off x="0" y="0"/>
              <a:ext cx="24384000" cy="1741678"/>
            </a:xfrm>
            <a:custGeom>
              <a:avLst/>
              <a:gdLst/>
              <a:ahLst/>
              <a:cxnLst/>
              <a:rect r="r" b="b" t="t" l="l"/>
              <a:pathLst>
                <a:path h="17416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41678"/>
                  </a:lnTo>
                  <a:lnTo>
                    <a:pt x="0" y="1741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6176" r="0" b="-52717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52565" y="9209151"/>
            <a:ext cx="87630" cy="896874"/>
            <a:chOff x="0" y="0"/>
            <a:chExt cx="116840" cy="1195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840" cy="1195832"/>
            </a:xfrm>
            <a:custGeom>
              <a:avLst/>
              <a:gdLst/>
              <a:ahLst/>
              <a:cxnLst/>
              <a:rect r="r" b="b" t="t" l="l"/>
              <a:pathLst>
                <a:path h="1195832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195832"/>
                  </a:lnTo>
                  <a:lnTo>
                    <a:pt x="0" y="1195832"/>
                  </a:lnTo>
                  <a:close/>
                </a:path>
              </a:pathLst>
            </a:custGeom>
            <a:solidFill>
              <a:srgbClr val="30D158"/>
            </a:solidFill>
            <a:ln w="19050" cap="sq">
              <a:solidFill>
                <a:srgbClr val="30D15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495262" y="9342120"/>
            <a:ext cx="15019020" cy="342900"/>
            <a:chOff x="0" y="0"/>
            <a:chExt cx="20025360" cy="457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025361" cy="457200"/>
            </a:xfrm>
            <a:custGeom>
              <a:avLst/>
              <a:gdLst/>
              <a:ahLst/>
              <a:cxnLst/>
              <a:rect r="r" b="b" t="t" l="l"/>
              <a:pathLst>
                <a:path h="457200" w="20025361">
                  <a:moveTo>
                    <a:pt x="0" y="0"/>
                  </a:moveTo>
                  <a:lnTo>
                    <a:pt x="20025361" y="0"/>
                  </a:lnTo>
                  <a:lnTo>
                    <a:pt x="20025361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03444" r="0" b="-80344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002536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GIẢ THUYẾT CẦN XÁC THỰC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5262" y="9822180"/>
            <a:ext cx="15019020" cy="164592"/>
            <a:chOff x="0" y="0"/>
            <a:chExt cx="20025360" cy="2194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025361" cy="219456"/>
            </a:xfrm>
            <a:custGeom>
              <a:avLst/>
              <a:gdLst/>
              <a:ahLst/>
              <a:cxnLst/>
              <a:rect r="r" b="b" t="t" l="l"/>
              <a:pathLst>
                <a:path h="219456" w="20025361">
                  <a:moveTo>
                    <a:pt x="0" y="0"/>
                  </a:moveTo>
                  <a:lnTo>
                    <a:pt x="20025361" y="0"/>
                  </a:lnTo>
                  <a:lnTo>
                    <a:pt x="20025361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8009" r="0" b="-172800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0025360" cy="228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Xác nhận cùng kỹ sư DENSO bằng video thực tế, SOP hiện hành và cách đo baseline thống nhất.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706527" y="463810"/>
            <a:ext cx="8310696" cy="1236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BÀI TOÁN TẠI LINE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4672" y="1856232"/>
            <a:ext cx="16646652" cy="51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86777"/>
                </a:solidFill>
                <a:latin typeface="Aptos"/>
                <a:ea typeface="Aptos"/>
                <a:cs typeface="Aptos"/>
                <a:sym typeface="Aptos"/>
              </a:rPr>
              <a:t>Cơ hội cải tiến: làm cho quan sát thủ công trở nên đo lường được, giải thích được và kiểm chứng được.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87908" y="2708148"/>
            <a:ext cx="5323332" cy="5021580"/>
            <a:chOff x="0" y="0"/>
            <a:chExt cx="7097776" cy="6695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97776" cy="6695440"/>
            </a:xfrm>
            <a:custGeom>
              <a:avLst/>
              <a:gdLst/>
              <a:ahLst/>
              <a:cxnLst/>
              <a:rect r="r" b="b" t="t" l="l"/>
              <a:pathLst>
                <a:path h="6695440" w="7097776">
                  <a:moveTo>
                    <a:pt x="0" y="1115949"/>
                  </a:moveTo>
                  <a:cubicBezTo>
                    <a:pt x="0" y="499618"/>
                    <a:pt x="499618" y="0"/>
                    <a:pt x="1115949" y="0"/>
                  </a:cubicBezTo>
                  <a:lnTo>
                    <a:pt x="5981827" y="0"/>
                  </a:lnTo>
                  <a:cubicBezTo>
                    <a:pt x="6598158" y="0"/>
                    <a:pt x="7097776" y="499618"/>
                    <a:pt x="7097776" y="1115949"/>
                  </a:cubicBezTo>
                  <a:lnTo>
                    <a:pt x="7097776" y="5579491"/>
                  </a:lnTo>
                  <a:cubicBezTo>
                    <a:pt x="7097776" y="6195822"/>
                    <a:pt x="6598158" y="6695440"/>
                    <a:pt x="5981827" y="6695440"/>
                  </a:cubicBezTo>
                  <a:lnTo>
                    <a:pt x="1115949" y="6695440"/>
                  </a:lnTo>
                  <a:cubicBezTo>
                    <a:pt x="499618" y="6695440"/>
                    <a:pt x="0" y="6195822"/>
                    <a:pt x="0" y="5579491"/>
                  </a:cubicBezTo>
                  <a:close/>
                </a:path>
              </a:pathLst>
            </a:custGeom>
            <a:solidFill>
              <a:srgbClr val="F7F9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95528" y="2715768"/>
            <a:ext cx="5308092" cy="123444"/>
            <a:chOff x="0" y="0"/>
            <a:chExt cx="7077456" cy="164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77456" cy="164592"/>
            </a:xfrm>
            <a:custGeom>
              <a:avLst/>
              <a:gdLst/>
              <a:ahLst/>
              <a:cxnLst/>
              <a:rect r="r" b="b" t="t" l="l"/>
              <a:pathLst>
                <a:path h="164592" w="7077456">
                  <a:moveTo>
                    <a:pt x="0" y="0"/>
                  </a:moveTo>
                  <a:lnTo>
                    <a:pt x="7077456" y="0"/>
                  </a:lnTo>
                  <a:lnTo>
                    <a:pt x="7077456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1265A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97280" y="3058668"/>
            <a:ext cx="576072" cy="576072"/>
            <a:chOff x="0" y="0"/>
            <a:chExt cx="768096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265A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97280" y="3079242"/>
            <a:ext cx="576072" cy="507492"/>
            <a:chOff x="0" y="0"/>
            <a:chExt cx="768096" cy="6766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8096" cy="676656"/>
            </a:xfrm>
            <a:custGeom>
              <a:avLst/>
              <a:gdLst/>
              <a:ahLst/>
              <a:cxnLst/>
              <a:rect r="r" b="b" t="t" l="l"/>
              <a:pathLst>
                <a:path h="67665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3029" t="0" r="-63029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768096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847088" y="3076956"/>
            <a:ext cx="3973068" cy="70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5"/>
              </a:lnSpc>
            </a:pPr>
            <a:r>
              <a:rPr lang="en-US" sz="2129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ĐO LƯỜNG KHÓ LẶP LẠI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6424" y="3982212"/>
            <a:ext cx="4686300" cy="359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Cycle time, thao tác chờ và đường di chuyển cần được ghi nhận nhất quán; kết quả có thể phụ thuộc người quan sát và cách phân đoạn.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480048" y="2708148"/>
            <a:ext cx="5323332" cy="5021580"/>
            <a:chOff x="0" y="0"/>
            <a:chExt cx="7097776" cy="6695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97776" cy="6695440"/>
            </a:xfrm>
            <a:custGeom>
              <a:avLst/>
              <a:gdLst/>
              <a:ahLst/>
              <a:cxnLst/>
              <a:rect r="r" b="b" t="t" l="l"/>
              <a:pathLst>
                <a:path h="6695440" w="7097776">
                  <a:moveTo>
                    <a:pt x="0" y="1115949"/>
                  </a:moveTo>
                  <a:cubicBezTo>
                    <a:pt x="0" y="499618"/>
                    <a:pt x="499618" y="0"/>
                    <a:pt x="1115949" y="0"/>
                  </a:cubicBezTo>
                  <a:lnTo>
                    <a:pt x="5981827" y="0"/>
                  </a:lnTo>
                  <a:cubicBezTo>
                    <a:pt x="6598158" y="0"/>
                    <a:pt x="7097776" y="499618"/>
                    <a:pt x="7097776" y="1115949"/>
                  </a:cubicBezTo>
                  <a:lnTo>
                    <a:pt x="7097776" y="5579491"/>
                  </a:lnTo>
                  <a:cubicBezTo>
                    <a:pt x="7097776" y="6195822"/>
                    <a:pt x="6598158" y="6695440"/>
                    <a:pt x="5981827" y="6695440"/>
                  </a:cubicBezTo>
                  <a:lnTo>
                    <a:pt x="1115949" y="6695440"/>
                  </a:lnTo>
                  <a:cubicBezTo>
                    <a:pt x="499618" y="6695440"/>
                    <a:pt x="0" y="6195822"/>
                    <a:pt x="0" y="5579491"/>
                  </a:cubicBezTo>
                  <a:close/>
                </a:path>
              </a:pathLst>
            </a:custGeom>
            <a:solidFill>
              <a:srgbClr val="F7F9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487668" y="2715768"/>
            <a:ext cx="5308092" cy="123444"/>
            <a:chOff x="0" y="0"/>
            <a:chExt cx="7077456" cy="1645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77456" cy="164592"/>
            </a:xfrm>
            <a:custGeom>
              <a:avLst/>
              <a:gdLst/>
              <a:ahLst/>
              <a:cxnLst/>
              <a:rect r="r" b="b" t="t" l="l"/>
              <a:pathLst>
                <a:path h="164592" w="7077456">
                  <a:moveTo>
                    <a:pt x="0" y="0"/>
                  </a:moveTo>
                  <a:lnTo>
                    <a:pt x="7077456" y="0"/>
                  </a:lnTo>
                  <a:lnTo>
                    <a:pt x="7077456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00B96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789420" y="3058668"/>
            <a:ext cx="576072" cy="576072"/>
            <a:chOff x="0" y="0"/>
            <a:chExt cx="768096" cy="7680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0B9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789420" y="3079242"/>
            <a:ext cx="576072" cy="507492"/>
            <a:chOff x="0" y="0"/>
            <a:chExt cx="768096" cy="6766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8096" cy="676656"/>
            </a:xfrm>
            <a:custGeom>
              <a:avLst/>
              <a:gdLst/>
              <a:ahLst/>
              <a:cxnLst/>
              <a:rect r="r" b="b" t="t" l="l"/>
              <a:pathLst>
                <a:path h="67665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3029" t="0" r="-63029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768096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7539228" y="3076956"/>
            <a:ext cx="3973068" cy="70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5"/>
              </a:lnSpc>
            </a:pPr>
            <a:r>
              <a:rPr lang="en-US" sz="2129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THIẾU NGỮ CẢNH SOP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798564" y="3982212"/>
            <a:ext cx="4686300" cy="359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Số liệu cho biết điều gì xảy ra, nhưng chưa tự giải thích bước nào lệch standard work hoặc tài liệu nào hỗ trợ một đề xuất.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172188" y="2708148"/>
            <a:ext cx="5323332" cy="5021580"/>
            <a:chOff x="0" y="0"/>
            <a:chExt cx="7097776" cy="6695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097776" cy="6695440"/>
            </a:xfrm>
            <a:custGeom>
              <a:avLst/>
              <a:gdLst/>
              <a:ahLst/>
              <a:cxnLst/>
              <a:rect r="r" b="b" t="t" l="l"/>
              <a:pathLst>
                <a:path h="6695440" w="7097776">
                  <a:moveTo>
                    <a:pt x="0" y="1115949"/>
                  </a:moveTo>
                  <a:cubicBezTo>
                    <a:pt x="0" y="499618"/>
                    <a:pt x="499618" y="0"/>
                    <a:pt x="1115949" y="0"/>
                  </a:cubicBezTo>
                  <a:lnTo>
                    <a:pt x="5981827" y="0"/>
                  </a:lnTo>
                  <a:cubicBezTo>
                    <a:pt x="6598158" y="0"/>
                    <a:pt x="7097776" y="499618"/>
                    <a:pt x="7097776" y="1115949"/>
                  </a:cubicBezTo>
                  <a:lnTo>
                    <a:pt x="7097776" y="5579491"/>
                  </a:lnTo>
                  <a:cubicBezTo>
                    <a:pt x="7097776" y="6195822"/>
                    <a:pt x="6598158" y="6695440"/>
                    <a:pt x="5981827" y="6695440"/>
                  </a:cubicBezTo>
                  <a:lnTo>
                    <a:pt x="1115949" y="6695440"/>
                  </a:lnTo>
                  <a:cubicBezTo>
                    <a:pt x="499618" y="6695440"/>
                    <a:pt x="0" y="6195822"/>
                    <a:pt x="0" y="5579491"/>
                  </a:cubicBezTo>
                  <a:close/>
                </a:path>
              </a:pathLst>
            </a:custGeom>
            <a:solidFill>
              <a:srgbClr val="F7F9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179808" y="2715768"/>
            <a:ext cx="5308092" cy="123444"/>
            <a:chOff x="0" y="0"/>
            <a:chExt cx="7077456" cy="1645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077456" cy="164592"/>
            </a:xfrm>
            <a:custGeom>
              <a:avLst/>
              <a:gdLst/>
              <a:ahLst/>
              <a:cxnLst/>
              <a:rect r="r" b="b" t="t" l="l"/>
              <a:pathLst>
                <a:path h="164592" w="7077456">
                  <a:moveTo>
                    <a:pt x="0" y="0"/>
                  </a:moveTo>
                  <a:lnTo>
                    <a:pt x="7077456" y="0"/>
                  </a:lnTo>
                  <a:lnTo>
                    <a:pt x="7077456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008F8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481560" y="3058668"/>
            <a:ext cx="576072" cy="576072"/>
            <a:chOff x="0" y="0"/>
            <a:chExt cx="768096" cy="7680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08F8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81560" y="3079242"/>
            <a:ext cx="576072" cy="507492"/>
            <a:chOff x="0" y="0"/>
            <a:chExt cx="768096" cy="6766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68096" cy="676656"/>
            </a:xfrm>
            <a:custGeom>
              <a:avLst/>
              <a:gdLst/>
              <a:ahLst/>
              <a:cxnLst/>
              <a:rect r="r" b="b" t="t" l="l"/>
              <a:pathLst>
                <a:path h="67665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3029" t="0" r="-63029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768096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3231368" y="3076956"/>
            <a:ext cx="3973068" cy="70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5"/>
              </a:lnSpc>
            </a:pPr>
            <a:r>
              <a:rPr lang="en-US" sz="2129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KHÓ XÁC MINH SAU KAIZEN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490704" y="3982212"/>
            <a:ext cx="4686300" cy="359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Nếu không có timestamp, bằng chứng và baseline chung, việc so sánh trước–sau dễ thiếu minh bạch và khó tái lập.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021080" y="7988808"/>
            <a:ext cx="16268700" cy="769620"/>
            <a:chOff x="0" y="0"/>
            <a:chExt cx="21691600" cy="10261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691600" cy="1026160"/>
            </a:xfrm>
            <a:custGeom>
              <a:avLst/>
              <a:gdLst/>
              <a:ahLst/>
              <a:cxnLst/>
              <a:rect r="r" b="b" t="t" l="l"/>
              <a:pathLst>
                <a:path h="1026160" w="21691600">
                  <a:moveTo>
                    <a:pt x="0" y="171069"/>
                  </a:moveTo>
                  <a:cubicBezTo>
                    <a:pt x="0" y="76581"/>
                    <a:pt x="76581" y="0"/>
                    <a:pt x="171069" y="0"/>
                  </a:cubicBezTo>
                  <a:lnTo>
                    <a:pt x="21520531" y="0"/>
                  </a:lnTo>
                  <a:cubicBezTo>
                    <a:pt x="21615019" y="0"/>
                    <a:pt x="21691600" y="76581"/>
                    <a:pt x="21691600" y="171069"/>
                  </a:cubicBezTo>
                  <a:lnTo>
                    <a:pt x="21691600" y="855091"/>
                  </a:lnTo>
                  <a:cubicBezTo>
                    <a:pt x="21691600" y="949579"/>
                    <a:pt x="21615019" y="1026160"/>
                    <a:pt x="21520531" y="1026160"/>
                  </a:cubicBezTo>
                  <a:lnTo>
                    <a:pt x="171069" y="1026160"/>
                  </a:lnTo>
                  <a:cubicBezTo>
                    <a:pt x="76581" y="1026160"/>
                    <a:pt x="0" y="949579"/>
                    <a:pt x="0" y="855091"/>
                  </a:cubicBezTo>
                  <a:close/>
                </a:path>
              </a:pathLst>
            </a:custGeom>
            <a:solidFill>
              <a:srgbClr val="EAF3FC"/>
            </a:solidFill>
            <a:ln w="15240" cap="sq">
              <a:solidFill>
                <a:srgbClr val="EAF3FC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61872" y="8092440"/>
            <a:ext cx="15773400" cy="521208"/>
            <a:chOff x="0" y="0"/>
            <a:chExt cx="21031200" cy="69494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031200" cy="694944"/>
            </a:xfrm>
            <a:custGeom>
              <a:avLst/>
              <a:gdLst/>
              <a:ahLst/>
              <a:cxnLst/>
              <a:rect r="r" b="b" t="t" l="l"/>
              <a:pathLst>
                <a:path h="69494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9678" r="0" b="-53967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210312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538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HƯỚNG GIẢI:  kết hợp số liệu từ video (A3) + tri thức SOP/chuyên gia (A1) + người có thẩm quyền xác nhận.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08206" y="95250"/>
            <a:ext cx="130968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0000">
                    <a:alpha val="49804"/>
                  </a:srgbClr>
                </a:solidFill>
                <a:latin typeface="Aptos"/>
                <a:ea typeface="Aptos"/>
                <a:cs typeface="Aptos"/>
                <a:sym typeface="Aptos"/>
              </a:rPr>
              <a:t>CONFIDENTIAL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1862595"/>
            <a:ext cx="18283390" cy="8686800"/>
            <a:chOff x="0" y="0"/>
            <a:chExt cx="24377853" cy="1158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11582400"/>
            </a:xfrm>
            <a:custGeom>
              <a:avLst/>
              <a:gdLst/>
              <a:ahLst/>
              <a:cxnLst/>
              <a:rect r="r" b="b" t="t" l="l"/>
              <a:pathLst>
                <a:path h="115824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1582400"/>
                  </a:lnTo>
                  <a:lnTo>
                    <a:pt x="0" y="11582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8980713"/>
            <a:ext cx="18288000" cy="1306287"/>
            <a:chOff x="0" y="0"/>
            <a:chExt cx="24384000" cy="1741716"/>
          </a:xfrm>
        </p:grpSpPr>
        <p:sp>
          <p:nvSpPr>
            <p:cNvPr name="Freeform 7" id="7" descr="A blue and green rectangle with a circle and lines  AI-generated content may be incorrect."/>
            <p:cNvSpPr/>
            <p:nvPr/>
          </p:nvSpPr>
          <p:spPr>
            <a:xfrm flipH="false" flipV="false" rot="0">
              <a:off x="0" y="0"/>
              <a:ext cx="24384000" cy="1741678"/>
            </a:xfrm>
            <a:custGeom>
              <a:avLst/>
              <a:gdLst/>
              <a:ahLst/>
              <a:cxnLst/>
              <a:rect r="r" b="b" t="t" l="l"/>
              <a:pathLst>
                <a:path h="17416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41678"/>
                  </a:lnTo>
                  <a:lnTo>
                    <a:pt x="0" y="1741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6176" r="0" b="-52717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958139" y="459724"/>
            <a:ext cx="15590520" cy="1839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AI KAIZEN COPILOT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38954" y="9113901"/>
            <a:ext cx="87630" cy="896874"/>
            <a:chOff x="0" y="0"/>
            <a:chExt cx="116840" cy="11958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840" cy="1195832"/>
            </a:xfrm>
            <a:custGeom>
              <a:avLst/>
              <a:gdLst/>
              <a:ahLst/>
              <a:cxnLst/>
              <a:rect r="r" b="b" t="t" l="l"/>
              <a:pathLst>
                <a:path h="1195832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195832"/>
                  </a:lnTo>
                  <a:lnTo>
                    <a:pt x="0" y="1195832"/>
                  </a:lnTo>
                  <a:close/>
                </a:path>
              </a:pathLst>
            </a:custGeom>
            <a:solidFill>
              <a:srgbClr val="30D158"/>
            </a:solidFill>
            <a:ln w="19050" cap="sq">
              <a:solidFill>
                <a:srgbClr val="30D158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81651" y="9124407"/>
            <a:ext cx="15019020" cy="342900"/>
            <a:chOff x="0" y="0"/>
            <a:chExt cx="2002536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025361" cy="457200"/>
            </a:xfrm>
            <a:custGeom>
              <a:avLst/>
              <a:gdLst/>
              <a:ahLst/>
              <a:cxnLst/>
              <a:rect r="r" b="b" t="t" l="l"/>
              <a:pathLst>
                <a:path h="457200" w="20025361">
                  <a:moveTo>
                    <a:pt x="0" y="0"/>
                  </a:moveTo>
                  <a:lnTo>
                    <a:pt x="20025361" y="0"/>
                  </a:lnTo>
                  <a:lnTo>
                    <a:pt x="20025361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03444" r="0" b="-80344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002536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NGUYÊN TẮC THIẾT KẾ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81651" y="9726930"/>
            <a:ext cx="15019020" cy="164592"/>
            <a:chOff x="0" y="0"/>
            <a:chExt cx="20025360" cy="2194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025361" cy="219456"/>
            </a:xfrm>
            <a:custGeom>
              <a:avLst/>
              <a:gdLst/>
              <a:ahLst/>
              <a:cxnLst/>
              <a:rect r="r" b="b" t="t" l="l"/>
              <a:pathLst>
                <a:path h="219456" w="20025361">
                  <a:moveTo>
                    <a:pt x="0" y="0"/>
                  </a:moveTo>
                  <a:lnTo>
                    <a:pt x="20025361" y="0"/>
                  </a:lnTo>
                  <a:lnTo>
                    <a:pt x="20025361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8009" r="0" b="-17280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0025360" cy="228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AI không tự kết luận waste từ idle; mọi đề xuất gắn với bằng chứng và cần kỹ sư duyệt.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04672" y="1856232"/>
            <a:ext cx="16646652" cy="470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86777"/>
                </a:solidFill>
                <a:latin typeface="Aptos"/>
                <a:ea typeface="Aptos"/>
                <a:cs typeface="Aptos"/>
                <a:sym typeface="Aptos"/>
              </a:rPr>
              <a:t>Một luồng khép kín từ quan sát → đo lường → giải thích → xác minh cải tiến.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0748" y="2625852"/>
            <a:ext cx="4006596" cy="4925568"/>
            <a:chOff x="0" y="0"/>
            <a:chExt cx="5342128" cy="65674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42128" cy="6567424"/>
            </a:xfrm>
            <a:custGeom>
              <a:avLst/>
              <a:gdLst/>
              <a:ahLst/>
              <a:cxnLst/>
              <a:rect r="r" b="b" t="t" l="l"/>
              <a:pathLst>
                <a:path h="6567424" w="5342128">
                  <a:moveTo>
                    <a:pt x="0" y="890397"/>
                  </a:moveTo>
                  <a:cubicBezTo>
                    <a:pt x="0" y="398653"/>
                    <a:pt x="398653" y="0"/>
                    <a:pt x="890397" y="0"/>
                  </a:cubicBezTo>
                  <a:lnTo>
                    <a:pt x="4451731" y="0"/>
                  </a:lnTo>
                  <a:cubicBezTo>
                    <a:pt x="4943475" y="0"/>
                    <a:pt x="5342128" y="398653"/>
                    <a:pt x="5342128" y="890397"/>
                  </a:cubicBezTo>
                  <a:lnTo>
                    <a:pt x="5342128" y="5677027"/>
                  </a:lnTo>
                  <a:cubicBezTo>
                    <a:pt x="5342128" y="6168771"/>
                    <a:pt x="4943475" y="6567424"/>
                    <a:pt x="4451731" y="6567424"/>
                  </a:cubicBezTo>
                  <a:lnTo>
                    <a:pt x="890397" y="6567424"/>
                  </a:lnTo>
                  <a:cubicBezTo>
                    <a:pt x="398653" y="6567424"/>
                    <a:pt x="0" y="6168771"/>
                    <a:pt x="0" y="5677027"/>
                  </a:cubicBezTo>
                  <a:close/>
                </a:path>
              </a:pathLst>
            </a:custGeom>
            <a:solidFill>
              <a:srgbClr val="F3F7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77824" y="2907792"/>
            <a:ext cx="3538728" cy="493776"/>
            <a:chOff x="0" y="0"/>
            <a:chExt cx="4718304" cy="6583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18304" cy="658368"/>
            </a:xfrm>
            <a:custGeom>
              <a:avLst/>
              <a:gdLst/>
              <a:ahLst/>
              <a:cxnLst/>
              <a:rect r="r" b="b" t="t" l="l"/>
              <a:pathLst>
                <a:path h="658368" w="4718304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608576" y="0"/>
                  </a:lnTo>
                  <a:cubicBezTo>
                    <a:pt x="4669155" y="0"/>
                    <a:pt x="4718304" y="49149"/>
                    <a:pt x="4718304" y="109728"/>
                  </a:cubicBezTo>
                  <a:lnTo>
                    <a:pt x="4718304" y="548640"/>
                  </a:lnTo>
                  <a:cubicBezTo>
                    <a:pt x="4718304" y="609219"/>
                    <a:pt x="4669155" y="658368"/>
                    <a:pt x="4608576" y="658368"/>
                  </a:cubicBezTo>
                  <a:lnTo>
                    <a:pt x="109728" y="658368"/>
                  </a:lnTo>
                  <a:cubicBezTo>
                    <a:pt x="49149" y="658368"/>
                    <a:pt x="0" y="609219"/>
                    <a:pt x="0" y="548640"/>
                  </a:cubicBezTo>
                  <a:close/>
                </a:path>
              </a:pathLst>
            </a:custGeom>
            <a:solidFill>
              <a:srgbClr val="EAF3F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32688" y="2928366"/>
            <a:ext cx="3429000" cy="452628"/>
            <a:chOff x="0" y="0"/>
            <a:chExt cx="4572000" cy="6035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72000" cy="603502"/>
            </a:xfrm>
            <a:custGeom>
              <a:avLst/>
              <a:gdLst/>
              <a:ahLst/>
              <a:cxnLst/>
              <a:rect r="r" b="b" t="t" l="l"/>
              <a:pathLst>
                <a:path h="603502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03502"/>
                  </a:lnTo>
                  <a:lnTo>
                    <a:pt x="0" y="603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614" r="0" b="-9761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57200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1265A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A3 • OBSERVE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41832" y="3749040"/>
            <a:ext cx="3410712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Video &amp; tracking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1832" y="4704969"/>
            <a:ext cx="3410712" cy="2381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Detect người / keypoints, theo dõi ID và phân tích pose; giữ timestamp và confidence.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663440" y="4485132"/>
            <a:ext cx="411480" cy="603504"/>
            <a:chOff x="0" y="0"/>
            <a:chExt cx="548640" cy="8046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8640" cy="804672"/>
            </a:xfrm>
            <a:custGeom>
              <a:avLst/>
              <a:gdLst/>
              <a:ahLst/>
              <a:cxnLst/>
              <a:rect r="r" b="b" t="t" l="l"/>
              <a:pathLst>
                <a:path h="804672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8178" t="0" r="-138178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54864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B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→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067300" y="2625852"/>
            <a:ext cx="4006596" cy="4925568"/>
            <a:chOff x="0" y="0"/>
            <a:chExt cx="5342128" cy="65674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42128" cy="6567424"/>
            </a:xfrm>
            <a:custGeom>
              <a:avLst/>
              <a:gdLst/>
              <a:ahLst/>
              <a:cxnLst/>
              <a:rect r="r" b="b" t="t" l="l"/>
              <a:pathLst>
                <a:path h="6567424" w="5342128">
                  <a:moveTo>
                    <a:pt x="0" y="890397"/>
                  </a:moveTo>
                  <a:cubicBezTo>
                    <a:pt x="0" y="398653"/>
                    <a:pt x="398653" y="0"/>
                    <a:pt x="890397" y="0"/>
                  </a:cubicBezTo>
                  <a:lnTo>
                    <a:pt x="4451731" y="0"/>
                  </a:lnTo>
                  <a:cubicBezTo>
                    <a:pt x="4943475" y="0"/>
                    <a:pt x="5342128" y="398653"/>
                    <a:pt x="5342128" y="890397"/>
                  </a:cubicBezTo>
                  <a:lnTo>
                    <a:pt x="5342128" y="5677027"/>
                  </a:lnTo>
                  <a:cubicBezTo>
                    <a:pt x="5342128" y="6168771"/>
                    <a:pt x="4943475" y="6567424"/>
                    <a:pt x="4451731" y="6567424"/>
                  </a:cubicBezTo>
                  <a:lnTo>
                    <a:pt x="890397" y="6567424"/>
                  </a:lnTo>
                  <a:cubicBezTo>
                    <a:pt x="398653" y="6567424"/>
                    <a:pt x="0" y="6168771"/>
                    <a:pt x="0" y="5677027"/>
                  </a:cubicBezTo>
                  <a:close/>
                </a:path>
              </a:pathLst>
            </a:custGeom>
            <a:solidFill>
              <a:srgbClr val="F3F7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294376" y="2907792"/>
            <a:ext cx="3538728" cy="493776"/>
            <a:chOff x="0" y="0"/>
            <a:chExt cx="4718304" cy="6583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18304" cy="658368"/>
            </a:xfrm>
            <a:custGeom>
              <a:avLst/>
              <a:gdLst/>
              <a:ahLst/>
              <a:cxnLst/>
              <a:rect r="r" b="b" t="t" l="l"/>
              <a:pathLst>
                <a:path h="658368" w="4718304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608576" y="0"/>
                  </a:lnTo>
                  <a:cubicBezTo>
                    <a:pt x="4669155" y="0"/>
                    <a:pt x="4718304" y="49149"/>
                    <a:pt x="4718304" y="109728"/>
                  </a:cubicBezTo>
                  <a:lnTo>
                    <a:pt x="4718304" y="548640"/>
                  </a:lnTo>
                  <a:cubicBezTo>
                    <a:pt x="4718304" y="609219"/>
                    <a:pt x="4669155" y="658368"/>
                    <a:pt x="4608576" y="658368"/>
                  </a:cubicBezTo>
                  <a:lnTo>
                    <a:pt x="109728" y="658368"/>
                  </a:lnTo>
                  <a:cubicBezTo>
                    <a:pt x="49149" y="658368"/>
                    <a:pt x="0" y="609219"/>
                    <a:pt x="0" y="548640"/>
                  </a:cubicBezTo>
                  <a:close/>
                </a:path>
              </a:pathLst>
            </a:custGeom>
            <a:solidFill>
              <a:srgbClr val="EAF3F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349240" y="2928366"/>
            <a:ext cx="3429000" cy="452628"/>
            <a:chOff x="0" y="0"/>
            <a:chExt cx="4572000" cy="60350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572000" cy="603502"/>
            </a:xfrm>
            <a:custGeom>
              <a:avLst/>
              <a:gdLst/>
              <a:ahLst/>
              <a:cxnLst/>
              <a:rect r="r" b="b" t="t" l="l"/>
              <a:pathLst>
                <a:path h="603502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03502"/>
                  </a:lnTo>
                  <a:lnTo>
                    <a:pt x="0" y="603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614" r="0" b="-9761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457200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008F8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A3 • MEASURE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5358384" y="3749040"/>
            <a:ext cx="3410712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Time study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358384" y="4704969"/>
            <a:ext cx="3410712" cy="2381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Phân đoạn hoạt động; đo cycle time, thời lượng từng bước và quỹ đạo tương đối.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079992" y="4485132"/>
            <a:ext cx="411480" cy="603504"/>
            <a:chOff x="0" y="0"/>
            <a:chExt cx="548640" cy="80467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8640" cy="804672"/>
            </a:xfrm>
            <a:custGeom>
              <a:avLst/>
              <a:gdLst/>
              <a:ahLst/>
              <a:cxnLst/>
              <a:rect r="r" b="b" t="t" l="l"/>
              <a:pathLst>
                <a:path h="804672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8178" t="0" r="-138178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54864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B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→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483852" y="2625852"/>
            <a:ext cx="4006596" cy="4925568"/>
            <a:chOff x="0" y="0"/>
            <a:chExt cx="5342128" cy="656742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42128" cy="6567424"/>
            </a:xfrm>
            <a:custGeom>
              <a:avLst/>
              <a:gdLst/>
              <a:ahLst/>
              <a:cxnLst/>
              <a:rect r="r" b="b" t="t" l="l"/>
              <a:pathLst>
                <a:path h="6567424" w="5342128">
                  <a:moveTo>
                    <a:pt x="0" y="890397"/>
                  </a:moveTo>
                  <a:cubicBezTo>
                    <a:pt x="0" y="398653"/>
                    <a:pt x="398653" y="0"/>
                    <a:pt x="890397" y="0"/>
                  </a:cubicBezTo>
                  <a:lnTo>
                    <a:pt x="4451731" y="0"/>
                  </a:lnTo>
                  <a:cubicBezTo>
                    <a:pt x="4943475" y="0"/>
                    <a:pt x="5342128" y="398653"/>
                    <a:pt x="5342128" y="890397"/>
                  </a:cubicBezTo>
                  <a:lnTo>
                    <a:pt x="5342128" y="5677027"/>
                  </a:lnTo>
                  <a:cubicBezTo>
                    <a:pt x="5342128" y="6168771"/>
                    <a:pt x="4943475" y="6567424"/>
                    <a:pt x="4451731" y="6567424"/>
                  </a:cubicBezTo>
                  <a:lnTo>
                    <a:pt x="890397" y="6567424"/>
                  </a:lnTo>
                  <a:cubicBezTo>
                    <a:pt x="398653" y="6567424"/>
                    <a:pt x="0" y="6168771"/>
                    <a:pt x="0" y="5677027"/>
                  </a:cubicBezTo>
                  <a:close/>
                </a:path>
              </a:pathLst>
            </a:custGeom>
            <a:solidFill>
              <a:srgbClr val="F3F7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710928" y="2907792"/>
            <a:ext cx="3538728" cy="493776"/>
            <a:chOff x="0" y="0"/>
            <a:chExt cx="4718304" cy="65836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18304" cy="658368"/>
            </a:xfrm>
            <a:custGeom>
              <a:avLst/>
              <a:gdLst/>
              <a:ahLst/>
              <a:cxnLst/>
              <a:rect r="r" b="b" t="t" l="l"/>
              <a:pathLst>
                <a:path h="658368" w="4718304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608576" y="0"/>
                  </a:lnTo>
                  <a:cubicBezTo>
                    <a:pt x="4669155" y="0"/>
                    <a:pt x="4718304" y="49149"/>
                    <a:pt x="4718304" y="109728"/>
                  </a:cubicBezTo>
                  <a:lnTo>
                    <a:pt x="4718304" y="548640"/>
                  </a:lnTo>
                  <a:cubicBezTo>
                    <a:pt x="4718304" y="609219"/>
                    <a:pt x="4669155" y="658368"/>
                    <a:pt x="4608576" y="658368"/>
                  </a:cubicBezTo>
                  <a:lnTo>
                    <a:pt x="109728" y="658368"/>
                  </a:lnTo>
                  <a:cubicBezTo>
                    <a:pt x="49149" y="658368"/>
                    <a:pt x="0" y="609219"/>
                    <a:pt x="0" y="548640"/>
                  </a:cubicBezTo>
                  <a:close/>
                </a:path>
              </a:pathLst>
            </a:custGeom>
            <a:solidFill>
              <a:srgbClr val="E9F8F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765792" y="2928366"/>
            <a:ext cx="3429000" cy="452628"/>
            <a:chOff x="0" y="0"/>
            <a:chExt cx="4572000" cy="60350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572000" cy="603502"/>
            </a:xfrm>
            <a:custGeom>
              <a:avLst/>
              <a:gdLst/>
              <a:ahLst/>
              <a:cxnLst/>
              <a:rect r="r" b="b" t="t" l="l"/>
              <a:pathLst>
                <a:path h="603502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03502"/>
                  </a:lnTo>
                  <a:lnTo>
                    <a:pt x="0" y="603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614" r="0" b="-9761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57200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00B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A1 • EXPLAIN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774936" y="3749040"/>
            <a:ext cx="3410712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SOP-grounded RAG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774936" y="4704969"/>
            <a:ext cx="3410712" cy="2381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Truy xuất standard work / SOP; LLM tổng hợp insight, nêu căn cứ và phần chưa chắc chắn.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3496544" y="4485132"/>
            <a:ext cx="411480" cy="603504"/>
            <a:chOff x="0" y="0"/>
            <a:chExt cx="548640" cy="80467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8640" cy="804672"/>
            </a:xfrm>
            <a:custGeom>
              <a:avLst/>
              <a:gdLst/>
              <a:ahLst/>
              <a:cxnLst/>
              <a:rect r="r" b="b" t="t" l="l"/>
              <a:pathLst>
                <a:path h="804672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8178" t="0" r="-138178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54864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B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→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900404" y="2625852"/>
            <a:ext cx="4006596" cy="4925568"/>
            <a:chOff x="0" y="0"/>
            <a:chExt cx="5342128" cy="656742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42128" cy="6567424"/>
            </a:xfrm>
            <a:custGeom>
              <a:avLst/>
              <a:gdLst/>
              <a:ahLst/>
              <a:cxnLst/>
              <a:rect r="r" b="b" t="t" l="l"/>
              <a:pathLst>
                <a:path h="6567424" w="5342128">
                  <a:moveTo>
                    <a:pt x="0" y="890397"/>
                  </a:moveTo>
                  <a:cubicBezTo>
                    <a:pt x="0" y="398653"/>
                    <a:pt x="398653" y="0"/>
                    <a:pt x="890397" y="0"/>
                  </a:cubicBezTo>
                  <a:lnTo>
                    <a:pt x="4451731" y="0"/>
                  </a:lnTo>
                  <a:cubicBezTo>
                    <a:pt x="4943475" y="0"/>
                    <a:pt x="5342128" y="398653"/>
                    <a:pt x="5342128" y="890397"/>
                  </a:cubicBezTo>
                  <a:lnTo>
                    <a:pt x="5342128" y="5677027"/>
                  </a:lnTo>
                  <a:cubicBezTo>
                    <a:pt x="5342128" y="6168771"/>
                    <a:pt x="4943475" y="6567424"/>
                    <a:pt x="4451731" y="6567424"/>
                  </a:cubicBezTo>
                  <a:lnTo>
                    <a:pt x="890397" y="6567424"/>
                  </a:lnTo>
                  <a:cubicBezTo>
                    <a:pt x="398653" y="6567424"/>
                    <a:pt x="0" y="6168771"/>
                    <a:pt x="0" y="5677027"/>
                  </a:cubicBezTo>
                  <a:close/>
                </a:path>
              </a:pathLst>
            </a:custGeom>
            <a:solidFill>
              <a:srgbClr val="F3F7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4127480" y="2907792"/>
            <a:ext cx="3538728" cy="493776"/>
            <a:chOff x="0" y="0"/>
            <a:chExt cx="4718304" cy="6583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718304" cy="658368"/>
            </a:xfrm>
            <a:custGeom>
              <a:avLst/>
              <a:gdLst/>
              <a:ahLst/>
              <a:cxnLst/>
              <a:rect r="r" b="b" t="t" l="l"/>
              <a:pathLst>
                <a:path h="658368" w="4718304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608576" y="0"/>
                  </a:lnTo>
                  <a:cubicBezTo>
                    <a:pt x="4669155" y="0"/>
                    <a:pt x="4718304" y="49149"/>
                    <a:pt x="4718304" y="109728"/>
                  </a:cubicBezTo>
                  <a:lnTo>
                    <a:pt x="4718304" y="548640"/>
                  </a:lnTo>
                  <a:cubicBezTo>
                    <a:pt x="4718304" y="609219"/>
                    <a:pt x="4669155" y="658368"/>
                    <a:pt x="4608576" y="658368"/>
                  </a:cubicBezTo>
                  <a:lnTo>
                    <a:pt x="109728" y="658368"/>
                  </a:lnTo>
                  <a:cubicBezTo>
                    <a:pt x="49149" y="658368"/>
                    <a:pt x="0" y="609219"/>
                    <a:pt x="0" y="548640"/>
                  </a:cubicBezTo>
                  <a:close/>
                </a:path>
              </a:pathLst>
            </a:custGeom>
            <a:solidFill>
              <a:srgbClr val="E9F8F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4182344" y="2928366"/>
            <a:ext cx="3429000" cy="452628"/>
            <a:chOff x="0" y="0"/>
            <a:chExt cx="4572000" cy="60350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572000" cy="603502"/>
            </a:xfrm>
            <a:custGeom>
              <a:avLst/>
              <a:gdLst/>
              <a:ahLst/>
              <a:cxnLst/>
              <a:rect r="r" b="b" t="t" l="l"/>
              <a:pathLst>
                <a:path h="603502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03502"/>
                  </a:lnTo>
                  <a:lnTo>
                    <a:pt x="0" y="6035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614" r="0" b="-9761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57200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1538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HUMAN • VERIFY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4191488" y="3749040"/>
            <a:ext cx="3410712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Kaizen action plan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191488" y="4704969"/>
            <a:ext cx="3410712" cy="2381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Kỹ sư rà soát; ghi baseline, xác nhận action, đo lại cùng phương pháp trước–sau.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842772" y="7920228"/>
            <a:ext cx="16474440" cy="810768"/>
            <a:chOff x="0" y="0"/>
            <a:chExt cx="21965920" cy="108102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965921" cy="1081024"/>
            </a:xfrm>
            <a:custGeom>
              <a:avLst/>
              <a:gdLst/>
              <a:ahLst/>
              <a:cxnLst/>
              <a:rect r="r" b="b" t="t" l="l"/>
              <a:pathLst>
                <a:path h="1081024" w="21965921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21785707" y="0"/>
                  </a:lnTo>
                  <a:cubicBezTo>
                    <a:pt x="21885275" y="0"/>
                    <a:pt x="21965921" y="80645"/>
                    <a:pt x="21965921" y="180213"/>
                  </a:cubicBezTo>
                  <a:lnTo>
                    <a:pt x="21965921" y="900811"/>
                  </a:lnTo>
                  <a:cubicBezTo>
                    <a:pt x="21965921" y="1000379"/>
                    <a:pt x="21885275" y="1081024"/>
                    <a:pt x="21785707" y="1081024"/>
                  </a:cubicBezTo>
                  <a:lnTo>
                    <a:pt x="180213" y="1081024"/>
                  </a:lnTo>
                  <a:cubicBezTo>
                    <a:pt x="80645" y="1081024"/>
                    <a:pt x="0" y="1000379"/>
                    <a:pt x="0" y="900811"/>
                  </a:cubicBezTo>
                  <a:close/>
                </a:path>
              </a:pathLst>
            </a:custGeom>
            <a:solidFill>
              <a:srgbClr val="153866"/>
            </a:solidFill>
            <a:ln w="15240" cap="sq">
              <a:solidFill>
                <a:srgbClr val="153866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165860" y="8051292"/>
            <a:ext cx="15841980" cy="480060"/>
            <a:chOff x="0" y="0"/>
            <a:chExt cx="21122640" cy="6400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122639" cy="640080"/>
            </a:xfrm>
            <a:custGeom>
              <a:avLst/>
              <a:gdLst/>
              <a:ahLst/>
              <a:cxnLst/>
              <a:rect r="r" b="b" t="t" l="l"/>
              <a:pathLst>
                <a:path h="64008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3006" r="0" b="-59300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2112264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ĐẦU RA: timeline có timestamp • KPI định lượng • nguồn SOP • đề xuất Kaizen • kết quả xác minh trước/sau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08206" y="95250"/>
            <a:ext cx="130968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0000">
                    <a:alpha val="49804"/>
                  </a:srgbClr>
                </a:solidFill>
                <a:latin typeface="Aptos"/>
                <a:ea typeface="Aptos"/>
                <a:cs typeface="Aptos"/>
                <a:sym typeface="Aptos"/>
              </a:rPr>
              <a:t>CONFIDENTIAL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1862595"/>
            <a:ext cx="18283390" cy="8686800"/>
            <a:chOff x="0" y="0"/>
            <a:chExt cx="24377853" cy="1158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11582400"/>
            </a:xfrm>
            <a:custGeom>
              <a:avLst/>
              <a:gdLst/>
              <a:ahLst/>
              <a:cxnLst/>
              <a:rect r="r" b="b" t="t" l="l"/>
              <a:pathLst>
                <a:path h="115824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1582400"/>
                  </a:lnTo>
                  <a:lnTo>
                    <a:pt x="0" y="11582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8749389"/>
            <a:ext cx="18288000" cy="1537611"/>
            <a:chOff x="0" y="0"/>
            <a:chExt cx="24384000" cy="2050148"/>
          </a:xfrm>
        </p:grpSpPr>
        <p:sp>
          <p:nvSpPr>
            <p:cNvPr name="Freeform 7" id="7" descr="A blue and green rectangle with a circle and lines  AI-generated content may be incorrect."/>
            <p:cNvSpPr/>
            <p:nvPr/>
          </p:nvSpPr>
          <p:spPr>
            <a:xfrm flipH="false" flipV="false" rot="0">
              <a:off x="0" y="0"/>
              <a:ext cx="24384000" cy="2050161"/>
            </a:xfrm>
            <a:custGeom>
              <a:avLst/>
              <a:gdLst/>
              <a:ahLst/>
              <a:cxnLst/>
              <a:rect r="r" b="b" t="t" l="l"/>
              <a:pathLst>
                <a:path h="20501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50161"/>
                  </a:lnTo>
                  <a:lnTo>
                    <a:pt x="0" y="205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0107" r="0" b="-43280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958139" y="431149"/>
            <a:ext cx="15590520" cy="1868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sz="54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Hiệu quả mang lại?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56838" y="8840467"/>
            <a:ext cx="87630" cy="1251956"/>
            <a:chOff x="0" y="0"/>
            <a:chExt cx="116840" cy="16692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840" cy="1669288"/>
            </a:xfrm>
            <a:custGeom>
              <a:avLst/>
              <a:gdLst/>
              <a:ahLst/>
              <a:cxnLst/>
              <a:rect r="r" b="b" t="t" l="l"/>
              <a:pathLst>
                <a:path h="1669288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669288"/>
                  </a:lnTo>
                  <a:lnTo>
                    <a:pt x="0" y="1669288"/>
                  </a:lnTo>
                  <a:close/>
                </a:path>
              </a:pathLst>
            </a:custGeom>
            <a:solidFill>
              <a:srgbClr val="30D158"/>
            </a:solidFill>
            <a:ln w="19050" cap="sq">
              <a:solidFill>
                <a:srgbClr val="30D158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99535" y="8849992"/>
            <a:ext cx="15019020" cy="342900"/>
            <a:chOff x="0" y="0"/>
            <a:chExt cx="2002536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025361" cy="457200"/>
            </a:xfrm>
            <a:custGeom>
              <a:avLst/>
              <a:gdLst/>
              <a:ahLst/>
              <a:cxnLst/>
              <a:rect r="r" b="b" t="t" l="l"/>
              <a:pathLst>
                <a:path h="457200" w="20025361">
                  <a:moveTo>
                    <a:pt x="0" y="0"/>
                  </a:moveTo>
                  <a:lnTo>
                    <a:pt x="20025361" y="0"/>
                  </a:lnTo>
                  <a:lnTo>
                    <a:pt x="20025361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03444" r="0" b="-80344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002536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KPI MỤC TIÊU CHO PILOT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9535" y="9452515"/>
            <a:ext cx="15019020" cy="259671"/>
            <a:chOff x="0" y="0"/>
            <a:chExt cx="20025360" cy="3462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025361" cy="346232"/>
            </a:xfrm>
            <a:custGeom>
              <a:avLst/>
              <a:gdLst/>
              <a:ahLst/>
              <a:cxnLst/>
              <a:rect r="r" b="b" t="t" l="l"/>
              <a:pathLst>
                <a:path h="346232" w="20025361">
                  <a:moveTo>
                    <a:pt x="0" y="0"/>
                  </a:moveTo>
                  <a:lnTo>
                    <a:pt x="20025361" y="0"/>
                  </a:lnTo>
                  <a:lnTo>
                    <a:pt x="20025361" y="346232"/>
                  </a:lnTo>
                  <a:lnTo>
                    <a:pt x="0" y="3462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6975" r="0" b="-107697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0025360" cy="355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Các ngưỡng dưới đây là mục tiêu đề xuất để nghiệm thu PoC; chưa phải kết quả đo thực nghiệm tại DENSO.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0748" y="2077212"/>
            <a:ext cx="4047744" cy="2827020"/>
            <a:chOff x="0" y="0"/>
            <a:chExt cx="5396992" cy="3769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96992" cy="3769360"/>
            </a:xfrm>
            <a:custGeom>
              <a:avLst/>
              <a:gdLst/>
              <a:ahLst/>
              <a:cxnLst/>
              <a:rect r="r" b="b" t="t" l="l"/>
              <a:pathLst>
                <a:path h="3769360" w="5396992">
                  <a:moveTo>
                    <a:pt x="0" y="628269"/>
                  </a:moveTo>
                  <a:cubicBezTo>
                    <a:pt x="0" y="281305"/>
                    <a:pt x="281305" y="0"/>
                    <a:pt x="628269" y="0"/>
                  </a:cubicBezTo>
                  <a:lnTo>
                    <a:pt x="4768723" y="0"/>
                  </a:lnTo>
                  <a:cubicBezTo>
                    <a:pt x="5115687" y="0"/>
                    <a:pt x="5396992" y="281305"/>
                    <a:pt x="5396992" y="628269"/>
                  </a:cubicBezTo>
                  <a:lnTo>
                    <a:pt x="5396992" y="3141091"/>
                  </a:lnTo>
                  <a:cubicBezTo>
                    <a:pt x="5396992" y="3488055"/>
                    <a:pt x="5115687" y="3769360"/>
                    <a:pt x="4768723" y="3769360"/>
                  </a:cubicBezTo>
                  <a:lnTo>
                    <a:pt x="628269" y="3769360"/>
                  </a:lnTo>
                  <a:cubicBezTo>
                    <a:pt x="281305" y="3769360"/>
                    <a:pt x="0" y="3488055"/>
                    <a:pt x="0" y="3141091"/>
                  </a:cubicBezTo>
                  <a:close/>
                </a:path>
              </a:pathLst>
            </a:custGeom>
            <a:solidFill>
              <a:srgbClr val="F3F7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64108" y="2359152"/>
            <a:ext cx="3621024" cy="795528"/>
            <a:chOff x="0" y="0"/>
            <a:chExt cx="4828032" cy="106070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28032" cy="1060704"/>
            </a:xfrm>
            <a:custGeom>
              <a:avLst/>
              <a:gdLst/>
              <a:ahLst/>
              <a:cxnLst/>
              <a:rect r="r" b="b" t="t" l="l"/>
              <a:pathLst>
                <a:path h="1060704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690" r="0" b="-3869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4828032" cy="1060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1265A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≤ 5%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59536" y="3241548"/>
            <a:ext cx="3630168" cy="48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7"/>
              </a:lnSpc>
            </a:pPr>
            <a:r>
              <a:rPr lang="en-US" sz="2039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Sai số cycle time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3872484"/>
            <a:ext cx="3520440" cy="813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86777"/>
                </a:solidFill>
                <a:latin typeface="Aptos"/>
                <a:ea typeface="Aptos"/>
                <a:cs typeface="Aptos"/>
                <a:sym typeface="Aptos"/>
              </a:rPr>
              <a:t>Đối chiếu với nhãn thời gian do người đánh giá xác lập.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067300" y="2077212"/>
            <a:ext cx="4047744" cy="2827020"/>
            <a:chOff x="0" y="0"/>
            <a:chExt cx="5396992" cy="3769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96992" cy="3769360"/>
            </a:xfrm>
            <a:custGeom>
              <a:avLst/>
              <a:gdLst/>
              <a:ahLst/>
              <a:cxnLst/>
              <a:rect r="r" b="b" t="t" l="l"/>
              <a:pathLst>
                <a:path h="3769360" w="5396992">
                  <a:moveTo>
                    <a:pt x="0" y="628269"/>
                  </a:moveTo>
                  <a:cubicBezTo>
                    <a:pt x="0" y="281305"/>
                    <a:pt x="281305" y="0"/>
                    <a:pt x="628269" y="0"/>
                  </a:cubicBezTo>
                  <a:lnTo>
                    <a:pt x="4768723" y="0"/>
                  </a:lnTo>
                  <a:cubicBezTo>
                    <a:pt x="5115687" y="0"/>
                    <a:pt x="5396992" y="281305"/>
                    <a:pt x="5396992" y="628269"/>
                  </a:cubicBezTo>
                  <a:lnTo>
                    <a:pt x="5396992" y="3141091"/>
                  </a:lnTo>
                  <a:cubicBezTo>
                    <a:pt x="5396992" y="3488055"/>
                    <a:pt x="5115687" y="3769360"/>
                    <a:pt x="4768723" y="3769360"/>
                  </a:cubicBezTo>
                  <a:lnTo>
                    <a:pt x="628269" y="3769360"/>
                  </a:lnTo>
                  <a:cubicBezTo>
                    <a:pt x="281305" y="3769360"/>
                    <a:pt x="0" y="3488055"/>
                    <a:pt x="0" y="3141091"/>
                  </a:cubicBezTo>
                  <a:close/>
                </a:path>
              </a:pathLst>
            </a:custGeom>
            <a:solidFill>
              <a:srgbClr val="F3F7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280660" y="2359152"/>
            <a:ext cx="3621024" cy="795528"/>
            <a:chOff x="0" y="0"/>
            <a:chExt cx="4828032" cy="10607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28032" cy="1060704"/>
            </a:xfrm>
            <a:custGeom>
              <a:avLst/>
              <a:gdLst/>
              <a:ahLst/>
              <a:cxnLst/>
              <a:rect r="r" b="b" t="t" l="l"/>
              <a:pathLst>
                <a:path h="1060704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690" r="0" b="-3869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828032" cy="1060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00B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−30%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276088" y="3241548"/>
            <a:ext cx="3630168" cy="48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7"/>
              </a:lnSpc>
            </a:pPr>
            <a:r>
              <a:rPr lang="en-US" sz="2039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Thời gian lập báo cáo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330952" y="3872484"/>
            <a:ext cx="3520440" cy="813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86777"/>
                </a:solidFill>
                <a:latin typeface="Aptos"/>
                <a:ea typeface="Aptos"/>
                <a:cs typeface="Aptos"/>
                <a:sym typeface="Aptos"/>
              </a:rPr>
              <a:t>So sánh thời gian phân tích thủ công và quy trình có hỗ trợ AI.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483852" y="2077212"/>
            <a:ext cx="4047744" cy="2827020"/>
            <a:chOff x="0" y="0"/>
            <a:chExt cx="5396992" cy="3769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96992" cy="3769360"/>
            </a:xfrm>
            <a:custGeom>
              <a:avLst/>
              <a:gdLst/>
              <a:ahLst/>
              <a:cxnLst/>
              <a:rect r="r" b="b" t="t" l="l"/>
              <a:pathLst>
                <a:path h="3769360" w="5396992">
                  <a:moveTo>
                    <a:pt x="0" y="628269"/>
                  </a:moveTo>
                  <a:cubicBezTo>
                    <a:pt x="0" y="281305"/>
                    <a:pt x="281305" y="0"/>
                    <a:pt x="628269" y="0"/>
                  </a:cubicBezTo>
                  <a:lnTo>
                    <a:pt x="4768723" y="0"/>
                  </a:lnTo>
                  <a:cubicBezTo>
                    <a:pt x="5115687" y="0"/>
                    <a:pt x="5396992" y="281305"/>
                    <a:pt x="5396992" y="628269"/>
                  </a:cubicBezTo>
                  <a:lnTo>
                    <a:pt x="5396992" y="3141091"/>
                  </a:lnTo>
                  <a:cubicBezTo>
                    <a:pt x="5396992" y="3488055"/>
                    <a:pt x="5115687" y="3769360"/>
                    <a:pt x="4768723" y="3769360"/>
                  </a:cubicBezTo>
                  <a:lnTo>
                    <a:pt x="628269" y="3769360"/>
                  </a:lnTo>
                  <a:cubicBezTo>
                    <a:pt x="281305" y="3769360"/>
                    <a:pt x="0" y="3488055"/>
                    <a:pt x="0" y="3141091"/>
                  </a:cubicBezTo>
                  <a:close/>
                </a:path>
              </a:pathLst>
            </a:custGeom>
            <a:solidFill>
              <a:srgbClr val="F3F7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697212" y="2359152"/>
            <a:ext cx="3621024" cy="795528"/>
            <a:chOff x="0" y="0"/>
            <a:chExt cx="4828032" cy="10607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28032" cy="1060704"/>
            </a:xfrm>
            <a:custGeom>
              <a:avLst/>
              <a:gdLst/>
              <a:ahLst/>
              <a:cxnLst/>
              <a:rect r="r" b="b" t="t" l="l"/>
              <a:pathLst>
                <a:path h="1060704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690" r="0" b="-3869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828032" cy="1060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008F8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≥ 0.80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692640" y="3241548"/>
            <a:ext cx="3630168" cy="48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7"/>
              </a:lnSpc>
            </a:pPr>
            <a:r>
              <a:rPr lang="en-US" sz="2039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Macro-F1 hành động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47504" y="3872484"/>
            <a:ext cx="3520440" cy="813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86777"/>
                </a:solidFill>
                <a:latin typeface="Aptos"/>
                <a:ea typeface="Aptos"/>
                <a:cs typeface="Aptos"/>
                <a:sym typeface="Aptos"/>
              </a:rPr>
              <a:t>Trên bộ nhãn thao tác được thống nhất cho use case pilot.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3900404" y="2077212"/>
            <a:ext cx="4047744" cy="2827020"/>
            <a:chOff x="0" y="0"/>
            <a:chExt cx="5396992" cy="3769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96992" cy="3769360"/>
            </a:xfrm>
            <a:custGeom>
              <a:avLst/>
              <a:gdLst/>
              <a:ahLst/>
              <a:cxnLst/>
              <a:rect r="r" b="b" t="t" l="l"/>
              <a:pathLst>
                <a:path h="3769360" w="5396992">
                  <a:moveTo>
                    <a:pt x="0" y="628269"/>
                  </a:moveTo>
                  <a:cubicBezTo>
                    <a:pt x="0" y="281305"/>
                    <a:pt x="281305" y="0"/>
                    <a:pt x="628269" y="0"/>
                  </a:cubicBezTo>
                  <a:lnTo>
                    <a:pt x="4768723" y="0"/>
                  </a:lnTo>
                  <a:cubicBezTo>
                    <a:pt x="5115687" y="0"/>
                    <a:pt x="5396992" y="281305"/>
                    <a:pt x="5396992" y="628269"/>
                  </a:cubicBezTo>
                  <a:lnTo>
                    <a:pt x="5396992" y="3141091"/>
                  </a:lnTo>
                  <a:cubicBezTo>
                    <a:pt x="5396992" y="3488055"/>
                    <a:pt x="5115687" y="3769360"/>
                    <a:pt x="4768723" y="3769360"/>
                  </a:cubicBezTo>
                  <a:lnTo>
                    <a:pt x="628269" y="3769360"/>
                  </a:lnTo>
                  <a:cubicBezTo>
                    <a:pt x="281305" y="3769360"/>
                    <a:pt x="0" y="3488055"/>
                    <a:pt x="0" y="3141091"/>
                  </a:cubicBezTo>
                  <a:close/>
                </a:path>
              </a:pathLst>
            </a:custGeom>
            <a:solidFill>
              <a:srgbClr val="F3F7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4113764" y="2359152"/>
            <a:ext cx="3621024" cy="795528"/>
            <a:chOff x="0" y="0"/>
            <a:chExt cx="4828032" cy="10607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828032" cy="1060704"/>
            </a:xfrm>
            <a:custGeom>
              <a:avLst/>
              <a:gdLst/>
              <a:ahLst/>
              <a:cxnLst/>
              <a:rect r="r" b="b" t="t" l="l"/>
              <a:pathLst>
                <a:path h="1060704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690" r="0" b="-3869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828032" cy="1060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1538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100%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4109192" y="3241548"/>
            <a:ext cx="3630168" cy="48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7"/>
              </a:lnSpc>
            </a:pPr>
            <a:r>
              <a:rPr lang="en-US" sz="2039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Gợi ý có bằng chứng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164056" y="3872484"/>
            <a:ext cx="3520440" cy="813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86777"/>
                </a:solidFill>
                <a:latin typeface="Aptos"/>
                <a:ea typeface="Aptos"/>
                <a:cs typeface="Aptos"/>
                <a:sym typeface="Aptos"/>
              </a:rPr>
              <a:t>Hiển thị timestamp / đoạn video và nguồn SOP liên quan khi có.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787908" y="5314188"/>
            <a:ext cx="16611600" cy="3005328"/>
            <a:chOff x="0" y="0"/>
            <a:chExt cx="22148800" cy="400710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148800" cy="4007104"/>
            </a:xfrm>
            <a:custGeom>
              <a:avLst/>
              <a:gdLst/>
              <a:ahLst/>
              <a:cxnLst/>
              <a:rect r="r" b="b" t="t" l="l"/>
              <a:pathLst>
                <a:path h="4007104" w="22148800">
                  <a:moveTo>
                    <a:pt x="0" y="667893"/>
                  </a:moveTo>
                  <a:cubicBezTo>
                    <a:pt x="0" y="298958"/>
                    <a:pt x="298958" y="0"/>
                    <a:pt x="667893" y="0"/>
                  </a:cubicBezTo>
                  <a:lnTo>
                    <a:pt x="21480907" y="0"/>
                  </a:lnTo>
                  <a:cubicBezTo>
                    <a:pt x="21849842" y="0"/>
                    <a:pt x="22148800" y="298958"/>
                    <a:pt x="22148800" y="667893"/>
                  </a:cubicBezTo>
                  <a:lnTo>
                    <a:pt x="22148800" y="3339211"/>
                  </a:lnTo>
                  <a:cubicBezTo>
                    <a:pt x="22148800" y="3708019"/>
                    <a:pt x="21849842" y="4007104"/>
                    <a:pt x="21480907" y="4007104"/>
                  </a:cubicBezTo>
                  <a:lnTo>
                    <a:pt x="667893" y="4007104"/>
                  </a:lnTo>
                  <a:cubicBezTo>
                    <a:pt x="298958" y="4007104"/>
                    <a:pt x="0" y="3708146"/>
                    <a:pt x="0" y="3339211"/>
                  </a:cubicBezTo>
                  <a:close/>
                </a:path>
              </a:pathLst>
            </a:custGeom>
            <a:solidFill>
              <a:srgbClr val="F7F9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1147572" y="5563743"/>
            <a:ext cx="6702552" cy="48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BUSINESS CASE &amp; ROI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47572" y="6204204"/>
            <a:ext cx="7045452" cy="1609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• Bắt đầu bằng video/camera và máy tính sẵn có nếu đáp ứng điều kiện.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• Chi phí chính: tích hợp, gán nhãn, vận hành và compute.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• Không chốt mức tiết kiệm tiền trước khi có baseline.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8709660" y="5692140"/>
            <a:ext cx="34290" cy="2276856"/>
            <a:chOff x="0" y="0"/>
            <a:chExt cx="45720" cy="303580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5720" cy="3035808"/>
            </a:xfrm>
            <a:custGeom>
              <a:avLst/>
              <a:gdLst/>
              <a:ahLst/>
              <a:cxnLst/>
              <a:rect r="r" b="b" t="t" l="l"/>
              <a:pathLst>
                <a:path h="3035808" w="45720">
                  <a:moveTo>
                    <a:pt x="0" y="0"/>
                  </a:moveTo>
                  <a:lnTo>
                    <a:pt x="45720" y="0"/>
                  </a:lnTo>
                  <a:lnTo>
                    <a:pt x="45720" y="3035808"/>
                  </a:lnTo>
                  <a:lnTo>
                    <a:pt x="0" y="3035808"/>
                  </a:lnTo>
                  <a:close/>
                </a:path>
              </a:pathLst>
            </a:custGeom>
            <a:solidFill>
              <a:srgbClr val="DCE6EF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9171432" y="5563743"/>
            <a:ext cx="7388352" cy="48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CÁCH XÁC MINH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171432" y="6204204"/>
            <a:ext cx="7525512" cy="1609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1. Ghi baseline từ cùng trạm và cùng định nghĩa thao tác.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2. Đối chiếu với annotation / review của kỹ sư.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3. Tính ROI = giờ phân tích tiết kiệm × đơn giá giờ − chi phí vận hành.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08206" y="95250"/>
            <a:ext cx="130968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0000">
                    <a:alpha val="49804"/>
                  </a:srgbClr>
                </a:solidFill>
                <a:latin typeface="Aptos"/>
                <a:ea typeface="Aptos"/>
                <a:cs typeface="Aptos"/>
                <a:sym typeface="Aptos"/>
              </a:rPr>
              <a:t>CONFIDENTIAL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1862595"/>
            <a:ext cx="18283390" cy="8686800"/>
            <a:chOff x="0" y="0"/>
            <a:chExt cx="24377853" cy="1158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11582400"/>
            </a:xfrm>
            <a:custGeom>
              <a:avLst/>
              <a:gdLst/>
              <a:ahLst/>
              <a:cxnLst/>
              <a:rect r="r" b="b" t="t" l="l"/>
              <a:pathLst>
                <a:path h="115824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1582400"/>
                  </a:lnTo>
                  <a:lnTo>
                    <a:pt x="0" y="11582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58139" y="431149"/>
            <a:ext cx="15590520" cy="1868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sz="54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Thời gian triển khai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6760" y="2255520"/>
            <a:ext cx="3938016" cy="5158740"/>
            <a:chOff x="0" y="0"/>
            <a:chExt cx="5250688" cy="68783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50688" cy="6878320"/>
            </a:xfrm>
            <a:custGeom>
              <a:avLst/>
              <a:gdLst/>
              <a:ahLst/>
              <a:cxnLst/>
              <a:rect r="r" b="b" t="t" l="l"/>
              <a:pathLst>
                <a:path h="6878320" w="5250688">
                  <a:moveTo>
                    <a:pt x="0" y="875157"/>
                  </a:moveTo>
                  <a:cubicBezTo>
                    <a:pt x="0" y="391795"/>
                    <a:pt x="391795" y="0"/>
                    <a:pt x="875157" y="0"/>
                  </a:cubicBezTo>
                  <a:lnTo>
                    <a:pt x="4375531" y="0"/>
                  </a:lnTo>
                  <a:cubicBezTo>
                    <a:pt x="4858893" y="0"/>
                    <a:pt x="5250688" y="391795"/>
                    <a:pt x="5250688" y="875157"/>
                  </a:cubicBezTo>
                  <a:lnTo>
                    <a:pt x="5250688" y="6003163"/>
                  </a:lnTo>
                  <a:cubicBezTo>
                    <a:pt x="5250688" y="6486525"/>
                    <a:pt x="4858893" y="6878320"/>
                    <a:pt x="4375531" y="6878320"/>
                  </a:cubicBezTo>
                  <a:lnTo>
                    <a:pt x="875157" y="6878320"/>
                  </a:lnTo>
                  <a:cubicBezTo>
                    <a:pt x="391795" y="6878320"/>
                    <a:pt x="0" y="6486525"/>
                    <a:pt x="0" y="6003163"/>
                  </a:cubicBezTo>
                  <a:close/>
                </a:path>
              </a:pathLst>
            </a:custGeom>
            <a:solidFill>
              <a:srgbClr val="F3F7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01268" y="2578608"/>
            <a:ext cx="1440180" cy="521208"/>
            <a:chOff x="0" y="0"/>
            <a:chExt cx="1920240" cy="6949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" cy="694944"/>
            </a:xfrm>
            <a:custGeom>
              <a:avLst/>
              <a:gdLst/>
              <a:ahLst/>
              <a:cxnLst/>
              <a:rect r="r" b="b" t="t" l="l"/>
              <a:pathLst>
                <a:path h="694944" w="1920240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lnTo>
                    <a:pt x="1804416" y="0"/>
                  </a:lnTo>
                  <a:cubicBezTo>
                    <a:pt x="1868424" y="0"/>
                    <a:pt x="1920240" y="51816"/>
                    <a:pt x="1920240" y="115824"/>
                  </a:cubicBezTo>
                  <a:lnTo>
                    <a:pt x="1920240" y="579120"/>
                  </a:lnTo>
                  <a:cubicBezTo>
                    <a:pt x="1920240" y="643128"/>
                    <a:pt x="1868424" y="694944"/>
                    <a:pt x="1804416" y="694944"/>
                  </a:cubicBezTo>
                  <a:lnTo>
                    <a:pt x="115824" y="694944"/>
                  </a:lnTo>
                  <a:cubicBezTo>
                    <a:pt x="51816" y="694944"/>
                    <a:pt x="0" y="643128"/>
                    <a:pt x="0" y="579120"/>
                  </a:cubicBezTo>
                  <a:close/>
                </a:path>
              </a:pathLst>
            </a:custGeom>
            <a:solidFill>
              <a:srgbClr val="EAF3F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56132" y="2599182"/>
            <a:ext cx="1330452" cy="480060"/>
            <a:chOff x="0" y="0"/>
            <a:chExt cx="1773936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73936" cy="640080"/>
            </a:xfrm>
            <a:custGeom>
              <a:avLst/>
              <a:gdLst/>
              <a:ahLst/>
              <a:cxnLst/>
              <a:rect r="r" b="b" t="t" l="l"/>
              <a:pathLst>
                <a:path h="640080" w="1773936">
                  <a:moveTo>
                    <a:pt x="0" y="0"/>
                  </a:moveTo>
                  <a:lnTo>
                    <a:pt x="1773936" y="0"/>
                  </a:lnTo>
                  <a:lnTo>
                    <a:pt x="177393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1" r="0" b="-40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773936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265A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WEEK 1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37844" y="3392424"/>
            <a:ext cx="3355848" cy="70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Chốt use case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7844" y="4307205"/>
            <a:ext cx="3383280" cy="2477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7"/>
              </a:lnSpc>
            </a:pPr>
            <a:r>
              <a:rPr lang="en-US" sz="1814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Chọn trạm và KPI; xác định hoạt động cần đo; rà soát quyền dùng video, privacy và SOP.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677156" y="4251960"/>
            <a:ext cx="411480" cy="617220"/>
            <a:chOff x="0" y="0"/>
            <a:chExt cx="548640" cy="822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8640" cy="822960"/>
            </a:xfrm>
            <a:custGeom>
              <a:avLst/>
              <a:gdLst/>
              <a:ahLst/>
              <a:cxnLst/>
              <a:rect r="r" b="b" t="t" l="l"/>
              <a:pathLst>
                <a:path h="82296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5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4864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sz="3450" b="true">
                  <a:solidFill>
                    <a:srgbClr val="00B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→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108448" y="2255520"/>
            <a:ext cx="3938016" cy="5158740"/>
            <a:chOff x="0" y="0"/>
            <a:chExt cx="5250688" cy="68783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50688" cy="6878320"/>
            </a:xfrm>
            <a:custGeom>
              <a:avLst/>
              <a:gdLst/>
              <a:ahLst/>
              <a:cxnLst/>
              <a:rect r="r" b="b" t="t" l="l"/>
              <a:pathLst>
                <a:path h="6878320" w="5250688">
                  <a:moveTo>
                    <a:pt x="0" y="875157"/>
                  </a:moveTo>
                  <a:cubicBezTo>
                    <a:pt x="0" y="391795"/>
                    <a:pt x="391795" y="0"/>
                    <a:pt x="875157" y="0"/>
                  </a:cubicBezTo>
                  <a:lnTo>
                    <a:pt x="4375531" y="0"/>
                  </a:lnTo>
                  <a:cubicBezTo>
                    <a:pt x="4858893" y="0"/>
                    <a:pt x="5250688" y="391795"/>
                    <a:pt x="5250688" y="875157"/>
                  </a:cubicBezTo>
                  <a:lnTo>
                    <a:pt x="5250688" y="6003163"/>
                  </a:lnTo>
                  <a:cubicBezTo>
                    <a:pt x="5250688" y="6486525"/>
                    <a:pt x="4858893" y="6878320"/>
                    <a:pt x="4375531" y="6878320"/>
                  </a:cubicBezTo>
                  <a:lnTo>
                    <a:pt x="875157" y="6878320"/>
                  </a:lnTo>
                  <a:cubicBezTo>
                    <a:pt x="391795" y="6878320"/>
                    <a:pt x="0" y="6486525"/>
                    <a:pt x="0" y="6003163"/>
                  </a:cubicBezTo>
                  <a:close/>
                </a:path>
              </a:pathLst>
            </a:custGeom>
            <a:solidFill>
              <a:srgbClr val="F3F7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362956" y="2578608"/>
            <a:ext cx="1440180" cy="521208"/>
            <a:chOff x="0" y="0"/>
            <a:chExt cx="1920240" cy="6949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20240" cy="694944"/>
            </a:xfrm>
            <a:custGeom>
              <a:avLst/>
              <a:gdLst/>
              <a:ahLst/>
              <a:cxnLst/>
              <a:rect r="r" b="b" t="t" l="l"/>
              <a:pathLst>
                <a:path h="694944" w="1920240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lnTo>
                    <a:pt x="1804416" y="0"/>
                  </a:lnTo>
                  <a:cubicBezTo>
                    <a:pt x="1868424" y="0"/>
                    <a:pt x="1920240" y="51816"/>
                    <a:pt x="1920240" y="115824"/>
                  </a:cubicBezTo>
                  <a:lnTo>
                    <a:pt x="1920240" y="579120"/>
                  </a:lnTo>
                  <a:cubicBezTo>
                    <a:pt x="1920240" y="643128"/>
                    <a:pt x="1868424" y="694944"/>
                    <a:pt x="1804416" y="694944"/>
                  </a:cubicBezTo>
                  <a:lnTo>
                    <a:pt x="115824" y="694944"/>
                  </a:lnTo>
                  <a:cubicBezTo>
                    <a:pt x="51816" y="694944"/>
                    <a:pt x="0" y="643128"/>
                    <a:pt x="0" y="579120"/>
                  </a:cubicBezTo>
                  <a:close/>
                </a:path>
              </a:pathLst>
            </a:custGeom>
            <a:solidFill>
              <a:srgbClr val="EAF3F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417820" y="2599182"/>
            <a:ext cx="1330452" cy="480060"/>
            <a:chOff x="0" y="0"/>
            <a:chExt cx="1773936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73936" cy="640080"/>
            </a:xfrm>
            <a:custGeom>
              <a:avLst/>
              <a:gdLst/>
              <a:ahLst/>
              <a:cxnLst/>
              <a:rect r="r" b="b" t="t" l="l"/>
              <a:pathLst>
                <a:path h="640080" w="1773936">
                  <a:moveTo>
                    <a:pt x="0" y="0"/>
                  </a:moveTo>
                  <a:lnTo>
                    <a:pt x="1773936" y="0"/>
                  </a:lnTo>
                  <a:lnTo>
                    <a:pt x="177393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1" r="0" b="-400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773936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08F8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WEEK 2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399532" y="3392424"/>
            <a:ext cx="3355848" cy="70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Dựng A3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399532" y="4307205"/>
            <a:ext cx="3383280" cy="2477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7"/>
              </a:lnSpc>
            </a:pPr>
            <a:r>
              <a:rPr lang="en-US" sz="1814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Pose / tracking / segmentation; xuất timeline, cycle time và CSV để kỹ sư kiểm tra.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038844" y="4251960"/>
            <a:ext cx="411480" cy="617220"/>
            <a:chOff x="0" y="0"/>
            <a:chExt cx="548640" cy="822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8640" cy="822960"/>
            </a:xfrm>
            <a:custGeom>
              <a:avLst/>
              <a:gdLst/>
              <a:ahLst/>
              <a:cxnLst/>
              <a:rect r="r" b="b" t="t" l="l"/>
              <a:pathLst>
                <a:path h="82296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5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54864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sz="3450" b="true">
                  <a:solidFill>
                    <a:srgbClr val="00B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→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70136" y="2255520"/>
            <a:ext cx="3938016" cy="5158740"/>
            <a:chOff x="0" y="0"/>
            <a:chExt cx="5250688" cy="68783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50688" cy="6878320"/>
            </a:xfrm>
            <a:custGeom>
              <a:avLst/>
              <a:gdLst/>
              <a:ahLst/>
              <a:cxnLst/>
              <a:rect r="r" b="b" t="t" l="l"/>
              <a:pathLst>
                <a:path h="6878320" w="5250688">
                  <a:moveTo>
                    <a:pt x="0" y="875157"/>
                  </a:moveTo>
                  <a:cubicBezTo>
                    <a:pt x="0" y="391795"/>
                    <a:pt x="391795" y="0"/>
                    <a:pt x="875157" y="0"/>
                  </a:cubicBezTo>
                  <a:lnTo>
                    <a:pt x="4375531" y="0"/>
                  </a:lnTo>
                  <a:cubicBezTo>
                    <a:pt x="4858893" y="0"/>
                    <a:pt x="5250688" y="391795"/>
                    <a:pt x="5250688" y="875157"/>
                  </a:cubicBezTo>
                  <a:lnTo>
                    <a:pt x="5250688" y="6003163"/>
                  </a:lnTo>
                  <a:cubicBezTo>
                    <a:pt x="5250688" y="6486525"/>
                    <a:pt x="4858893" y="6878320"/>
                    <a:pt x="4375531" y="6878320"/>
                  </a:cubicBezTo>
                  <a:lnTo>
                    <a:pt x="875157" y="6878320"/>
                  </a:lnTo>
                  <a:cubicBezTo>
                    <a:pt x="391795" y="6878320"/>
                    <a:pt x="0" y="6486525"/>
                    <a:pt x="0" y="6003163"/>
                  </a:cubicBezTo>
                  <a:close/>
                </a:path>
              </a:pathLst>
            </a:custGeom>
            <a:solidFill>
              <a:srgbClr val="F3F7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724644" y="2578608"/>
            <a:ext cx="1440180" cy="521208"/>
            <a:chOff x="0" y="0"/>
            <a:chExt cx="1920240" cy="6949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20240" cy="694944"/>
            </a:xfrm>
            <a:custGeom>
              <a:avLst/>
              <a:gdLst/>
              <a:ahLst/>
              <a:cxnLst/>
              <a:rect r="r" b="b" t="t" l="l"/>
              <a:pathLst>
                <a:path h="694944" w="1920240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lnTo>
                    <a:pt x="1804416" y="0"/>
                  </a:lnTo>
                  <a:cubicBezTo>
                    <a:pt x="1868424" y="0"/>
                    <a:pt x="1920240" y="51816"/>
                    <a:pt x="1920240" y="115824"/>
                  </a:cubicBezTo>
                  <a:lnTo>
                    <a:pt x="1920240" y="579120"/>
                  </a:lnTo>
                  <a:cubicBezTo>
                    <a:pt x="1920240" y="643128"/>
                    <a:pt x="1868424" y="694944"/>
                    <a:pt x="1804416" y="694944"/>
                  </a:cubicBezTo>
                  <a:lnTo>
                    <a:pt x="115824" y="694944"/>
                  </a:lnTo>
                  <a:cubicBezTo>
                    <a:pt x="51816" y="694944"/>
                    <a:pt x="0" y="643128"/>
                    <a:pt x="0" y="579120"/>
                  </a:cubicBezTo>
                  <a:close/>
                </a:path>
              </a:pathLst>
            </a:custGeom>
            <a:solidFill>
              <a:srgbClr val="E9F8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779508" y="2599182"/>
            <a:ext cx="1330452" cy="480060"/>
            <a:chOff x="0" y="0"/>
            <a:chExt cx="1773936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73936" cy="640080"/>
            </a:xfrm>
            <a:custGeom>
              <a:avLst/>
              <a:gdLst/>
              <a:ahLst/>
              <a:cxnLst/>
              <a:rect r="r" b="b" t="t" l="l"/>
              <a:pathLst>
                <a:path h="640080" w="1773936">
                  <a:moveTo>
                    <a:pt x="0" y="0"/>
                  </a:moveTo>
                  <a:lnTo>
                    <a:pt x="1773936" y="0"/>
                  </a:lnTo>
                  <a:lnTo>
                    <a:pt x="177393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1" r="0" b="-400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773936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0B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WEEK 3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761220" y="3392424"/>
            <a:ext cx="3355848" cy="70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Tích hợp A1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761220" y="4307205"/>
            <a:ext cx="3383280" cy="2477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7"/>
              </a:lnSpc>
            </a:pPr>
            <a:r>
              <a:rPr lang="en-US" sz="1814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Index SOP/standard work; RAG có nguồn; tạo bản nháp insight và action plan.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400532" y="4251960"/>
            <a:ext cx="411480" cy="617220"/>
            <a:chOff x="0" y="0"/>
            <a:chExt cx="548640" cy="822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" cy="822960"/>
            </a:xfrm>
            <a:custGeom>
              <a:avLst/>
              <a:gdLst/>
              <a:ahLst/>
              <a:cxnLst/>
              <a:rect r="r" b="b" t="t" l="l"/>
              <a:pathLst>
                <a:path h="82296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5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4864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sz="3450" b="true">
                  <a:solidFill>
                    <a:srgbClr val="00B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→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831824" y="2255520"/>
            <a:ext cx="3938016" cy="5158740"/>
            <a:chOff x="0" y="0"/>
            <a:chExt cx="5250688" cy="68783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50688" cy="6878320"/>
            </a:xfrm>
            <a:custGeom>
              <a:avLst/>
              <a:gdLst/>
              <a:ahLst/>
              <a:cxnLst/>
              <a:rect r="r" b="b" t="t" l="l"/>
              <a:pathLst>
                <a:path h="6878320" w="5250688">
                  <a:moveTo>
                    <a:pt x="0" y="875157"/>
                  </a:moveTo>
                  <a:cubicBezTo>
                    <a:pt x="0" y="391795"/>
                    <a:pt x="391795" y="0"/>
                    <a:pt x="875157" y="0"/>
                  </a:cubicBezTo>
                  <a:lnTo>
                    <a:pt x="4375531" y="0"/>
                  </a:lnTo>
                  <a:cubicBezTo>
                    <a:pt x="4858893" y="0"/>
                    <a:pt x="5250688" y="391795"/>
                    <a:pt x="5250688" y="875157"/>
                  </a:cubicBezTo>
                  <a:lnTo>
                    <a:pt x="5250688" y="6003163"/>
                  </a:lnTo>
                  <a:cubicBezTo>
                    <a:pt x="5250688" y="6486525"/>
                    <a:pt x="4858893" y="6878320"/>
                    <a:pt x="4375531" y="6878320"/>
                  </a:cubicBezTo>
                  <a:lnTo>
                    <a:pt x="875157" y="6878320"/>
                  </a:lnTo>
                  <a:cubicBezTo>
                    <a:pt x="391795" y="6878320"/>
                    <a:pt x="0" y="6486525"/>
                    <a:pt x="0" y="6003163"/>
                  </a:cubicBezTo>
                  <a:close/>
                </a:path>
              </a:pathLst>
            </a:custGeom>
            <a:solidFill>
              <a:srgbClr val="F3F7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4086332" y="2578608"/>
            <a:ext cx="1440180" cy="521208"/>
            <a:chOff x="0" y="0"/>
            <a:chExt cx="1920240" cy="69494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20240" cy="694944"/>
            </a:xfrm>
            <a:custGeom>
              <a:avLst/>
              <a:gdLst/>
              <a:ahLst/>
              <a:cxnLst/>
              <a:rect r="r" b="b" t="t" l="l"/>
              <a:pathLst>
                <a:path h="694944" w="1920240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lnTo>
                    <a:pt x="1804416" y="0"/>
                  </a:lnTo>
                  <a:cubicBezTo>
                    <a:pt x="1868424" y="0"/>
                    <a:pt x="1920240" y="51816"/>
                    <a:pt x="1920240" y="115824"/>
                  </a:cubicBezTo>
                  <a:lnTo>
                    <a:pt x="1920240" y="579120"/>
                  </a:lnTo>
                  <a:cubicBezTo>
                    <a:pt x="1920240" y="643128"/>
                    <a:pt x="1868424" y="694944"/>
                    <a:pt x="1804416" y="694944"/>
                  </a:cubicBezTo>
                  <a:lnTo>
                    <a:pt x="115824" y="694944"/>
                  </a:lnTo>
                  <a:cubicBezTo>
                    <a:pt x="51816" y="694944"/>
                    <a:pt x="0" y="643128"/>
                    <a:pt x="0" y="579120"/>
                  </a:cubicBezTo>
                  <a:close/>
                </a:path>
              </a:pathLst>
            </a:custGeom>
            <a:solidFill>
              <a:srgbClr val="E9F8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141196" y="2599182"/>
            <a:ext cx="1330452" cy="480060"/>
            <a:chOff x="0" y="0"/>
            <a:chExt cx="1773936" cy="640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73936" cy="640080"/>
            </a:xfrm>
            <a:custGeom>
              <a:avLst/>
              <a:gdLst/>
              <a:ahLst/>
              <a:cxnLst/>
              <a:rect r="r" b="b" t="t" l="l"/>
              <a:pathLst>
                <a:path h="640080" w="1773936">
                  <a:moveTo>
                    <a:pt x="0" y="0"/>
                  </a:moveTo>
                  <a:lnTo>
                    <a:pt x="1773936" y="0"/>
                  </a:lnTo>
                  <a:lnTo>
                    <a:pt x="177393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1" r="0" b="-400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773936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538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WEEK 4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4122908" y="3392424"/>
            <a:ext cx="3355848" cy="70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Pilot &amp; nghiệm thu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122908" y="4307205"/>
            <a:ext cx="3383280" cy="2477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7"/>
              </a:lnSpc>
            </a:pPr>
            <a:r>
              <a:rPr lang="en-US" sz="1814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Đánh giá sai số và thời gian phân tích; review đề xuất; quyết định có mở rộng hay không.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897636" y="7837932"/>
            <a:ext cx="16474440" cy="838200"/>
            <a:chOff x="0" y="0"/>
            <a:chExt cx="21965920" cy="1117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965921" cy="1117600"/>
            </a:xfrm>
            <a:custGeom>
              <a:avLst/>
              <a:gdLst/>
              <a:ahLst/>
              <a:cxnLst/>
              <a:rect r="r" b="b" t="t" l="l"/>
              <a:pathLst>
                <a:path h="1117600" w="21965921">
                  <a:moveTo>
                    <a:pt x="0" y="186309"/>
                  </a:moveTo>
                  <a:cubicBezTo>
                    <a:pt x="0" y="83439"/>
                    <a:pt x="83439" y="0"/>
                    <a:pt x="186309" y="0"/>
                  </a:cubicBezTo>
                  <a:lnTo>
                    <a:pt x="21779612" y="0"/>
                  </a:lnTo>
                  <a:cubicBezTo>
                    <a:pt x="21882481" y="0"/>
                    <a:pt x="21965921" y="83439"/>
                    <a:pt x="21965921" y="186309"/>
                  </a:cubicBezTo>
                  <a:lnTo>
                    <a:pt x="21965921" y="931291"/>
                  </a:lnTo>
                  <a:cubicBezTo>
                    <a:pt x="21965921" y="1034161"/>
                    <a:pt x="21882481" y="1117600"/>
                    <a:pt x="21779612" y="1117600"/>
                  </a:cubicBezTo>
                  <a:lnTo>
                    <a:pt x="186309" y="1117600"/>
                  </a:lnTo>
                  <a:cubicBezTo>
                    <a:pt x="83439" y="1117600"/>
                    <a:pt x="0" y="1034161"/>
                    <a:pt x="0" y="931291"/>
                  </a:cubicBezTo>
                  <a:close/>
                </a:path>
              </a:pathLst>
            </a:custGeom>
            <a:solidFill>
              <a:srgbClr val="EAF3FC"/>
            </a:solidFill>
            <a:ln w="15240" cap="sq">
              <a:solidFill>
                <a:srgbClr val="EAF3FC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165860" y="7996428"/>
            <a:ext cx="15910560" cy="480060"/>
            <a:chOff x="0" y="0"/>
            <a:chExt cx="21214080" cy="6400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214080" cy="640080"/>
            </a:xfrm>
            <a:custGeom>
              <a:avLst/>
              <a:gdLst/>
              <a:ahLst/>
              <a:cxnLst/>
              <a:rect r="r" b="b" t="t" l="l"/>
              <a:pathLst>
                <a:path h="6400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5789" r="0" b="-59578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121408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538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DELIVERABLES: dashboard/timeline • baseline CSV • báo cáo có dẫn nguồn • pilot KPI • backlog cải tiến tiếp theo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078992" y="8851392"/>
            <a:ext cx="16098012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320">
                <a:solidFill>
                  <a:srgbClr val="586777"/>
                </a:solidFill>
                <a:latin typeface="Aptos"/>
                <a:ea typeface="Aptos"/>
                <a:cs typeface="Aptos"/>
                <a:sym typeface="Aptos"/>
              </a:rPr>
              <a:t>Giả định kế hoạch: 1 trạm, 1 use case, dữ liệu và SOP được cấp quyền truy cập; thời gian sẽ điều chỉnh theo phạm vi thực tế.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08206" y="95250"/>
            <a:ext cx="130968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0000">
                    <a:alpha val="49804"/>
                  </a:srgbClr>
                </a:solidFill>
                <a:latin typeface="Aptos"/>
                <a:ea typeface="Aptos"/>
                <a:cs typeface="Aptos"/>
                <a:sym typeface="Aptos"/>
              </a:rPr>
              <a:t>CONFIDENTIAL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1862595"/>
            <a:ext cx="18283390" cy="8686800"/>
            <a:chOff x="0" y="0"/>
            <a:chExt cx="24377853" cy="1158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11582400"/>
            </a:xfrm>
            <a:custGeom>
              <a:avLst/>
              <a:gdLst/>
              <a:ahLst/>
              <a:cxnLst/>
              <a:rect r="r" b="b" t="t" l="l"/>
              <a:pathLst>
                <a:path h="115824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1582400"/>
                  </a:lnTo>
                  <a:lnTo>
                    <a:pt x="0" y="11582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050947" y="299952"/>
            <a:ext cx="6324267" cy="1868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sz="54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 luận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552" y="2029968"/>
            <a:ext cx="16322040" cy="905256"/>
            <a:chOff x="0" y="0"/>
            <a:chExt cx="21762720" cy="12070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627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321" r="0" b="-30132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76272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1538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KHÔNG CHỈ PHÁT HIỆN THAO TÁC — BIẾN BẰNG CHỨNG THÀNH CẢI TIẾN.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1412" y="3448812"/>
            <a:ext cx="4514088" cy="2511552"/>
            <a:chOff x="0" y="0"/>
            <a:chExt cx="6018784" cy="33487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18784" cy="3348736"/>
            </a:xfrm>
            <a:custGeom>
              <a:avLst/>
              <a:gdLst/>
              <a:ahLst/>
              <a:cxnLst/>
              <a:rect r="r" b="b" t="t" l="l"/>
              <a:pathLst>
                <a:path h="3348736" w="6018784">
                  <a:moveTo>
                    <a:pt x="0" y="558165"/>
                  </a:moveTo>
                  <a:cubicBezTo>
                    <a:pt x="0" y="249936"/>
                    <a:pt x="249936" y="0"/>
                    <a:pt x="558165" y="0"/>
                  </a:cubicBezTo>
                  <a:lnTo>
                    <a:pt x="5460619" y="0"/>
                  </a:lnTo>
                  <a:cubicBezTo>
                    <a:pt x="5768848" y="0"/>
                    <a:pt x="6018784" y="249936"/>
                    <a:pt x="6018784" y="558165"/>
                  </a:cubicBezTo>
                  <a:lnTo>
                    <a:pt x="6018784" y="2790571"/>
                  </a:lnTo>
                  <a:cubicBezTo>
                    <a:pt x="6018784" y="3098800"/>
                    <a:pt x="5768848" y="3348736"/>
                    <a:pt x="5460619" y="3348736"/>
                  </a:cubicBezTo>
                  <a:lnTo>
                    <a:pt x="558165" y="3348736"/>
                  </a:lnTo>
                  <a:cubicBezTo>
                    <a:pt x="249936" y="3348736"/>
                    <a:pt x="0" y="3098800"/>
                    <a:pt x="0" y="2790571"/>
                  </a:cubicBezTo>
                  <a:close/>
                </a:path>
              </a:pathLst>
            </a:custGeom>
            <a:solidFill>
              <a:srgbClr val="F3F7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613916" y="3762756"/>
            <a:ext cx="4069080" cy="48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1265A8"/>
                </a:solidFill>
                <a:latin typeface="Aptos Bold"/>
                <a:ea typeface="Aptos Bold"/>
                <a:cs typeface="Aptos Bold"/>
                <a:sym typeface="Aptos Bold"/>
              </a:rPr>
              <a:t>MEASURE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13916" y="4375785"/>
            <a:ext cx="4069080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5"/>
              </a:lnSpc>
            </a:pPr>
            <a:r>
              <a:rPr lang="en-US" sz="1829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A3 • Computer Vision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9928" y="4887468"/>
            <a:ext cx="3877056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Đo thao tác, thời gian và quỹ đạo từ video.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877812" y="3448812"/>
            <a:ext cx="4514088" cy="2511552"/>
            <a:chOff x="0" y="0"/>
            <a:chExt cx="6018784" cy="33487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18784" cy="3348736"/>
            </a:xfrm>
            <a:custGeom>
              <a:avLst/>
              <a:gdLst/>
              <a:ahLst/>
              <a:cxnLst/>
              <a:rect r="r" b="b" t="t" l="l"/>
              <a:pathLst>
                <a:path h="3348736" w="6018784">
                  <a:moveTo>
                    <a:pt x="0" y="558165"/>
                  </a:moveTo>
                  <a:cubicBezTo>
                    <a:pt x="0" y="249936"/>
                    <a:pt x="249936" y="0"/>
                    <a:pt x="558165" y="0"/>
                  </a:cubicBezTo>
                  <a:lnTo>
                    <a:pt x="5460619" y="0"/>
                  </a:lnTo>
                  <a:cubicBezTo>
                    <a:pt x="5768848" y="0"/>
                    <a:pt x="6018784" y="249936"/>
                    <a:pt x="6018784" y="558165"/>
                  </a:cubicBezTo>
                  <a:lnTo>
                    <a:pt x="6018784" y="2790571"/>
                  </a:lnTo>
                  <a:cubicBezTo>
                    <a:pt x="6018784" y="3098800"/>
                    <a:pt x="5768848" y="3348736"/>
                    <a:pt x="5460619" y="3348736"/>
                  </a:cubicBezTo>
                  <a:lnTo>
                    <a:pt x="558165" y="3348736"/>
                  </a:lnTo>
                  <a:cubicBezTo>
                    <a:pt x="249936" y="3348736"/>
                    <a:pt x="0" y="3098800"/>
                    <a:pt x="0" y="2790571"/>
                  </a:cubicBezTo>
                  <a:close/>
                </a:path>
              </a:pathLst>
            </a:custGeom>
            <a:solidFill>
              <a:srgbClr val="F3F7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7100316" y="3762756"/>
            <a:ext cx="4069080" cy="48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00B96B"/>
                </a:solidFill>
                <a:latin typeface="Aptos Bold"/>
                <a:ea typeface="Aptos Bold"/>
                <a:cs typeface="Aptos Bold"/>
                <a:sym typeface="Aptos Bold"/>
              </a:rPr>
              <a:t>EXPLAIN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00316" y="4375785"/>
            <a:ext cx="4069080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5"/>
              </a:lnSpc>
            </a:pPr>
            <a:r>
              <a:rPr lang="en-US" sz="1829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A1 • Knowledge Copilot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96328" y="4887468"/>
            <a:ext cx="3877056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Liên kết insight với SOP và tri thức chuyên gia.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364212" y="3448812"/>
            <a:ext cx="4514088" cy="2511552"/>
            <a:chOff x="0" y="0"/>
            <a:chExt cx="6018784" cy="33487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18784" cy="3348736"/>
            </a:xfrm>
            <a:custGeom>
              <a:avLst/>
              <a:gdLst/>
              <a:ahLst/>
              <a:cxnLst/>
              <a:rect r="r" b="b" t="t" l="l"/>
              <a:pathLst>
                <a:path h="3348736" w="6018784">
                  <a:moveTo>
                    <a:pt x="0" y="558165"/>
                  </a:moveTo>
                  <a:cubicBezTo>
                    <a:pt x="0" y="249936"/>
                    <a:pt x="249936" y="0"/>
                    <a:pt x="558165" y="0"/>
                  </a:cubicBezTo>
                  <a:lnTo>
                    <a:pt x="5460619" y="0"/>
                  </a:lnTo>
                  <a:cubicBezTo>
                    <a:pt x="5768848" y="0"/>
                    <a:pt x="6018784" y="249936"/>
                    <a:pt x="6018784" y="558165"/>
                  </a:cubicBezTo>
                  <a:lnTo>
                    <a:pt x="6018784" y="2790571"/>
                  </a:lnTo>
                  <a:cubicBezTo>
                    <a:pt x="6018784" y="3098800"/>
                    <a:pt x="5768848" y="3348736"/>
                    <a:pt x="5460619" y="3348736"/>
                  </a:cubicBezTo>
                  <a:lnTo>
                    <a:pt x="558165" y="3348736"/>
                  </a:lnTo>
                  <a:cubicBezTo>
                    <a:pt x="249936" y="3348736"/>
                    <a:pt x="0" y="3098800"/>
                    <a:pt x="0" y="2790571"/>
                  </a:cubicBezTo>
                  <a:close/>
                </a:path>
              </a:pathLst>
            </a:custGeom>
            <a:solidFill>
              <a:srgbClr val="F3F7FB"/>
            </a:solidFill>
            <a:ln w="15240" cap="sq">
              <a:solidFill>
                <a:srgbClr val="DCE6EF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586716" y="3762756"/>
            <a:ext cx="4069080" cy="48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008F8A"/>
                </a:solidFill>
                <a:latin typeface="Aptos Bold"/>
                <a:ea typeface="Aptos Bold"/>
                <a:cs typeface="Aptos Bold"/>
                <a:sym typeface="Aptos Bold"/>
              </a:rPr>
              <a:t>VERIFY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86716" y="4375785"/>
            <a:ext cx="4069080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5"/>
              </a:lnSpc>
            </a:pPr>
            <a:r>
              <a:rPr lang="en-US" sz="1829" b="true">
                <a:solidFill>
                  <a:srgbClr val="153866"/>
                </a:solidFill>
                <a:latin typeface="Aptos Bold"/>
                <a:ea typeface="Aptos Bold"/>
                <a:cs typeface="Aptos Bold"/>
                <a:sym typeface="Aptos Bold"/>
              </a:rPr>
              <a:t>Human-in-the-loop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82728" y="4887468"/>
            <a:ext cx="3877056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F2D3D"/>
                </a:solidFill>
                <a:latin typeface="Aptos"/>
                <a:ea typeface="Aptos"/>
                <a:cs typeface="Aptos"/>
                <a:sym typeface="Aptos"/>
              </a:rPr>
              <a:t>Kỹ sư duyệt; so sánh trước–sau theo KPI.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99388" y="6603492"/>
            <a:ext cx="15898368" cy="1606296"/>
            <a:chOff x="0" y="0"/>
            <a:chExt cx="21197824" cy="21417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197824" cy="2141728"/>
            </a:xfrm>
            <a:custGeom>
              <a:avLst/>
              <a:gdLst/>
              <a:ahLst/>
              <a:cxnLst/>
              <a:rect r="r" b="b" t="t" l="l"/>
              <a:pathLst>
                <a:path h="2141728" w="21197824">
                  <a:moveTo>
                    <a:pt x="0" y="356997"/>
                  </a:moveTo>
                  <a:cubicBezTo>
                    <a:pt x="0" y="159766"/>
                    <a:pt x="159766" y="0"/>
                    <a:pt x="356997" y="0"/>
                  </a:cubicBezTo>
                  <a:lnTo>
                    <a:pt x="20840827" y="0"/>
                  </a:lnTo>
                  <a:cubicBezTo>
                    <a:pt x="21037931" y="0"/>
                    <a:pt x="21197824" y="159766"/>
                    <a:pt x="21197824" y="356997"/>
                  </a:cubicBezTo>
                  <a:lnTo>
                    <a:pt x="21197824" y="1784731"/>
                  </a:lnTo>
                  <a:cubicBezTo>
                    <a:pt x="21197824" y="1981835"/>
                    <a:pt x="21038058" y="2141728"/>
                    <a:pt x="20840827" y="2141728"/>
                  </a:cubicBezTo>
                  <a:lnTo>
                    <a:pt x="356997" y="2141728"/>
                  </a:lnTo>
                  <a:cubicBezTo>
                    <a:pt x="159766" y="2141728"/>
                    <a:pt x="0" y="1981962"/>
                    <a:pt x="0" y="1784731"/>
                  </a:cubicBezTo>
                  <a:close/>
                </a:path>
              </a:pathLst>
            </a:custGeom>
            <a:solidFill>
              <a:srgbClr val="153866"/>
            </a:solidFill>
            <a:ln w="15240" cap="sq">
              <a:solidFill>
                <a:srgbClr val="153866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577340" y="6885432"/>
            <a:ext cx="15142464" cy="987552"/>
            <a:chOff x="0" y="0"/>
            <a:chExt cx="20189952" cy="13167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189952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189952">
                  <a:moveTo>
                    <a:pt x="0" y="0"/>
                  </a:moveTo>
                  <a:lnTo>
                    <a:pt x="20189952" y="0"/>
                  </a:lnTo>
                  <a:lnTo>
                    <a:pt x="20189952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0189952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Nếu được chọn, đội sẽ xây dựng PoC 4 tuần giúp DENSO biến video tại một trạm thành báo cáo Kaizen có số liệu, nguồn tham chiếu và KPI có thể xác minh.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232404" y="8535924"/>
            <a:ext cx="11846052" cy="37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true">
                <a:solidFill>
                  <a:srgbClr val="586777"/>
                </a:solidFill>
                <a:latin typeface="Aptos Bold"/>
                <a:ea typeface="Aptos Bold"/>
                <a:cs typeface="Aptos Bold"/>
                <a:sym typeface="Aptos Bold"/>
              </a:rPr>
              <a:t>Bắt đầu nhỏ • Đo đúng • Có bằng chứng • Chỉ mở rộng khi được xác minh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08206" y="95250"/>
            <a:ext cx="130968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0000">
                    <a:alpha val="49804"/>
                  </a:srgbClr>
                </a:solidFill>
                <a:latin typeface="Aptos"/>
                <a:ea typeface="Aptos"/>
                <a:cs typeface="Aptos"/>
                <a:sym typeface="Aptos"/>
              </a:rPr>
              <a:t>CONFIDENTIAL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99094" y="488728"/>
            <a:ext cx="2857500" cy="1143000"/>
            <a:chOff x="0" y="0"/>
            <a:chExt cx="3810000" cy="1524000"/>
          </a:xfrm>
        </p:grpSpPr>
        <p:sp>
          <p:nvSpPr>
            <p:cNvPr name="Freeform 5" id="5" descr="A blue and green text with a black background  Description automatically generated"/>
            <p:cNvSpPr/>
            <p:nvPr/>
          </p:nvSpPr>
          <p:spPr>
            <a:xfrm flipH="false" flipV="false" rot="0">
              <a:off x="0" y="0"/>
              <a:ext cx="381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37844" y="7850124"/>
            <a:ext cx="8554212" cy="70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AI KAIZEN COPILOT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8992" y="8590788"/>
            <a:ext cx="985723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E7F3FF"/>
                </a:solidFill>
                <a:latin typeface="Aptos Bold"/>
                <a:ea typeface="Aptos Bold"/>
                <a:cs typeface="Aptos Bold"/>
                <a:sym typeface="Aptos Bold"/>
              </a:rPr>
              <a:t>MEASURE  •  EXPLAIN  •  VERIFY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8992" y="9153144"/>
            <a:ext cx="9857232" cy="333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5E6FF"/>
                </a:solidFill>
                <a:latin typeface="Aptos"/>
                <a:ea typeface="Aptos"/>
                <a:cs typeface="Aptos"/>
                <a:sym typeface="Aptos"/>
              </a:rPr>
              <a:t>DENSO Factory Hacks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DAHXtHm8cCo</dc:identifier>
  <dcterms:modified xsi:type="dcterms:W3CDTF">2011-08-01T06:04:30Z</dcterms:modified>
  <cp:revision>1</cp:revision>
  <dc:title>AI Kaizen Copilot — DENSO Factory Hacks 2026</dc:title>
</cp:coreProperties>
</file>