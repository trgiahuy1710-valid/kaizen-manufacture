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65" r:id="rId24"/>
    <p:sldId id="266" r:id="rId25"/>
    <p:sldId id="267" r:id="rId26"/>
    <p:sldId id="268" r:id="rId27"/>
    <p:sldId id="269" r:id="rId28"/>
    <p:sldId id="270" r:id="rId29"/>
    <p:sldId id="271" r:id="rId30"/>
    <p:sldId id="272" r:id="rId31"/>
    <p:sldId id="273" r:id="rId32"/>
    <p:sldId id="274" r:id="rId33"/>
    <p:sldId id="275" r:id="rId34"/>
    <p:sldId id="276" r:id="rId35"/>
    <p:sldId id="277" r:id="rId36"/>
    <p:sldId id="278" r:id="rId37"/>
    <p:sldId id="279" r:id="rId38"/>
  </p:sldIdLst>
  <p:sldSz cx="18288000" cy="10287000"/>
  <p:notesSz cx="6858000" cy="9144000"/>
  <p:embeddedFontLst>
    <p:embeddedFont>
      <p:font typeface="Aptos" charset="1" panose="020B0004020202020204"/>
      <p:regular r:id="rId15"/>
    </p:embeddedFont>
    <p:embeddedFont>
      <p:font typeface="Aptos Bold" charset="1" panose="020B0004020202020204"/>
      <p:regular r:id="rId16"/>
    </p:embeddedFont>
    <p:embeddedFont>
      <p:font typeface="Segoe UI" charset="1" panose="020B0502040204020203"/>
      <p:regular r:id="rId20"/>
    </p:embeddedFont>
    <p:embeddedFont>
      <p:font typeface="Arial" charset="1" panose="020B0604020202020204"/>
      <p:regular r:id="rId21"/>
    </p:embeddedFont>
    <p:embeddedFont>
      <p:font typeface="Calibri (MS) Bold" charset="1" panose="020F0702030404030204"/>
      <p:regular r:id="rId22"/>
    </p:embeddedFont>
    <p:embeddedFont>
      <p:font typeface="Times New Roman Bold" charset="1" panose="020208030705050203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15" Type="http://schemas.openxmlformats.org/officeDocument/2006/relationships/font" Target="fonts/font15.fntdata"/><Relationship Id="rId16" Type="http://schemas.openxmlformats.org/officeDocument/2006/relationships/font" Target="fonts/font16.fntdata"/><Relationship Id="rId17" Type="http://schemas.openxmlformats.org/officeDocument/2006/relationships/notesMaster" Target="notesMasters/notesMaster1.xml"/><Relationship Id="rId18" Type="http://schemas.openxmlformats.org/officeDocument/2006/relationships/theme" Target="theme/theme2.xml"/><Relationship Id="rId19" Type="http://schemas.openxmlformats.org/officeDocument/2006/relationships/notesSlide" Target="notesSlides/notesSlide1.xml"/><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[Sources]</a:t>
            </a:r>
          </a:p>
          <a:p>
            <a:r>
              <a:rPr lang="en-US"/>
              <a:t>- Existing template structure from Denso Hack_Presentation Template.pptx provided by user.</a:t>
            </a:r>
          </a:p>
          <a:p>
            <a:r>
              <a:rPr lang="en-US"/>
              <a:t>- Visual on this slide was generated with Microsoft Copilot.</a:t>
            </a:r>
          </a:p>
          <a:p>
            <a:r>
              <a:rPr lang="en-US"/>
              <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 mở đầu]</a:t>
            </a:r>
          </a:p>
          <a:p>
            <a:r>
              <a:t>Kính chào ban giám khảo. Chúng em là đội AI Kaizen Copilot, gồm Trịnh Gia Huy (nhóm trưởng), Vũ Văn Mạnh, Nguyễn Trần Quang và Trịnh Hoài Nam.</a:t>
            </a:r>
          </a:p>
          <a:p>
            <a:r>
              <a:t>Đề tài của đội là "Motion Analyzer": biến video thao tác lắp ráp thành các chỉ số Lean Muda – Mura – Muri và đề xuất Kaizen có kiểm chứng.</a:t>
            </a:r>
          </a:p>
          <a:p>
            <a:r>
              <a:t>Đề tài thuộc danh mục A2: tích lũy know-how của người thợ giỏi thành dữ liệu để AI học và để đào tạo người mới.</a:t>
            </a:r>
          </a:p>
          <a:p>
            <a:r>
              <a:t>Trong khoảng 15 phút, chúng em sẽ trình bày bài toán, giải pháp, kết quả đo thật trên dataset HA4M và kế hoạch pilot tại DENSO.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tóm tắt cho giám khảo]</a:t>
            </a:r>
          </a:p>
          <a:p>
            <a:r>
              <a:t>Slide này trả lời nhanh 6 câu hỏi của ban tổ chức.</a:t>
            </a:r>
          </a:p>
          <a:p>
            <a:r>
              <a:t>Điểm mới: chúng em đo cả 3M chứ không chỉ bấm giờ, và tách bạch "con số do thuật toán tính – LLM chỉ giải thích", có validator tự động chặn số liệu hay trích dẫn bịa.</a:t>
            </a:r>
          </a:p>
          <a:p>
            <a:r>
              <a:t>Vấn đề: bấm giờ thủ công tốn 2 đến 4 giờ một trạm và know-how của người thợ giỏi không được lưu lại.</a:t>
            </a:r>
          </a:p>
          <a:p>
            <a:r>
              <a:t>Kết quả đã đo: sai số cycle time 0,6 giây trên chu kỳ 77,9 giây, F1 phân đoạn bước 0,75, và cổ tay phải khớp cảm biến Azure Kinect ở 95% khung hình.</a:t>
            </a:r>
          </a:p>
          <a:p>
            <a:r>
              <a:t>Thông điệp chính: nếu được chọn, đội sẽ pilot 4 tuần tại một trạm, đo trước và sau bằng cùng một phương pháp.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 giới thiệu đội]</a:t>
            </a:r>
          </a:p>
          <a:p>
            <a:r>
              <a:t>Đội gồm 4 thành viên: Trịnh Gia Huy là nhóm trưởng, cùng Vũ Văn Mạnh, Nguyễn Trần Quang và Trịnh Hoài Nam.</a:t>
            </a:r>
          </a:p>
          <a:p>
            <a:r>
              <a:t>Trong giai đoạn hackathon, đội đã xây dựng đủ 4 mảng của một hệ thống chạy thật:</a:t>
            </a:r>
          </a:p>
          <a:p>
            <a:r>
              <a:t>thứ nhất là thị giác máy tính để trích khung xương và sự kiện thao tác;</a:t>
            </a:r>
          </a:p>
          <a:p>
            <a:r>
              <a:t>thứ hai là lớp chỉ số Kaizen – phân đoạn bước SOP và tính Muda, Mura, Muri;</a:t>
            </a:r>
          </a:p>
          <a:p>
            <a:r>
              <a:t>thứ ba là Kaizen Copilot dùng LLM có kiểm chứng;</a:t>
            </a:r>
          </a:p>
          <a:p>
            <a:r>
              <a:t>và cuối cùng là dashboard cùng bộ kiểm thử tự động 30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bài toán]</a:t>
            </a:r>
          </a:p>
          <a:p>
            <a:r>
              <a:t>Ở dây chuyền lắp ráp, cái làm nên năng suất của người thợ giỏi là thứ tự động tác, nhịp làm việc và cách phối hợp hai tay. Đây là tri thức ngầm: không nằm trong tài liệu, chỉ truyền qua kèm cặp, và mất khi người thợ nghỉ.</a:t>
            </a:r>
          </a:p>
          <a:p>
            <a:r>
              <a:t>Muốn đo thì hiện nay kỹ sư IE phải bấm giờ thủ công, 2 đến 4 giờ cho một trạm, mỗi người đo một kiểu và chỉ lấy được vài chu kỳ.</a:t>
            </a:r>
          </a:p>
          <a:p>
            <a:r>
              <a:t>Hệ quả là ba loại lãng phí theo ngôn ngữ Lean – Muda, Mura, Muri – không được theo dõi liên tục, và đề xuất Kaizen khó chứng minh bằng số liệu trước sau.</a:t>
            </a:r>
          </a:p>
          <a:p>
            <a:r>
              <a:t>Hướng giải của đội: dùng camera đo mọi chu kỳ, dùng LLM giải thích theo tri thức Kaizen nhưng có kiểm chứng, và kỹ sư là người quyết định.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giải pháp]</a:t>
            </a:r>
          </a:p>
          <a:p>
            <a:r>
              <a:t>Giải pháp là một luồng khép kín bốn khâu.</a:t>
            </a:r>
          </a:p>
          <a:p>
            <a:r>
              <a:t>OBSERVE: camera thường quay trạm, MediaPipe trích khung xương ngay trên CPU, chỉ lưu tọa độ khớp nên không cần giữ khuôn mặt.</a:t>
            </a:r>
          </a:p>
          <a:p>
            <a:r>
              <a:t>MEASURE: hệ thống tách 12 bước SOP dựa trên vùng khay linh kiện và quy tắc, rồi tính cycle time, tỷ lệ giá trị gia tăng, thời gian chờ, số lần lấy linh kiện, độ biến động và góc cổ tay.</a:t>
            </a:r>
          </a:p>
          <a:p>
            <a:r>
              <a:t>EXPLAIN: 7 quy tắc tìm vấn đề, xếp hạng theo ảnh hưởng; LLM giải thích có trích dẫn knowledge base và SOP.</a:t>
            </a:r>
          </a:p>
          <a:p>
            <a:r>
              <a:t>VERIFY: kỹ sư xem dashboard và video bằng chứng, duyệt hay bác bỏ, rồi đo lại bằng đúng phương pháp đó.</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kiến trúc]</a:t>
            </a:r>
          </a:p>
          <a:p>
            <a:r>
              <a:t>Về kỹ thuật, pipeline gồm 9 bước, mỗi bước là một script độc lập đọc file và ghi file, nên chạy lại hay thay một khâu rất dễ.</a:t>
            </a:r>
          </a:p>
          <a:p>
            <a:r>
              <a:t>Năm bước đầu là thị giác máy tính: chốt cấu trúc dữ liệu thật, trích keypoint, lọc nhiễu, sinh sự kiện thao tác và tách bước.</a:t>
            </a:r>
          </a:p>
          <a:p>
            <a:r>
              <a:t>Bước 5 và 6 là lớp Kaizen: tính chỉ số 3M và chạy quy tắc phát hiện. Bước 7 là Copilot với LLM, bước 8 sinh báo cáo.</a:t>
            </a:r>
          </a:p>
          <a:p>
            <a:r>
              <a:t>Có ba nguyên tắc quan trọng: thứ nhất, mọi con số do code tính, LLM chỉ giải thích và bị validator kiểm tra.</a:t>
            </a:r>
          </a:p>
          <a:p>
            <a:r>
              <a:t>Thứ hai, chế độ oracle dùng nhãn chuyên gia để kiểm tra nửa sau độc lập với sai số CV.</a:t>
            </a:r>
          </a:p>
          <a:p>
            <a:r>
              <a:t>Thứ ba, mỗi lần chạy là một run có manifest, giúp tái lập và so sánh trước – sau.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dữ liệu]</a:t>
            </a:r>
          </a:p>
          <a:p>
            <a:r>
              <a:t>Để phát triển và đánh giá khách quan, đội dùng HA4M, một dataset công khai: 41 người lắp bộ bánh răng hành tinh gồm 12 bước, có nhãn chuyên gia theo từng khung hình. Trong slide này là hai chu kỳ lắp của người U001.</a:t>
            </a:r>
          </a:p>
          <a:p>
            <a:r>
              <a:t>Hình bên trái là một khung hình từ video demo do hệ thống sinh ra: vùng khay được tô theo màu bước, vệt cổ tay trong khoảng 1 giây và trạng thái hai tay.</a:t>
            </a:r>
          </a:p>
          <a:p>
            <a:r>
              <a:t>Độ tin cậy keypoint: hơn 95% khung hình phát hiện được người. So với skeleton của cảm biến Azure Kinect, cổ tay phải lệch trung vị 24,5 pixel và 95% khung hình dưới 50 pixel.</a:t>
            </a:r>
          </a:p>
          <a:p>
            <a:r>
              <a:t>Tay trái hay bị thân che nên kém tin cậy hơn; hệ thống gắn cờ điều này thay vì che giấu.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15 — kết quả phân đoạn]</a:t>
            </a:r>
          </a:p>
          <a:p>
            <a:r>
              <a:t>Đây là kết quả quan trọng nhất về độ chính xác. Mỗi biểu đồ có hàng trên là bước theo nhãn chuyên gia, hàng dưới là bước do hệ thống tự tách, cùng hoạt động của hai tay.</a:t>
            </a:r>
          </a:p>
          <a:p>
            <a:r>
              <a:t>Với chu kỳ V001, sai số cycle time chỉ 0,6 giây trên 77,9 giây, tức khoảng 0,8%; F1 phân đoạn bước 0,75; sai số thời lượng mỗi bước trung bình 0,62 giây.</a:t>
            </a:r>
          </a:p>
          <a:p>
            <a:r>
              <a:t>Chu kỳ V002 khó hơn: F1 0,71, sai số cycle time 2,27 giây, vì hệ thống chưa bắt được hai lần lấy linh kiện.</a:t>
            </a:r>
          </a:p>
          <a:p>
            <a:r>
              <a:t>Đây mới là baseline dựa trên quy tắc, chưa huấn luyện model nào. Điểm quan trọng là hệ thống trung thực về giới hạn: phần không chắc chắn được tô xám và báo thiếu bước, không tự đoán.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15 — 3M]</a:t>
            </a:r>
          </a:p>
          <a:p>
            <a:r>
              <a:t>Từ các bước đã tách, hệ thống tính đủ ba chiều Lean.</a:t>
            </a:r>
          </a:p>
          <a:p>
            <a:r>
              <a:t>Muda – lãng phí: biểu đồ Yamazumi bên trái chồng thời lượng 12 bước cho mỗi chu kỳ; tỷ lệ giá trị gia tăng theo nhãn là 82 và 85%; mỗi chu kỳ có 15 và 14 lần lấy linh kiện.</a:t>
            </a:r>
          </a:p>
          <a:p>
            <a:r>
              <a:t>Mura – biến động: cùng một người nhưng hai lần lắp chênh nhau gần 6,5 giây; bước đặt nắp và bước siết vít biến động nhiều nhất – đó là nơi nên chuẩn hóa thao tác trước.</a:t>
            </a:r>
          </a:p>
          <a:p>
            <a:r>
              <a:t>Muri – quá tải: hệ thống sàng lọc góc cổ tay 2D; tay phải lệch quá 30 độ khoảng 12 đến 15% thời gian. Với tay trái, độ phủ chỉ 27% nên hệ thống ghi rõ là chỉ mang tính sàng lọc.</a:t>
            </a:r>
          </a:p>
          <a:p>
            <a:r>
              <a:t>Khi nạp thêm dữ liệu từ 3 chu kỳ trở lên, quy tắc phát hiện bước chậm bất thường sẽ tự kích hoạt.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15 — findings &amp; Copilot]</a:t>
            </a:r>
          </a:p>
          <a:p>
            <a:r>
              <a:t>Từ các chỉ số, 7 quy tắc tìm ra vấn đề và xếp hạng theo ảnh hưởng nhân với độ tin cậy.</a:t>
            </a:r>
          </a:p>
          <a:p>
            <a:r>
              <a:t>Finding đứng đầu là F01: ở chu kỳ V002, người thợ lấy linh kiện ở khay vít và lục giác 4 lần trong khi SOP chỉ cần 3. Ảnh bên trái là bằng chứng tự động: đúng thời điểm 62,6 giây, bước 11, tay phải đang ở khay vít.</a:t>
            </a:r>
          </a:p>
          <a:p>
            <a:r>
              <a:t>Phần Copilot: LLM nhận finding và knowledge base Kaizen, viết quan sát, giả thuyết và đề xuất có trích dẫn. Đây là câu trả lời thật của Gemini 3.8 Flash, trích dẫn KB-13 về tư thế cổ tay và KB-01 về 3M.</a:t>
            </a:r>
          </a:p>
          <a:p>
            <a:r>
              <a:t>Điểm mấu chốt là validator: mọi con số LLM viết phải có trong dữ liệu, mọi trích dẫn phải tồn tại. Trong thử nghiệm, validator đã chặn số bịa và yêu cầu LLM sửa – đúng nỗi lo "AI bịa" trong môi trường nhà máy.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demo dashboard; có thể chuyển sang demo trực tiếp]</a:t>
            </a:r>
          </a:p>
          <a:p>
            <a:r>
              <a:t>Toàn bộ kết quả được đưa lên dashboard Streamlit gồm 8 tab, chỉ đọc kết quả của run nên không bao giờ tự tính lại hay sai lệch con số.</a:t>
            </a:r>
          </a:p>
          <a:p>
            <a:r>
              <a:t>Bên trái là tab So sánh video: hai lần lắp V001 và V002 phát song song, bấm "Nhảy tới bước" thì cả hai video cùng về đầu một bước SOP để kỹ sư so cách thao tác.</a:t>
            </a:r>
          </a:p>
          <a:p>
            <a:r>
              <a:t>Bên phải là timeline: hàng bước theo nhãn và hàng bước hệ thống dự đoán xếp chồng nhau để thấy ngay chỗ lệch.</a:t>
            </a:r>
          </a:p>
          <a:p>
            <a:r>
              <a:t>Ngoài ra còn các tab Muda, Mura và Muri, Findings có trích dẫn bấm xem nguyên văn, so sánh run và nút chạy pipeline ngay từ giao diện.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hiệu quả]</a:t>
            </a:r>
          </a:p>
          <a:p>
            <a:r>
              <a:t>Tóm lại các con số đã đo được – tất cả đo thật, không phải mục tiêu: sai số cycle time 0,6 giây, F1 phân đoạn bước 0,75, 95% khung hình cổ tay khớp cảm biến công nghiệp dưới 50 pixel, và phân tích hai chu kỳ chỉ mất khoảng 9 giây sau khi có keypoint.</a:t>
            </a:r>
          </a:p>
          <a:p>
            <a:r>
              <a:t>Về kinh doanh: chi phí phần cứng gần như bằng 0 vì chỉ cần webcam và laptop; đo được 100% chu kỳ thay vì vài mẫu; và golden cycle của người thợ giỏi được lưu lại để đào tạo người mới.</a:t>
            </a:r>
          </a:p>
          <a:p>
            <a:r>
              <a:t>Chúng em nói rõ: hiệu quả vận hành tại DENSO như thời gian time study dưới 30 phút là ước tính và cần pilot để xác nhận, theo đúng ba bước xác minh bên phải.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phút — kế hoạch]</a:t>
            </a:r>
          </a:p>
          <a:p>
            <a:r>
              <a:t>Giai đoạn hackathon đã xong: pipeline chạy end-to-end, có đánh giá độ chính xác, validator LLM và dashboard.</a:t>
            </a:r>
          </a:p>
          <a:p>
            <a:r>
              <a:t>Bốn tuần đầu: pilot tại một trạm thật của DENSO – hiệu chỉnh camera, vẽ vùng khay theo layout thật, đổi đơn vị pixel sang centimet và đối chiếu với kỹ sư IE.</a:t>
            </a:r>
          </a:p>
          <a:p>
            <a:r>
              <a:t>Tháng 2 đến 3: mở rộng 3 đến 5 trạm, xây thư viện golden cycle, nạp SOP nội bộ và đo tỷ lệ đề xuất được kỹ sư chấp nhận.</a:t>
            </a:r>
          </a:p>
          <a:p>
            <a:r>
              <a:t>Tháng 4 đến 6: dùng dữ liệu tích lũy để huấn luyện model phân đoạn học sâu, hỗ trợ nhiều camera và đưa vào đào tạo công nhân mới.</a:t>
            </a:r>
          </a:p>
          <a:p>
            <a:r>
              <a:t>Về quyền riêng tư, hệ thống chỉ cần lưu khung xương, không cần lưu khuôn mặt.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giây — kết luận]</a:t>
            </a:r>
          </a:p>
          <a:p>
            <a:r>
              <a:t>Tóm lại, AI Kaizen Copilot không chỉ bấm giờ: nó biến mỗi thao tác thành tri thức đo được.</a:t>
            </a:r>
          </a:p>
          <a:p>
            <a:r>
              <a:t>MEASURE: đo bước SOP, cycle time và 3M từ camera thường.</a:t>
            </a:r>
          </a:p>
          <a:p>
            <a:r>
              <a:t>EXPLAIN: Copilot giải thích có trích dẫn và không được phép tạo số liệu.</a:t>
            </a:r>
          </a:p>
          <a:p>
            <a:r>
              <a:t>VERIFY: kỹ sư là người quyết định, và cải tiến được đo lại bằng đúng phương pháp đó.</a:t>
            </a:r>
          </a:p>
          <a:p>
            <a:r>
              <a:t>Đề xuất của đội: pilot 4 tuần tại một trạm DENSO.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[Hỏi &amp; đáp]</a:t>
            </a:r>
          </a:p>
          <a:p>
            <a:r>
              <a:t>Cảm ơn ban giám khảo đã lắng nghe. Đội sẵn sàng demo trực tiếp dashboard và trả lời câu hỏi.</a:t>
            </a:r>
          </a:p>
          <a:p>
            <a:r>
              <a:t>Câu hỏi có thể gặp: (1) Khác gì bấm giờ bằng video thường? → đo tự động 100% chu kỳ, đủ 3M, có bằng chứng và đánh giá với nhãn chuyên gia.</a:t>
            </a:r>
          </a:p>
          <a:p>
            <a:r>
              <a:t>(2) LLM có bịa không? → mọi số do code tính; validator chặn số/trích dẫn không có thật, có retry và báo tỷ lệ đạt.</a:t>
            </a:r>
          </a:p>
          <a:p>
            <a:r>
              <a:t>(3) Áp dụng trạm khác thế nào? → chỉ cần vẽ zone và khai báo SOP cho trạm; mỗi lần chạy là một run để so sánh.</a:t>
            </a:r>
          </a:p>
          <a:p>
            <a:r>
              <a:t>(4) Quyền riêng tư? → chỉ cần lưu khung xương; mục tiêu cải tiến quy trình, không giám sát cá nhân.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jpeg"/><Relationship Id="rId6"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image" Target="../media/image10.png"/><Relationship Id="rId6"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image" Target="../media/image13.png"/><Relationship Id="rId6"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image" Target="../media/image14.png"/><Relationship Id="rId6"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notesSlide" Target="../notesSlides/notes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6.jpeg"/><Relationship Id="rId5"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jpeg"/><Relationship Id="rId4"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6.jpeg"/><Relationship Id="rId4"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6.xml"/></Relationships>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3" id="3"/>
          <p:cNvGrpSpPr/>
          <p:nvPr/>
        </p:nvGrpSpPr>
        <p:grpSpPr>
          <a:xfrm rot="0">
            <a:off x="0" y="8980713"/>
            <a:ext cx="18288000" cy="1306287"/>
            <a:chOff x="0" y="0"/>
            <a:chExt cx="24384000" cy="1741716"/>
          </a:xfrm>
        </p:grpSpPr>
        <p:sp>
          <p:nvSpPr>
            <p:cNvPr name="Freeform 4" id="4"/>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5" id="5"/>
          <p:cNvGrpSpPr/>
          <p:nvPr/>
        </p:nvGrpSpPr>
        <p:grpSpPr>
          <a:xfrm rot="0">
            <a:off x="0" y="0"/>
            <a:ext cx="18287543" cy="1303020"/>
            <a:chOff x="0" y="0"/>
            <a:chExt cx="24383390" cy="1737360"/>
          </a:xfrm>
        </p:grpSpPr>
        <p:sp>
          <p:nvSpPr>
            <p:cNvPr name="Freeform 6" id="6" descr="/mnt/data/ff1500126d.png"/>
            <p:cNvSpPr/>
            <p:nvPr/>
          </p:nvSpPr>
          <p:spPr>
            <a:xfrm flipH="false" flipV="false" rot="0">
              <a:off x="0" y="0"/>
              <a:ext cx="24383364" cy="1737360"/>
            </a:xfrm>
            <a:custGeom>
              <a:avLst/>
              <a:gdLst/>
              <a:ahLst/>
              <a:cxnLst/>
              <a:rect r="r" b="b" t="t" l="l"/>
              <a:pathLst>
                <a:path h="1737360" w="24383364">
                  <a:moveTo>
                    <a:pt x="0" y="0"/>
                  </a:moveTo>
                  <a:lnTo>
                    <a:pt x="24383364" y="0"/>
                  </a:lnTo>
                  <a:lnTo>
                    <a:pt x="24383364" y="1737360"/>
                  </a:lnTo>
                  <a:lnTo>
                    <a:pt x="0" y="1737360"/>
                  </a:lnTo>
                  <a:lnTo>
                    <a:pt x="0" y="0"/>
                  </a:lnTo>
                  <a:close/>
                </a:path>
              </a:pathLst>
            </a:custGeom>
            <a:blipFill>
              <a:blip r:embed="rId4"/>
              <a:stretch>
                <a:fillRect l="0" t="-417824" r="0" b="-417824"/>
              </a:stretch>
            </a:blipFill>
          </p:spPr>
        </p:sp>
      </p:grpSp>
      <p:grpSp>
        <p:nvGrpSpPr>
          <p:cNvPr name="Group 7" id="7"/>
          <p:cNvGrpSpPr/>
          <p:nvPr/>
        </p:nvGrpSpPr>
        <p:grpSpPr>
          <a:xfrm rot="0">
            <a:off x="438912" y="315468"/>
            <a:ext cx="3634740" cy="905256"/>
            <a:chOff x="0" y="0"/>
            <a:chExt cx="4846320" cy="1207008"/>
          </a:xfrm>
        </p:grpSpPr>
        <p:sp>
          <p:nvSpPr>
            <p:cNvPr name="Freeform 8" id="8" descr="/mnt/data/denso_fpt_logo_transparent.png"/>
            <p:cNvSpPr/>
            <p:nvPr/>
          </p:nvSpPr>
          <p:spPr>
            <a:xfrm flipH="false" flipV="false" rot="0">
              <a:off x="0" y="0"/>
              <a:ext cx="4846320" cy="1207008"/>
            </a:xfrm>
            <a:custGeom>
              <a:avLst/>
              <a:gdLst/>
              <a:ahLst/>
              <a:cxnLst/>
              <a:rect r="r" b="b" t="t" l="l"/>
              <a:pathLst>
                <a:path h="1207008" w="4846320">
                  <a:moveTo>
                    <a:pt x="0" y="0"/>
                  </a:moveTo>
                  <a:lnTo>
                    <a:pt x="4846320" y="0"/>
                  </a:lnTo>
                  <a:lnTo>
                    <a:pt x="4846320" y="1207008"/>
                  </a:lnTo>
                  <a:lnTo>
                    <a:pt x="0" y="1207008"/>
                  </a:lnTo>
                  <a:lnTo>
                    <a:pt x="0" y="0"/>
                  </a:lnTo>
                  <a:close/>
                </a:path>
              </a:pathLst>
            </a:custGeom>
            <a:blipFill>
              <a:blip r:embed="rId5"/>
              <a:stretch>
                <a:fillRect l="0" t="-2220" r="0" b="-2220"/>
              </a:stretch>
            </a:blipFill>
          </p:spPr>
        </p:sp>
      </p:grpSp>
      <p:grpSp>
        <p:nvGrpSpPr>
          <p:cNvPr name="Group 9" id="9"/>
          <p:cNvGrpSpPr/>
          <p:nvPr/>
        </p:nvGrpSpPr>
        <p:grpSpPr>
          <a:xfrm rot="0">
            <a:off x="4457700" y="342900"/>
            <a:ext cx="9464040" cy="548640"/>
            <a:chOff x="0" y="0"/>
            <a:chExt cx="12618720" cy="731520"/>
          </a:xfrm>
        </p:grpSpPr>
        <p:sp>
          <p:nvSpPr>
            <p:cNvPr name="Freeform 10" id="10"/>
            <p:cNvSpPr/>
            <p:nvPr/>
          </p:nvSpPr>
          <p:spPr>
            <a:xfrm flipH="false" flipV="false" rot="0">
              <a:off x="0" y="0"/>
              <a:ext cx="12618720" cy="731520"/>
            </a:xfrm>
            <a:custGeom>
              <a:avLst/>
              <a:gdLst/>
              <a:ahLst/>
              <a:cxnLst/>
              <a:rect r="r" b="b" t="t" l="l"/>
              <a:pathLst>
                <a:path h="731520" w="12618720">
                  <a:moveTo>
                    <a:pt x="0" y="0"/>
                  </a:moveTo>
                  <a:lnTo>
                    <a:pt x="12618720" y="0"/>
                  </a:lnTo>
                  <a:lnTo>
                    <a:pt x="12618720" y="731520"/>
                  </a:lnTo>
                  <a:lnTo>
                    <a:pt x="0" y="731520"/>
                  </a:lnTo>
                  <a:close/>
                </a:path>
              </a:pathLst>
            </a:custGeom>
            <a:blipFill>
              <a:blip r:embed="rId6">
                <a:alphaModFix amt="0"/>
              </a:blip>
              <a:stretch>
                <a:fillRect l="0" t="-286116" r="0" b="-286116"/>
              </a:stretch>
            </a:blipFill>
          </p:spPr>
        </p:sp>
        <p:sp>
          <p:nvSpPr>
            <p:cNvPr name="TextBox 11" id="11"/>
            <p:cNvSpPr txBox="true"/>
            <p:nvPr/>
          </p:nvSpPr>
          <p:spPr>
            <a:xfrm>
              <a:off x="0" y="0"/>
              <a:ext cx="12618720" cy="731520"/>
            </a:xfrm>
            <a:prstGeom prst="rect">
              <a:avLst/>
            </a:prstGeom>
          </p:spPr>
          <p:txBody>
            <a:bodyPr anchor="ctr" rtlCol="false" tIns="0" lIns="0" bIns="0" rIns="0"/>
            <a:lstStyle/>
            <a:p>
              <a:pPr algn="ctr">
                <a:lnSpc>
                  <a:spcPts val="3240"/>
                </a:lnSpc>
              </a:pPr>
              <a:r>
                <a:rPr lang="en-US" sz="2700" b="true">
                  <a:solidFill>
                    <a:srgbClr val="FFFFFF"/>
                  </a:solidFill>
                  <a:latin typeface="Aptos Bold"/>
                  <a:ea typeface="Aptos Bold"/>
                  <a:cs typeface="Aptos Bold"/>
                  <a:sym typeface="Aptos Bold"/>
                </a:rPr>
                <a:t>TÓM TẮT ĐỀ XUẤT</a:t>
              </a:r>
            </a:p>
          </p:txBody>
        </p:sp>
      </p:grpSp>
      <p:grpSp>
        <p:nvGrpSpPr>
          <p:cNvPr name="Group 12" id="12"/>
          <p:cNvGrpSpPr/>
          <p:nvPr/>
        </p:nvGrpSpPr>
        <p:grpSpPr>
          <a:xfrm rot="0">
            <a:off x="748846" y="9036996"/>
            <a:ext cx="15019020" cy="342900"/>
            <a:chOff x="0" y="0"/>
            <a:chExt cx="20025360" cy="457200"/>
          </a:xfrm>
        </p:grpSpPr>
        <p:sp>
          <p:nvSpPr>
            <p:cNvPr name="Freeform 13" id="13"/>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6">
                <a:alphaModFix amt="0"/>
              </a:blip>
              <a:stretch>
                <a:fillRect l="0" t="-803444" r="0" b="-803444"/>
              </a:stretch>
            </a:blipFill>
          </p:spPr>
        </p:sp>
        <p:sp>
          <p:nvSpPr>
            <p:cNvPr name="TextBox 14" id="14"/>
            <p:cNvSpPr txBox="true"/>
            <p:nvPr/>
          </p:nvSpPr>
          <p:spPr>
            <a:xfrm>
              <a:off x="0" y="0"/>
              <a:ext cx="20025360" cy="457200"/>
            </a:xfrm>
            <a:prstGeom prst="rect">
              <a:avLst/>
            </a:prstGeom>
          </p:spPr>
          <p:txBody>
            <a:bodyPr anchor="ctr" rtlCol="false" tIns="0" lIns="0" bIns="0" rIns="0"/>
            <a:lstStyle/>
            <a:p>
              <a:pPr algn="l">
                <a:lnSpc>
                  <a:spcPts val="2160"/>
                </a:lnSpc>
              </a:pPr>
              <a:r>
                <a:rPr lang="en-US" sz="1800" b="true">
                  <a:solidFill>
                    <a:srgbClr val="FFFFFF"/>
                  </a:solidFill>
                  <a:latin typeface="Aptos Bold"/>
                  <a:ea typeface="Aptos Bold"/>
                  <a:cs typeface="Aptos Bold"/>
                  <a:sym typeface="Aptos Bold"/>
                </a:rPr>
                <a:t>FINAL PITCH MESSAGE</a:t>
              </a:r>
            </a:p>
          </p:txBody>
        </p:sp>
      </p:grpSp>
      <p:grpSp>
        <p:nvGrpSpPr>
          <p:cNvPr name="Group 15" id="15"/>
          <p:cNvGrpSpPr/>
          <p:nvPr/>
        </p:nvGrpSpPr>
        <p:grpSpPr>
          <a:xfrm rot="0">
            <a:off x="748846" y="9517056"/>
            <a:ext cx="15019020" cy="164592"/>
            <a:chOff x="0" y="0"/>
            <a:chExt cx="20025360" cy="219456"/>
          </a:xfrm>
        </p:grpSpPr>
        <p:sp>
          <p:nvSpPr>
            <p:cNvPr name="Freeform 16" id="16"/>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6">
                <a:alphaModFix amt="0"/>
              </a:blip>
              <a:stretch>
                <a:fillRect l="0" t="-1728009" r="0" b="-1728009"/>
              </a:stretch>
            </a:blipFill>
          </p:spPr>
        </p:sp>
        <p:sp>
          <p:nvSpPr>
            <p:cNvPr name="TextBox 17" id="17"/>
            <p:cNvSpPr txBox="true"/>
            <p:nvPr/>
          </p:nvSpPr>
          <p:spPr>
            <a:xfrm>
              <a:off x="0" y="0"/>
              <a:ext cx="20025360" cy="219456"/>
            </a:xfrm>
            <a:prstGeom prst="rect">
              <a:avLst/>
            </a:prstGeom>
          </p:spPr>
          <p:txBody>
            <a:bodyPr anchor="ctr" rtlCol="false" tIns="0" lIns="0" bIns="0" rIns="0"/>
            <a:lstStyle/>
            <a:p>
              <a:pPr algn="l">
                <a:lnSpc>
                  <a:spcPts val="1377"/>
                </a:lnSpc>
              </a:pPr>
              <a:r>
                <a:rPr lang="en-US" sz="1147">
                  <a:solidFill>
                    <a:srgbClr val="FFFFFF"/>
                  </a:solidFill>
                  <a:latin typeface="Aptos"/>
                  <a:ea typeface="Aptos"/>
                  <a:cs typeface="Aptos"/>
                  <a:sym typeface="Aptos"/>
                </a:rPr>
                <a:t>Nếu được chọn, đội sẽ xây dựng PoC 4 tuần giúp DENSO biến video tại một trạm thành báo cáo Kaizen có số liệu, nguồn SOP tham chiếu và KPI xác minh được.</a:t>
              </a:r>
            </a:p>
          </p:txBody>
        </p:sp>
      </p:grpSp>
      <p:sp>
        <p:nvSpPr>
          <p:cNvPr name="AutoShape 18" id="18"/>
          <p:cNvSpPr/>
          <p:nvPr/>
        </p:nvSpPr>
        <p:spPr>
          <a:xfrm rot="2700">
            <a:off x="610552" y="9678734"/>
            <a:ext cx="17089765" cy="0"/>
          </a:xfrm>
          <a:prstGeom prst="line">
            <a:avLst/>
          </a:prstGeom>
          <a:ln cap="rnd" w="9525">
            <a:solidFill>
              <a:srgbClr val="D9E2EC"/>
            </a:solidFill>
            <a:prstDash val="solid"/>
            <a:headEnd type="none" len="sm" w="sm"/>
            <a:tailEnd type="none" len="sm" w="sm"/>
          </a:ln>
        </p:spPr>
      </p:sp>
      <p:grpSp>
        <p:nvGrpSpPr>
          <p:cNvPr name="Group 19" id="19"/>
          <p:cNvGrpSpPr/>
          <p:nvPr/>
        </p:nvGrpSpPr>
        <p:grpSpPr>
          <a:xfrm rot="0">
            <a:off x="685800" y="9834372"/>
            <a:ext cx="11658600" cy="246888"/>
            <a:chOff x="0" y="0"/>
            <a:chExt cx="15544800" cy="329184"/>
          </a:xfrm>
        </p:grpSpPr>
        <p:sp>
          <p:nvSpPr>
            <p:cNvPr name="Freeform 20" id="20"/>
            <p:cNvSpPr/>
            <p:nvPr/>
          </p:nvSpPr>
          <p:spPr>
            <a:xfrm flipH="false" flipV="false" rot="0">
              <a:off x="0" y="0"/>
              <a:ext cx="15544800" cy="329184"/>
            </a:xfrm>
            <a:custGeom>
              <a:avLst/>
              <a:gdLst/>
              <a:ahLst/>
              <a:cxnLst/>
              <a:rect r="r" b="b" t="t" l="l"/>
              <a:pathLst>
                <a:path h="329184" w="15544800">
                  <a:moveTo>
                    <a:pt x="0" y="0"/>
                  </a:moveTo>
                  <a:lnTo>
                    <a:pt x="15544800" y="0"/>
                  </a:lnTo>
                  <a:lnTo>
                    <a:pt x="15544800" y="329184"/>
                  </a:lnTo>
                  <a:lnTo>
                    <a:pt x="0" y="329184"/>
                  </a:lnTo>
                  <a:close/>
                </a:path>
              </a:pathLst>
            </a:custGeom>
            <a:blipFill>
              <a:blip r:embed="rId6">
                <a:alphaModFix amt="0"/>
              </a:blip>
              <a:stretch>
                <a:fillRect l="0" t="-870126" r="0" b="-870126"/>
              </a:stretch>
            </a:blipFill>
          </p:spPr>
        </p:sp>
        <p:sp>
          <p:nvSpPr>
            <p:cNvPr name="TextBox 21" id="21"/>
            <p:cNvSpPr txBox="true"/>
            <p:nvPr/>
          </p:nvSpPr>
          <p:spPr>
            <a:xfrm>
              <a:off x="0" y="0"/>
              <a:ext cx="15544800" cy="329184"/>
            </a:xfrm>
            <a:prstGeom prst="rect">
              <a:avLst/>
            </a:prstGeom>
          </p:spPr>
          <p:txBody>
            <a:bodyPr anchor="ctr" rtlCol="false" tIns="0" lIns="0" bIns="0" rIns="0"/>
            <a:lstStyle/>
            <a:p>
              <a:pPr algn="l">
                <a:lnSpc>
                  <a:spcPts val="1439"/>
                </a:lnSpc>
              </a:pPr>
              <a:r>
                <a:rPr lang="en-US" sz="1200">
                  <a:solidFill>
                    <a:srgbClr val="BFD6E8"/>
                  </a:solidFill>
                  <a:latin typeface="Aptos"/>
                  <a:ea typeface="Aptos"/>
                  <a:cs typeface="Aptos"/>
                  <a:sym typeface="Aptos"/>
                </a:rPr>
                <a:t>DENSO Factory Hacks 2026  |  AI Kaizen Copilot</a:t>
              </a:r>
            </a:p>
          </p:txBody>
        </p:sp>
      </p:grpSp>
      <p:graphicFrame>
        <p:nvGraphicFramePr>
          <p:cNvPr name="Table 22" id="22"/>
          <p:cNvGraphicFramePr>
            <a:graphicFrameLocks noGrp="true"/>
          </p:cNvGraphicFramePr>
          <p:nvPr/>
        </p:nvGraphicFramePr>
        <p:xfrm>
          <a:off x="800552" y="3667316"/>
          <a:ext cx="16478250" cy="4324350"/>
        </p:xfrm>
        <a:graphic>
          <a:graphicData uri="http://schemas.openxmlformats.org/drawingml/2006/table">
            <a:tbl>
              <a:tblPr/>
              <a:tblGrid>
                <a:gridCol w="7855269"/>
                <a:gridCol w="8622981"/>
              </a:tblGrid>
              <a:tr h="401913">
                <a:tc>
                  <a:txBody>
                    <a:bodyPr anchor="t" rtlCol="false"/>
                    <a:lstStyle/>
                    <a:p>
                      <a:pPr algn="l">
                        <a:lnSpc>
                          <a:spcPts val="1800"/>
                        </a:lnSpc>
                        <a:defRPr/>
                      </a:pPr>
                      <a:r>
                        <a:rPr lang="en-US" sz="1500" b="true">
                          <a:solidFill>
                            <a:srgbClr val="FFFFFF"/>
                          </a:solidFill>
                          <a:latin typeface="Aptos Bold"/>
                          <a:ea typeface="Aptos Bold"/>
                          <a:cs typeface="Aptos Bold"/>
                          <a:sym typeface="Aptos Bold"/>
                        </a:rPr>
                        <a:t>CÂU HỎI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153866"/>
                    </a:solidFill>
                  </a:tcPr>
                </a:tc>
                <a:tc>
                  <a:txBody>
                    <a:bodyPr anchor="t" rtlCol="false"/>
                    <a:lstStyle/>
                    <a:p>
                      <a:pPr algn="l">
                        <a:lnSpc>
                          <a:spcPts val="1800"/>
                        </a:lnSpc>
                        <a:defRPr/>
                      </a:pPr>
                      <a:r>
                        <a:rPr lang="en-US" sz="1500" b="true">
                          <a:solidFill>
                            <a:srgbClr val="FFFFFF"/>
                          </a:solidFill>
                          <a:latin typeface="Aptos Bold"/>
                          <a:ea typeface="Aptos Bold"/>
                          <a:cs typeface="Aptos Bold"/>
                          <a:sym typeface="Aptos Bold"/>
                        </a:rPr>
                        <a:t>TRẢ LỜI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153866"/>
                    </a:solidFill>
                  </a:tcPr>
                </a:tc>
              </a:tr>
              <a:tr h="635729">
                <a:tc>
                  <a:txBody>
                    <a:bodyPr anchor="t" rtlCol="false"/>
                    <a:lstStyle/>
                    <a:p>
                      <a:pPr algn="l">
                        <a:lnSpc>
                          <a:spcPts val="2250"/>
                        </a:lnSpc>
                        <a:defRPr/>
                      </a:pPr>
                      <a:r>
                        <a:rPr lang="en-US" sz="1650">
                          <a:solidFill>
                            <a:srgbClr val="000000"/>
                          </a:solidFill>
                          <a:latin typeface="Segoe UI"/>
                          <a:ea typeface="Segoe UI"/>
                          <a:cs typeface="Segoe UI"/>
                          <a:sym typeface="Segoe UI"/>
                        </a:rPr>
                        <a:t>1. Trình bày điểm mới, đột phá so với các giải pháp truyền thống?</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Kết hợp A3 (đo thao tác từ video) với A1 (truy xuất SOP/Kaizen) để nối số liệu có timestamp với tri thức có dẫn chứng — không chỉ sinh câu trả lời.</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35729">
                <a:tc>
                  <a:txBody>
                    <a:bodyPr anchor="t" rtlCol="false"/>
                    <a:lstStyle/>
                    <a:p>
                      <a:pPr algn="l">
                        <a:lnSpc>
                          <a:spcPts val="2250"/>
                        </a:lnSpc>
                        <a:defRPr/>
                      </a:pPr>
                      <a:r>
                        <a:rPr lang="en-US" sz="1650">
                          <a:solidFill>
                            <a:srgbClr val="000000"/>
                          </a:solidFill>
                          <a:latin typeface="Segoe UI"/>
                          <a:ea typeface="Segoe UI"/>
                          <a:cs typeface="Segoe UI"/>
                          <a:sym typeface="Segoe UI"/>
                        </a:rPr>
                        <a:t>2. Ý tưởng này đang giải quyết vấn đề gì tại Denso?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Tạo quy trình nhất quán để đo cycle time, thao tác/chờ và quỹ đạo; kết nối insight định lượng với tiêu chuẩn thao tác. Pain point cần xác thực tại trạm pilot.</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99708">
                <a:tc>
                  <a:txBody>
                    <a:bodyPr anchor="t" rtlCol="false"/>
                    <a:lstStyle/>
                    <a:p>
                      <a:pPr algn="l">
                        <a:lnSpc>
                          <a:spcPts val="2250"/>
                        </a:lnSpc>
                        <a:defRPr/>
                      </a:pPr>
                      <a:r>
                        <a:rPr lang="en-US" sz="1650">
                          <a:solidFill>
                            <a:srgbClr val="000000"/>
                          </a:solidFill>
                          <a:latin typeface="Segoe UI"/>
                          <a:ea typeface="Segoe UI"/>
                          <a:cs typeface="Segoe UI"/>
                          <a:sym typeface="Segoe UI"/>
                        </a:rPr>
                        <a:t>3. Phương pháp/công cụ áp dụng và thời gian thực hiện dự án?</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OpenCV + pose/tracking + time study; RAG trên SOP/standard work; dashboard/API. PoC 4 tuần: chốt bài toán → A3 → A1 → kiểm chứng tại pilot.</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11715">
                <a:tc>
                  <a:txBody>
                    <a:bodyPr anchor="t" rtlCol="false"/>
                    <a:lstStyle/>
                    <a:p>
                      <a:pPr algn="l">
                        <a:lnSpc>
                          <a:spcPts val="2250"/>
                        </a:lnSpc>
                        <a:defRPr/>
                      </a:pPr>
                      <a:r>
                        <a:rPr lang="en-US" sz="1650">
                          <a:solidFill>
                            <a:srgbClr val="000000"/>
                          </a:solidFill>
                          <a:latin typeface="Segoe UI"/>
                          <a:ea typeface="Segoe UI"/>
                          <a:cs typeface="Segoe UI"/>
                          <a:sym typeface="Segoe UI"/>
                        </a:rPr>
                        <a:t>4. Ý tưởng này mang lại hiệu quả gì? Cho số liệu.</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KPI mục tiêu: sai số cycle time ≤5%; thời gian lập báo cáo giảm ≥30%; Macro-F1 ≥0.80; 100% gợi ý có nguồn bằng chứng. Đây là mục tiêu nghiệm thu, chưa phải kết quả đo.</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95764">
                <a:tc>
                  <a:txBody>
                    <a:bodyPr anchor="t" rtlCol="false"/>
                    <a:lstStyle/>
                    <a:p>
                      <a:pPr algn="l">
                        <a:lnSpc>
                          <a:spcPts val="2250"/>
                        </a:lnSpc>
                        <a:defRPr/>
                      </a:pPr>
                      <a:r>
                        <a:rPr lang="en-US" sz="1650">
                          <a:solidFill>
                            <a:srgbClr val="000000"/>
                          </a:solidFill>
                          <a:latin typeface="Segoe UI"/>
                          <a:ea typeface="Segoe UI"/>
                          <a:cs typeface="Segoe UI"/>
                          <a:sym typeface="Segoe UI"/>
                        </a:rPr>
                        <a:t>5.  Khả năng mở rộng, triển khai ngang của dự án là gì (trong nội bộ Denso hoặc các nhà máy khác)?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Thiết kế module theo trạm, SOP và bộ nhãn thao tác. Bắt đầu từ một use case; chỉ nhân rộng khi KPI, bảo mật và tính hữu dụng được kỹ sư xác nhận.</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43792">
                <a:tc>
                  <a:txBody>
                    <a:bodyPr anchor="t" rtlCol="false"/>
                    <a:lstStyle/>
                    <a:p>
                      <a:pPr algn="l">
                        <a:lnSpc>
                          <a:spcPts val="2250"/>
                        </a:lnSpc>
                        <a:defRPr/>
                      </a:pPr>
                      <a:r>
                        <a:rPr lang="en-US" sz="1650">
                          <a:solidFill>
                            <a:srgbClr val="000000"/>
                          </a:solidFill>
                          <a:latin typeface="Segoe UI"/>
                          <a:ea typeface="Segoe UI"/>
                          <a:cs typeface="Segoe UI"/>
                          <a:sym typeface="Segoe UI"/>
                        </a:rPr>
                        <a:t>6. Nhóm đã có những kiến thức hoặc kinh nghiệm nào giúp thực hiện giải pháp?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Phân vai đề xuất: Computer Vision &amp; tracking; AI/RAG &amp; backend; dashboard &amp; evaluation. Bổ sung tên thành viên cùng minh chứng kinh nghiệm thực tế trước khi nộp.</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
        <p:nvSpPr>
          <p:cNvPr name="TextBox 23" id="23"/>
          <p:cNvSpPr txBox="true"/>
          <p:nvPr/>
        </p:nvSpPr>
        <p:spPr>
          <a:xfrm rot="0">
            <a:off x="706345" y="1557223"/>
            <a:ext cx="8234686" cy="370227"/>
          </a:xfrm>
          <a:prstGeom prst="rect">
            <a:avLst/>
          </a:prstGeom>
        </p:spPr>
        <p:txBody>
          <a:bodyPr anchor="t" rtlCol="false" tIns="0" lIns="0" bIns="0" rIns="0">
            <a:spAutoFit/>
          </a:bodyPr>
          <a:lstStyle/>
          <a:p>
            <a:pPr algn="l">
              <a:lnSpc>
                <a:spcPts val="3779"/>
              </a:lnSpc>
            </a:pPr>
            <a:r>
              <a:rPr lang="en-US" sz="3150" b="true">
                <a:solidFill>
                  <a:srgbClr val="1F2D3D"/>
                </a:solidFill>
                <a:latin typeface="Aptos Bold"/>
                <a:ea typeface="Aptos Bold"/>
                <a:cs typeface="Aptos Bold"/>
                <a:sym typeface="Aptos Bold"/>
              </a:rPr>
              <a:t>TÊN CHỦ ĐỀ:  AI KAIZEN COPILOT</a:t>
            </a:r>
          </a:p>
        </p:txBody>
      </p:sp>
      <p:grpSp>
        <p:nvGrpSpPr>
          <p:cNvPr name="Group 24" id="24"/>
          <p:cNvGrpSpPr/>
          <p:nvPr/>
        </p:nvGrpSpPr>
        <p:grpSpPr>
          <a:xfrm rot="0">
            <a:off x="801548" y="2314642"/>
            <a:ext cx="15019020" cy="342900"/>
            <a:chOff x="0" y="0"/>
            <a:chExt cx="20025360" cy="457200"/>
          </a:xfrm>
        </p:grpSpPr>
        <p:sp>
          <p:nvSpPr>
            <p:cNvPr name="Freeform 25" id="25"/>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6">
                <a:alphaModFix amt="0"/>
              </a:blip>
              <a:stretch>
                <a:fillRect l="0" t="-803444" r="0" b="-803444"/>
              </a:stretch>
            </a:blipFill>
          </p:spPr>
        </p:sp>
        <p:sp>
          <p:nvSpPr>
            <p:cNvPr name="TextBox 26" id="26"/>
            <p:cNvSpPr txBox="true"/>
            <p:nvPr/>
          </p:nvSpPr>
          <p:spPr>
            <a:xfrm>
              <a:off x="0" y="0"/>
              <a:ext cx="20025360" cy="457200"/>
            </a:xfrm>
            <a:prstGeom prst="rect">
              <a:avLst/>
            </a:prstGeom>
          </p:spPr>
          <p:txBody>
            <a:bodyPr anchor="ctr" rtlCol="false" tIns="0" lIns="0" bIns="0" rIns="0"/>
            <a:lstStyle/>
            <a:p>
              <a:pPr algn="l">
                <a:lnSpc>
                  <a:spcPts val="2160"/>
                </a:lnSpc>
              </a:pPr>
              <a:r>
                <a:rPr lang="en-US" sz="1800" b="true">
                  <a:solidFill>
                    <a:srgbClr val="1F2D3D"/>
                  </a:solidFill>
                  <a:latin typeface="Aptos Bold"/>
                  <a:ea typeface="Aptos Bold"/>
                  <a:cs typeface="Aptos Bold"/>
                  <a:sym typeface="Aptos Bold"/>
                </a:rPr>
                <a:t>CHỦ ĐỀ DỰ THI ĐỀ XUẤT</a:t>
              </a:r>
            </a:p>
          </p:txBody>
        </p:sp>
      </p:grpSp>
      <p:grpSp>
        <p:nvGrpSpPr>
          <p:cNvPr name="Group 27" id="27"/>
          <p:cNvGrpSpPr/>
          <p:nvPr/>
        </p:nvGrpSpPr>
        <p:grpSpPr>
          <a:xfrm rot="0">
            <a:off x="1271616" y="2809789"/>
            <a:ext cx="2383222" cy="135788"/>
            <a:chOff x="0" y="0"/>
            <a:chExt cx="3177629" cy="181051"/>
          </a:xfrm>
        </p:grpSpPr>
        <p:sp>
          <p:nvSpPr>
            <p:cNvPr name="Freeform 28" id="28"/>
            <p:cNvSpPr/>
            <p:nvPr/>
          </p:nvSpPr>
          <p:spPr>
            <a:xfrm flipH="false" flipV="false" rot="0">
              <a:off x="0" y="0"/>
              <a:ext cx="3177624" cy="181046"/>
            </a:xfrm>
            <a:custGeom>
              <a:avLst/>
              <a:gdLst/>
              <a:ahLst/>
              <a:cxnLst/>
              <a:rect r="r" b="b" t="t" l="l"/>
              <a:pathLst>
                <a:path h="181046" w="3177624">
                  <a:moveTo>
                    <a:pt x="0" y="0"/>
                  </a:moveTo>
                  <a:lnTo>
                    <a:pt x="3177624" y="0"/>
                  </a:lnTo>
                  <a:lnTo>
                    <a:pt x="3177624" y="181046"/>
                  </a:lnTo>
                  <a:lnTo>
                    <a:pt x="0" y="181046"/>
                  </a:lnTo>
                  <a:close/>
                </a:path>
              </a:pathLst>
            </a:custGeom>
            <a:blipFill>
              <a:blip r:embed="rId6">
                <a:alphaModFix amt="0"/>
              </a:blip>
              <a:stretch>
                <a:fillRect l="0" t="-291990" r="0" b="-291993"/>
              </a:stretch>
            </a:blipFill>
          </p:spPr>
        </p:sp>
        <p:sp>
          <p:nvSpPr>
            <p:cNvPr name="TextBox 29" id="29"/>
            <p:cNvSpPr txBox="true"/>
            <p:nvPr/>
          </p:nvSpPr>
          <p:spPr>
            <a:xfrm>
              <a:off x="0" y="-19050"/>
              <a:ext cx="3177629" cy="200101"/>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AI - Dự báo &amp; Tri thức</a:t>
              </a:r>
            </a:p>
          </p:txBody>
        </p:sp>
      </p:grpSp>
      <p:grpSp>
        <p:nvGrpSpPr>
          <p:cNvPr name="Group 30" id="30"/>
          <p:cNvGrpSpPr/>
          <p:nvPr/>
        </p:nvGrpSpPr>
        <p:grpSpPr>
          <a:xfrm rot="0">
            <a:off x="4256522" y="2803112"/>
            <a:ext cx="2383222" cy="135788"/>
            <a:chOff x="0" y="0"/>
            <a:chExt cx="3177629" cy="181051"/>
          </a:xfrm>
        </p:grpSpPr>
        <p:sp>
          <p:nvSpPr>
            <p:cNvPr name="Freeform 31" id="31"/>
            <p:cNvSpPr/>
            <p:nvPr/>
          </p:nvSpPr>
          <p:spPr>
            <a:xfrm flipH="false" flipV="false" rot="0">
              <a:off x="0" y="0"/>
              <a:ext cx="3177624" cy="181046"/>
            </a:xfrm>
            <a:custGeom>
              <a:avLst/>
              <a:gdLst/>
              <a:ahLst/>
              <a:cxnLst/>
              <a:rect r="r" b="b" t="t" l="l"/>
              <a:pathLst>
                <a:path h="181046" w="3177624">
                  <a:moveTo>
                    <a:pt x="0" y="0"/>
                  </a:moveTo>
                  <a:lnTo>
                    <a:pt x="3177624" y="0"/>
                  </a:lnTo>
                  <a:lnTo>
                    <a:pt x="3177624" y="181046"/>
                  </a:lnTo>
                  <a:lnTo>
                    <a:pt x="0" y="181046"/>
                  </a:lnTo>
                  <a:close/>
                </a:path>
              </a:pathLst>
            </a:custGeom>
            <a:blipFill>
              <a:blip r:embed="rId6">
                <a:alphaModFix amt="0"/>
              </a:blip>
              <a:stretch>
                <a:fillRect l="0" t="-291990" r="0" b="-291993"/>
              </a:stretch>
            </a:blipFill>
          </p:spPr>
        </p:sp>
        <p:sp>
          <p:nvSpPr>
            <p:cNvPr name="TextBox 32" id="32"/>
            <p:cNvSpPr txBox="true"/>
            <p:nvPr/>
          </p:nvSpPr>
          <p:spPr>
            <a:xfrm>
              <a:off x="0" y="-19050"/>
              <a:ext cx="3177629" cy="200101"/>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Humanoid &amp; Robot</a:t>
              </a:r>
            </a:p>
          </p:txBody>
        </p:sp>
      </p:grpSp>
      <p:grpSp>
        <p:nvGrpSpPr>
          <p:cNvPr name="Group 33" id="33"/>
          <p:cNvGrpSpPr/>
          <p:nvPr/>
        </p:nvGrpSpPr>
        <p:grpSpPr>
          <a:xfrm rot="0">
            <a:off x="7416108" y="2816398"/>
            <a:ext cx="2713983" cy="129180"/>
            <a:chOff x="0" y="0"/>
            <a:chExt cx="3609518" cy="171806"/>
          </a:xfrm>
        </p:grpSpPr>
        <p:sp>
          <p:nvSpPr>
            <p:cNvPr name="Freeform 34" id="34"/>
            <p:cNvSpPr/>
            <p:nvPr/>
          </p:nvSpPr>
          <p:spPr>
            <a:xfrm flipH="false" flipV="false" rot="0">
              <a:off x="0" y="0"/>
              <a:ext cx="3609516" cy="171800"/>
            </a:xfrm>
            <a:custGeom>
              <a:avLst/>
              <a:gdLst/>
              <a:ahLst/>
              <a:cxnLst/>
              <a:rect r="r" b="b" t="t" l="l"/>
              <a:pathLst>
                <a:path h="171800" w="3609516">
                  <a:moveTo>
                    <a:pt x="0" y="0"/>
                  </a:moveTo>
                  <a:lnTo>
                    <a:pt x="3609516" y="0"/>
                  </a:lnTo>
                  <a:lnTo>
                    <a:pt x="3609516" y="171800"/>
                  </a:lnTo>
                  <a:lnTo>
                    <a:pt x="0" y="171800"/>
                  </a:lnTo>
                  <a:close/>
                </a:path>
              </a:pathLst>
            </a:custGeom>
            <a:blipFill>
              <a:blip r:embed="rId6">
                <a:alphaModFix amt="0"/>
              </a:blip>
              <a:stretch>
                <a:fillRect l="0" t="-359378" r="0" b="-359382"/>
              </a:stretch>
            </a:blipFill>
          </p:spPr>
        </p:sp>
        <p:sp>
          <p:nvSpPr>
            <p:cNvPr name="TextBox 35" id="35"/>
            <p:cNvSpPr txBox="true"/>
            <p:nvPr/>
          </p:nvSpPr>
          <p:spPr>
            <a:xfrm>
              <a:off x="0" y="-19050"/>
              <a:ext cx="3609518" cy="190856"/>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Data - Chuẩn hóa &amp; Khai thác</a:t>
              </a:r>
            </a:p>
          </p:txBody>
        </p:sp>
      </p:grpSp>
      <p:grpSp>
        <p:nvGrpSpPr>
          <p:cNvPr name="Group 36" id="36"/>
          <p:cNvGrpSpPr/>
          <p:nvPr/>
        </p:nvGrpSpPr>
        <p:grpSpPr>
          <a:xfrm rot="0">
            <a:off x="956834" y="2800264"/>
            <a:ext cx="236372" cy="154838"/>
            <a:chOff x="0" y="0"/>
            <a:chExt cx="315163" cy="206451"/>
          </a:xfrm>
        </p:grpSpPr>
        <p:sp>
          <p:nvSpPr>
            <p:cNvPr name="Freeform 37" id="37"/>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38" id="38"/>
          <p:cNvGrpSpPr/>
          <p:nvPr/>
        </p:nvGrpSpPr>
        <p:grpSpPr>
          <a:xfrm rot="0">
            <a:off x="3914775" y="2793340"/>
            <a:ext cx="236372" cy="154838"/>
            <a:chOff x="0" y="0"/>
            <a:chExt cx="315163" cy="206451"/>
          </a:xfrm>
        </p:grpSpPr>
        <p:sp>
          <p:nvSpPr>
            <p:cNvPr name="Freeform 39" id="39"/>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40" id="40"/>
          <p:cNvGrpSpPr/>
          <p:nvPr/>
        </p:nvGrpSpPr>
        <p:grpSpPr>
          <a:xfrm rot="0">
            <a:off x="7115185" y="2793340"/>
            <a:ext cx="236372" cy="154838"/>
            <a:chOff x="0" y="0"/>
            <a:chExt cx="315163" cy="206451"/>
          </a:xfrm>
        </p:grpSpPr>
        <p:sp>
          <p:nvSpPr>
            <p:cNvPr name="Freeform 41" id="41"/>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42" id="42"/>
          <p:cNvGrpSpPr/>
          <p:nvPr/>
        </p:nvGrpSpPr>
        <p:grpSpPr>
          <a:xfrm rot="0">
            <a:off x="429454" y="9032262"/>
            <a:ext cx="87630" cy="896874"/>
            <a:chOff x="0" y="0"/>
            <a:chExt cx="116840" cy="1195832"/>
          </a:xfrm>
        </p:grpSpPr>
        <p:sp>
          <p:nvSpPr>
            <p:cNvPr name="Freeform 43" id="43"/>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44" id="44"/>
          <p:cNvGrpSpPr/>
          <p:nvPr/>
        </p:nvGrpSpPr>
        <p:grpSpPr>
          <a:xfrm rot="0">
            <a:off x="925830" y="2763774"/>
            <a:ext cx="246888" cy="246888"/>
            <a:chOff x="0" y="0"/>
            <a:chExt cx="329184" cy="329184"/>
          </a:xfrm>
        </p:grpSpPr>
        <p:sp>
          <p:nvSpPr>
            <p:cNvPr name="Freeform 45" id="45"/>
            <p:cNvSpPr/>
            <p:nvPr/>
          </p:nvSpPr>
          <p:spPr>
            <a:xfrm flipH="false" flipV="false" rot="0">
              <a:off x="0" y="0"/>
              <a:ext cx="329184" cy="329184"/>
            </a:xfrm>
            <a:custGeom>
              <a:avLst/>
              <a:gdLst/>
              <a:ahLst/>
              <a:cxnLst/>
              <a:rect r="r" b="b" t="t" l="l"/>
              <a:pathLst>
                <a:path h="329184" w="329184">
                  <a:moveTo>
                    <a:pt x="0" y="0"/>
                  </a:moveTo>
                  <a:lnTo>
                    <a:pt x="329184" y="0"/>
                  </a:lnTo>
                  <a:lnTo>
                    <a:pt x="329184" y="329184"/>
                  </a:lnTo>
                  <a:lnTo>
                    <a:pt x="0" y="329184"/>
                  </a:lnTo>
                  <a:close/>
                </a:path>
              </a:pathLst>
            </a:custGeom>
            <a:blipFill>
              <a:blip r:embed="rId6">
                <a:alphaModFix amt="0"/>
              </a:blip>
              <a:stretch>
                <a:fillRect l="-78303" t="0" r="-78303" b="0"/>
              </a:stretch>
            </a:blipFill>
          </p:spPr>
        </p:sp>
        <p:sp>
          <p:nvSpPr>
            <p:cNvPr name="TextBox 46" id="46"/>
            <p:cNvSpPr txBox="true"/>
            <p:nvPr/>
          </p:nvSpPr>
          <p:spPr>
            <a:xfrm>
              <a:off x="0" y="-38100"/>
              <a:ext cx="329184" cy="367284"/>
            </a:xfrm>
            <a:prstGeom prst="rect">
              <a:avLst/>
            </a:prstGeom>
          </p:spPr>
          <p:txBody>
            <a:bodyPr anchor="ctr" rtlCol="false" tIns="0" lIns="0" bIns="0" rIns="0"/>
            <a:lstStyle/>
            <a:p>
              <a:pPr algn="ctr">
                <a:lnSpc>
                  <a:spcPts val="2160"/>
                </a:lnSpc>
              </a:pPr>
              <a:r>
                <a:rPr lang="en-US" sz="1800" b="true">
                  <a:solidFill>
                    <a:srgbClr val="00B96B"/>
                  </a:solidFill>
                  <a:latin typeface="Calibri (MS) Bold"/>
                  <a:ea typeface="Calibri (MS) Bold"/>
                  <a:cs typeface="Calibri (MS) Bold"/>
                  <a:sym typeface="Calibri (MS) Bold"/>
                </a:rPr>
                <a:t>✓</a:t>
              </a:r>
            </a:p>
          </p:txBody>
        </p:sp>
      </p:grpSp>
      <p:grpSp>
        <p:nvGrpSpPr>
          <p:cNvPr name="Group 47" id="47"/>
          <p:cNvGrpSpPr/>
          <p:nvPr/>
        </p:nvGrpSpPr>
        <p:grpSpPr>
          <a:xfrm rot="0">
            <a:off x="7084314" y="2763774"/>
            <a:ext cx="246888" cy="246888"/>
            <a:chOff x="0" y="0"/>
            <a:chExt cx="329184" cy="329184"/>
          </a:xfrm>
        </p:grpSpPr>
        <p:sp>
          <p:nvSpPr>
            <p:cNvPr name="Freeform 48" id="48"/>
            <p:cNvSpPr/>
            <p:nvPr/>
          </p:nvSpPr>
          <p:spPr>
            <a:xfrm flipH="false" flipV="false" rot="0">
              <a:off x="0" y="0"/>
              <a:ext cx="329184" cy="329184"/>
            </a:xfrm>
            <a:custGeom>
              <a:avLst/>
              <a:gdLst/>
              <a:ahLst/>
              <a:cxnLst/>
              <a:rect r="r" b="b" t="t" l="l"/>
              <a:pathLst>
                <a:path h="329184" w="329184">
                  <a:moveTo>
                    <a:pt x="0" y="0"/>
                  </a:moveTo>
                  <a:lnTo>
                    <a:pt x="329184" y="0"/>
                  </a:lnTo>
                  <a:lnTo>
                    <a:pt x="329184" y="329184"/>
                  </a:lnTo>
                  <a:lnTo>
                    <a:pt x="0" y="329184"/>
                  </a:lnTo>
                  <a:close/>
                </a:path>
              </a:pathLst>
            </a:custGeom>
            <a:blipFill>
              <a:blip r:embed="rId6">
                <a:alphaModFix amt="0"/>
              </a:blip>
              <a:stretch>
                <a:fillRect l="-78303" t="0" r="-78303" b="0"/>
              </a:stretch>
            </a:blipFill>
          </p:spPr>
        </p:sp>
        <p:sp>
          <p:nvSpPr>
            <p:cNvPr name="TextBox 49" id="49"/>
            <p:cNvSpPr txBox="true"/>
            <p:nvPr/>
          </p:nvSpPr>
          <p:spPr>
            <a:xfrm>
              <a:off x="0" y="-38100"/>
              <a:ext cx="329184" cy="367284"/>
            </a:xfrm>
            <a:prstGeom prst="rect">
              <a:avLst/>
            </a:prstGeom>
          </p:spPr>
          <p:txBody>
            <a:bodyPr anchor="ctr" rtlCol="false" tIns="0" lIns="0" bIns="0" rIns="0"/>
            <a:lstStyle/>
            <a:p>
              <a:pPr algn="ctr">
                <a:lnSpc>
                  <a:spcPts val="2160"/>
                </a:lnSpc>
              </a:pPr>
              <a:r>
                <a:rPr lang="en-US" sz="1800" b="true">
                  <a:solidFill>
                    <a:srgbClr val="00B96B"/>
                  </a:solidFill>
                  <a:latin typeface="Calibri (MS) Bold"/>
                  <a:ea typeface="Calibri (MS) Bold"/>
                  <a:cs typeface="Calibri (MS) Bold"/>
                  <a:sym typeface="Calibri (MS) Bold"/>
                </a:rPr>
                <a:t>✓</a:t>
              </a: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8722671" y="1747333"/>
            <a:ext cx="8655796" cy="3462318"/>
            <a:chOff x="0" y="0"/>
            <a:chExt cx="11541062" cy="4616425"/>
          </a:xfrm>
        </p:grpSpPr>
        <p:sp>
          <p:nvSpPr>
            <p:cNvPr name="Freeform 5" id="5"/>
            <p:cNvSpPr/>
            <p:nvPr/>
          </p:nvSpPr>
          <p:spPr>
            <a:xfrm flipH="false" flipV="false" rot="0">
              <a:off x="0" y="0"/>
              <a:ext cx="11540998" cy="4616450"/>
            </a:xfrm>
            <a:custGeom>
              <a:avLst/>
              <a:gdLst/>
              <a:ahLst/>
              <a:cxnLst/>
              <a:rect r="r" b="b" t="t" l="l"/>
              <a:pathLst>
                <a:path h="4616450" w="11540998">
                  <a:moveTo>
                    <a:pt x="0" y="0"/>
                  </a:moveTo>
                  <a:lnTo>
                    <a:pt x="11540998" y="0"/>
                  </a:lnTo>
                  <a:lnTo>
                    <a:pt x="11540998" y="4616450"/>
                  </a:lnTo>
                  <a:lnTo>
                    <a:pt x="0" y="4616450"/>
                  </a:lnTo>
                  <a:lnTo>
                    <a:pt x="0" y="0"/>
                  </a:lnTo>
                  <a:close/>
                </a:path>
              </a:pathLst>
            </a:custGeom>
            <a:blipFill>
              <a:blip r:embed="rId3"/>
              <a:stretch>
                <a:fillRect l="0" t="0" r="0" b="0"/>
              </a:stretch>
            </a:blipFill>
          </p:spPr>
        </p:sp>
      </p:grpSp>
      <p:sp>
        <p:nvSpPr>
          <p:cNvPr name="TextBox 6" id="6"/>
          <p:cNvSpPr txBox="true"/>
          <p:nvPr/>
        </p:nvSpPr>
        <p:spPr>
          <a:xfrm rot="0">
            <a:off x="8718804" y="7365873"/>
            <a:ext cx="8691372" cy="667131"/>
          </a:xfrm>
          <a:prstGeom prst="rect">
            <a:avLst/>
          </a:prstGeom>
        </p:spPr>
        <p:txBody>
          <a:bodyPr anchor="t" rtlCol="false" tIns="0" lIns="0" bIns="0" rIns="0">
            <a:spAutoFit/>
          </a:bodyPr>
          <a:lstStyle/>
          <a:p>
            <a:pPr algn="l">
              <a:lnSpc>
                <a:spcPts val="4860"/>
              </a:lnSpc>
            </a:pPr>
            <a:r>
              <a:rPr lang="en-US" sz="4050" b="true">
                <a:solidFill>
                  <a:srgbClr val="FFFFFF"/>
                </a:solidFill>
                <a:latin typeface="Aptos Bold"/>
                <a:ea typeface="Aptos Bold"/>
                <a:cs typeface="Aptos Bold"/>
                <a:sym typeface="Aptos Bold"/>
              </a:rPr>
              <a:t>AI KAIZEN COPILOT</a:t>
            </a:r>
          </a:p>
        </p:txBody>
      </p:sp>
      <p:sp>
        <p:nvSpPr>
          <p:cNvPr name="TextBox 7" id="7"/>
          <p:cNvSpPr txBox="true"/>
          <p:nvPr/>
        </p:nvSpPr>
        <p:spPr>
          <a:xfrm rot="0">
            <a:off x="8759952" y="8069580"/>
            <a:ext cx="8691372" cy="566928"/>
          </a:xfrm>
          <a:prstGeom prst="rect">
            <a:avLst/>
          </a:prstGeom>
        </p:spPr>
        <p:txBody>
          <a:bodyPr anchor="t" rtlCol="false" tIns="0" lIns="0" bIns="0" rIns="0">
            <a:spAutoFit/>
          </a:bodyPr>
          <a:lstStyle/>
          <a:p>
            <a:pPr algn="l">
              <a:lnSpc>
                <a:spcPts val="2610"/>
              </a:lnSpc>
            </a:pPr>
            <a:r>
              <a:rPr lang="en-US" sz="2175">
                <a:solidFill>
                  <a:srgbClr val="FFFFFF"/>
                </a:solidFill>
                <a:latin typeface="Aptos"/>
                <a:ea typeface="Aptos"/>
                <a:cs typeface="Aptos"/>
                <a:sym typeface="Aptos"/>
              </a:rPr>
              <a:t>Motion Analyzer: đo Muda · Mura · Muri từ video thao tác</a:t>
            </a:r>
          </a:p>
        </p:txBody>
      </p:sp>
      <p:sp>
        <p:nvSpPr>
          <p:cNvPr name="TextBox 8" id="8"/>
          <p:cNvSpPr txBox="true"/>
          <p:nvPr/>
        </p:nvSpPr>
        <p:spPr>
          <a:xfrm rot="0">
            <a:off x="8787384" y="8810244"/>
            <a:ext cx="8142732" cy="209577"/>
          </a:xfrm>
          <a:prstGeom prst="rect">
            <a:avLst/>
          </a:prstGeom>
        </p:spPr>
        <p:txBody>
          <a:bodyPr anchor="t" rtlCol="false" tIns="0" lIns="0" bIns="0" rIns="0">
            <a:spAutoFit/>
          </a:bodyPr>
          <a:lstStyle/>
          <a:p>
            <a:pPr algn="l">
              <a:lnSpc>
                <a:spcPts val="1709"/>
              </a:lnSpc>
            </a:pPr>
            <a:r>
              <a:rPr lang="en-US" sz="1425" b="true">
                <a:solidFill>
                  <a:srgbClr val="E7F3FF"/>
                </a:solidFill>
                <a:latin typeface="Aptos Bold"/>
                <a:ea typeface="Aptos Bold"/>
                <a:cs typeface="Aptos Bold"/>
                <a:sym typeface="Aptos Bold"/>
              </a:rPr>
              <a:t>A2 • TÍCH LŨY KNOW-HOW CHUYÊN GIA CHO AI HỌC</a:t>
            </a:r>
          </a:p>
        </p:txBody>
      </p:sp>
      <p:sp>
        <p:nvSpPr>
          <p:cNvPr id="9" name="TextBox 8"/>
          <p:cNvSpPr txBox="1"/>
          <p:nvPr/>
        </p:nvSpPr>
        <p:spPr>
          <a:xfrm>
            <a:off x="8787384" y="9235440"/>
            <a:ext cx="9052560" cy="365760"/>
          </a:xfrm>
          <a:prstGeom prst="rect">
            <a:avLst/>
          </a:prstGeom>
          <a:noFill/>
        </p:spPr>
        <p:txBody>
          <a:bodyPr wrap="square" lIns="0" rIns="0" tIns="0" bIns="0" anchor="t">
            <a:spAutoFit/>
          </a:bodyPr>
          <a:lstStyle/>
          <a:p>
            <a:pPr algn="l">
              <a:lnSpc>
                <a:spcPct val="112000"/>
              </a:lnSpc>
              <a:spcAft>
                <a:spcPts val="400"/>
              </a:spcAft>
            </a:pPr>
            <a:r>
              <a:rPr sz="1400" b="0">
                <a:solidFill>
                  <a:srgbClr val="FFFFFF"/>
                </a:solidFill>
                <a:latin typeface="Aptos"/>
              </a:rPr>
              <a:t>Đội thi: Trịnh Gia Huy (nhóm trưởng) · Vũ Văn Mạnh · Nguyễn Trần Quang · Trịnh Hoài Nam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TextBox 2" id="2"/>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3" id="3"/>
          <p:cNvGrpSpPr/>
          <p:nvPr/>
        </p:nvGrpSpPr>
        <p:grpSpPr>
          <a:xfrm rot="0">
            <a:off x="0" y="8980713"/>
            <a:ext cx="18288000" cy="1306287"/>
            <a:chOff x="0" y="0"/>
            <a:chExt cx="24384000" cy="1741716"/>
          </a:xfrm>
        </p:grpSpPr>
        <p:sp>
          <p:nvSpPr>
            <p:cNvPr name="Freeform 4" id="4"/>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2"/>
              <a:stretch>
                <a:fillRect l="0" t="-306176" r="0" b="-527175"/>
              </a:stretch>
            </a:blipFill>
          </p:spPr>
        </p:sp>
      </p:grpSp>
      <p:grpSp>
        <p:nvGrpSpPr>
          <p:cNvPr name="Group 5" id="5"/>
          <p:cNvGrpSpPr/>
          <p:nvPr/>
        </p:nvGrpSpPr>
        <p:grpSpPr>
          <a:xfrm rot="0">
            <a:off x="0" y="0"/>
            <a:ext cx="18287543" cy="1303020"/>
            <a:chOff x="0" y="0"/>
            <a:chExt cx="24383390" cy="1737360"/>
          </a:xfrm>
        </p:grpSpPr>
        <p:sp>
          <p:nvSpPr>
            <p:cNvPr name="Freeform 6" id="6" descr="/mnt/data/ff1500126d.png"/>
            <p:cNvSpPr/>
            <p:nvPr/>
          </p:nvSpPr>
          <p:spPr>
            <a:xfrm flipH="false" flipV="false" rot="0">
              <a:off x="0" y="0"/>
              <a:ext cx="24383364" cy="1737360"/>
            </a:xfrm>
            <a:custGeom>
              <a:avLst/>
              <a:gdLst/>
              <a:ahLst/>
              <a:cxnLst/>
              <a:rect r="r" b="b" t="t" l="l"/>
              <a:pathLst>
                <a:path h="1737360" w="24383364">
                  <a:moveTo>
                    <a:pt x="0" y="0"/>
                  </a:moveTo>
                  <a:lnTo>
                    <a:pt x="24383364" y="0"/>
                  </a:lnTo>
                  <a:lnTo>
                    <a:pt x="24383364" y="1737360"/>
                  </a:lnTo>
                  <a:lnTo>
                    <a:pt x="0" y="1737360"/>
                  </a:lnTo>
                  <a:lnTo>
                    <a:pt x="0" y="0"/>
                  </a:lnTo>
                  <a:close/>
                </a:path>
              </a:pathLst>
            </a:custGeom>
            <a:blipFill>
              <a:blip r:embed="rId3"/>
              <a:stretch>
                <a:fillRect l="0" t="-417824" r="0" b="-417824"/>
              </a:stretch>
            </a:blipFill>
          </p:spPr>
        </p:sp>
      </p:grpSp>
      <p:grpSp>
        <p:nvGrpSpPr>
          <p:cNvPr name="Group 7" id="7"/>
          <p:cNvGrpSpPr/>
          <p:nvPr/>
        </p:nvGrpSpPr>
        <p:grpSpPr>
          <a:xfrm rot="0">
            <a:off x="438912" y="315468"/>
            <a:ext cx="3634740" cy="905256"/>
            <a:chOff x="0" y="0"/>
            <a:chExt cx="4846320" cy="1207008"/>
          </a:xfrm>
        </p:grpSpPr>
        <p:sp>
          <p:nvSpPr>
            <p:cNvPr name="Freeform 8" id="8" descr="/mnt/data/denso_fpt_logo_transparent.png"/>
            <p:cNvSpPr/>
            <p:nvPr/>
          </p:nvSpPr>
          <p:spPr>
            <a:xfrm flipH="false" flipV="false" rot="0">
              <a:off x="0" y="0"/>
              <a:ext cx="4846320" cy="1207008"/>
            </a:xfrm>
            <a:custGeom>
              <a:avLst/>
              <a:gdLst/>
              <a:ahLst/>
              <a:cxnLst/>
              <a:rect r="r" b="b" t="t" l="l"/>
              <a:pathLst>
                <a:path h="1207008" w="4846320">
                  <a:moveTo>
                    <a:pt x="0" y="0"/>
                  </a:moveTo>
                  <a:lnTo>
                    <a:pt x="4846320" y="0"/>
                  </a:lnTo>
                  <a:lnTo>
                    <a:pt x="4846320" y="1207008"/>
                  </a:lnTo>
                  <a:lnTo>
                    <a:pt x="0" y="1207008"/>
                  </a:lnTo>
                  <a:lnTo>
                    <a:pt x="0" y="0"/>
                  </a:lnTo>
                  <a:close/>
                </a:path>
              </a:pathLst>
            </a:custGeom>
            <a:blipFill>
              <a:blip r:embed="rId4"/>
              <a:stretch>
                <a:fillRect l="0" t="-2220" r="0" b="-2220"/>
              </a:stretch>
            </a:blipFill>
          </p:spPr>
        </p:sp>
      </p:grpSp>
      <p:grpSp>
        <p:nvGrpSpPr>
          <p:cNvPr name="Group 9" id="9"/>
          <p:cNvGrpSpPr/>
          <p:nvPr/>
        </p:nvGrpSpPr>
        <p:grpSpPr>
          <a:xfrm rot="0">
            <a:off x="4457700" y="342900"/>
            <a:ext cx="9464040" cy="548640"/>
            <a:chOff x="0" y="0"/>
            <a:chExt cx="12618720" cy="731520"/>
          </a:xfrm>
        </p:grpSpPr>
        <p:sp>
          <p:nvSpPr>
            <p:cNvPr name="Freeform 10" id="10"/>
            <p:cNvSpPr/>
            <p:nvPr/>
          </p:nvSpPr>
          <p:spPr>
            <a:xfrm flipH="false" flipV="false" rot="0">
              <a:off x="0" y="0"/>
              <a:ext cx="12618720" cy="731520"/>
            </a:xfrm>
            <a:custGeom>
              <a:avLst/>
              <a:gdLst/>
              <a:ahLst/>
              <a:cxnLst/>
              <a:rect r="r" b="b" t="t" l="l"/>
              <a:pathLst>
                <a:path h="731520" w="12618720">
                  <a:moveTo>
                    <a:pt x="0" y="0"/>
                  </a:moveTo>
                  <a:lnTo>
                    <a:pt x="12618720" y="0"/>
                  </a:lnTo>
                  <a:lnTo>
                    <a:pt x="12618720" y="731520"/>
                  </a:lnTo>
                  <a:lnTo>
                    <a:pt x="0" y="731520"/>
                  </a:lnTo>
                  <a:close/>
                </a:path>
              </a:pathLst>
            </a:custGeom>
            <a:blipFill>
              <a:blip r:embed="rId5">
                <a:alphaModFix amt="0"/>
              </a:blip>
              <a:stretch>
                <a:fillRect l="0" t="-286116" r="0" b="-286116"/>
              </a:stretch>
            </a:blipFill>
          </p:spPr>
        </p:sp>
        <p:sp>
          <p:nvSpPr>
            <p:cNvPr name="TextBox 11" id="11"/>
            <p:cNvSpPr txBox="true"/>
            <p:nvPr/>
          </p:nvSpPr>
          <p:spPr>
            <a:xfrm>
              <a:off x="0" y="0"/>
              <a:ext cx="12618720" cy="731520"/>
            </a:xfrm>
            <a:prstGeom prst="rect">
              <a:avLst/>
            </a:prstGeom>
          </p:spPr>
          <p:txBody>
            <a:bodyPr anchor="ctr" rtlCol="false" tIns="0" lIns="0" bIns="0" rIns="0"/>
            <a:lstStyle/>
            <a:p>
              <a:pPr algn="ctr">
                <a:lnSpc>
                  <a:spcPts val="3240"/>
                </a:lnSpc>
              </a:pPr>
              <a:r>
                <a:rPr lang="en-US" sz="2700" b="true">
                  <a:solidFill>
                    <a:srgbClr val="FFFFFF"/>
                  </a:solidFill>
                  <a:latin typeface="Aptos Bold"/>
                  <a:ea typeface="Aptos Bold"/>
                  <a:cs typeface="Aptos Bold"/>
                  <a:sym typeface="Aptos Bold"/>
                </a:rPr>
                <a:t>TÓM TẮT ĐỀ XUẤT</a:t>
              </a:r>
            </a:p>
          </p:txBody>
        </p:sp>
      </p:grpSp>
      <p:grpSp>
        <p:nvGrpSpPr>
          <p:cNvPr name="Group 12" id="12"/>
          <p:cNvGrpSpPr/>
          <p:nvPr/>
        </p:nvGrpSpPr>
        <p:grpSpPr>
          <a:xfrm rot="0">
            <a:off x="748846" y="9036996"/>
            <a:ext cx="15019020" cy="342900"/>
            <a:chOff x="0" y="0"/>
            <a:chExt cx="20025360" cy="457200"/>
          </a:xfrm>
        </p:grpSpPr>
        <p:sp>
          <p:nvSpPr>
            <p:cNvPr name="Freeform 13" id="13"/>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5">
                <a:alphaModFix amt="0"/>
              </a:blip>
              <a:stretch>
                <a:fillRect l="0" t="-803444" r="0" b="-803444"/>
              </a:stretch>
            </a:blipFill>
          </p:spPr>
        </p:sp>
        <p:sp>
          <p:nvSpPr>
            <p:cNvPr name="TextBox 14" id="14"/>
            <p:cNvSpPr txBox="true"/>
            <p:nvPr/>
          </p:nvSpPr>
          <p:spPr>
            <a:xfrm>
              <a:off x="0" y="0"/>
              <a:ext cx="20025360" cy="457200"/>
            </a:xfrm>
            <a:prstGeom prst="rect">
              <a:avLst/>
            </a:prstGeom>
          </p:spPr>
          <p:txBody>
            <a:bodyPr anchor="ctr" rtlCol="false" tIns="0" lIns="0" bIns="0" rIns="0"/>
            <a:lstStyle/>
            <a:p>
              <a:pPr algn="l">
                <a:lnSpc>
                  <a:spcPts val="2160"/>
                </a:lnSpc>
              </a:pPr>
              <a:r>
                <a:rPr lang="en-US" sz="1800" b="true">
                  <a:solidFill>
                    <a:srgbClr val="FFFFFF"/>
                  </a:solidFill>
                  <a:latin typeface="Aptos Bold"/>
                  <a:ea typeface="Aptos Bold"/>
                  <a:cs typeface="Aptos Bold"/>
                  <a:sym typeface="Aptos Bold"/>
                </a:rPr>
                <a:t>FINAL PITCH MESSAGE</a:t>
              </a:r>
            </a:p>
          </p:txBody>
        </p:sp>
      </p:grpSp>
      <p:grpSp>
        <p:nvGrpSpPr>
          <p:cNvPr name="Group 15" id="15"/>
          <p:cNvGrpSpPr/>
          <p:nvPr/>
        </p:nvGrpSpPr>
        <p:grpSpPr>
          <a:xfrm rot="0">
            <a:off x="748846" y="9517056"/>
            <a:ext cx="15019020" cy="164592"/>
            <a:chOff x="0" y="0"/>
            <a:chExt cx="20025360" cy="219456"/>
          </a:xfrm>
        </p:grpSpPr>
        <p:sp>
          <p:nvSpPr>
            <p:cNvPr name="Freeform 16" id="16"/>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5">
                <a:alphaModFix amt="0"/>
              </a:blip>
              <a:stretch>
                <a:fillRect l="0" t="-1728009" r="0" b="-1728009"/>
              </a:stretch>
            </a:blipFill>
          </p:spPr>
          <p:txBody>
            <a:bodyPr/>
            <a:p/>
          </p:txBody>
        </p:sp>
        <p:sp>
          <p:nvSpPr>
            <p:cNvPr name="TextBox 17" id="17"/>
            <p:cNvSpPr txBox="true"/>
            <p:nvPr/>
          </p:nvSpPr>
          <p:spPr>
            <a:xfrm>
              <a:off x="0" y="0"/>
              <a:ext cx="20025360" cy="219456"/>
            </a:xfrm>
            <a:prstGeom prst="rect">
              <a:avLst/>
            </a:prstGeom>
          </p:spPr>
          <p:txBody>
            <a:bodyPr anchor="ctr" rtlCol="false" tIns="0" lIns="0" bIns="0" rIns="0"/>
            <a:lstStyle/>
            <a:p>
              <a:pPr algn="l">
                <a:lnSpc>
                  <a:spcPts val="1377"/>
                </a:lnSpc>
              </a:pPr>
              <a:r>
                <a:rPr lang="en-US" sz="1147">
                  <a:solidFill>
                    <a:srgbClr val="FFFFFF"/>
                  </a:solidFill>
                  <a:latin typeface="Aptos"/>
                  <a:ea typeface="Aptos"/>
                  <a:cs typeface="Aptos"/>
                  <a:sym typeface="Aptos"/>
                </a:rPr>
                <a:t>Nếu được chọn, đội sẽ pilot 4 tuần tại một trạm DENSO: quay video → dashboard Muda/Mura/Muri có bằng chứng → kỹ sư duyệt → đo lại trước/sau.</a:t>
              </a:r>
            </a:p>
          </p:txBody>
        </p:sp>
      </p:grpSp>
      <p:sp>
        <p:nvSpPr>
          <p:cNvPr name="AutoShape 18" id="18"/>
          <p:cNvSpPr/>
          <p:nvPr/>
        </p:nvSpPr>
        <p:spPr>
          <a:xfrm rot="2700">
            <a:off x="610552" y="9678734"/>
            <a:ext cx="17089765" cy="0"/>
          </a:xfrm>
          <a:prstGeom prst="line">
            <a:avLst/>
          </a:prstGeom>
          <a:ln cap="rnd" w="9525">
            <a:solidFill>
              <a:srgbClr val="D9E2EC"/>
            </a:solidFill>
            <a:prstDash val="solid"/>
            <a:headEnd type="none" len="sm" w="sm"/>
            <a:tailEnd type="none" len="sm" w="sm"/>
          </a:ln>
        </p:spPr>
      </p:sp>
      <p:grpSp>
        <p:nvGrpSpPr>
          <p:cNvPr name="Group 19" id="19"/>
          <p:cNvGrpSpPr/>
          <p:nvPr/>
        </p:nvGrpSpPr>
        <p:grpSpPr>
          <a:xfrm rot="0">
            <a:off x="685800" y="9834372"/>
            <a:ext cx="11658600" cy="246888"/>
            <a:chOff x="0" y="0"/>
            <a:chExt cx="15544800" cy="329184"/>
          </a:xfrm>
        </p:grpSpPr>
        <p:sp>
          <p:nvSpPr>
            <p:cNvPr name="Freeform 20" id="20"/>
            <p:cNvSpPr/>
            <p:nvPr/>
          </p:nvSpPr>
          <p:spPr>
            <a:xfrm flipH="false" flipV="false" rot="0">
              <a:off x="0" y="0"/>
              <a:ext cx="15544800" cy="329184"/>
            </a:xfrm>
            <a:custGeom>
              <a:avLst/>
              <a:gdLst/>
              <a:ahLst/>
              <a:cxnLst/>
              <a:rect r="r" b="b" t="t" l="l"/>
              <a:pathLst>
                <a:path h="329184" w="15544800">
                  <a:moveTo>
                    <a:pt x="0" y="0"/>
                  </a:moveTo>
                  <a:lnTo>
                    <a:pt x="15544800" y="0"/>
                  </a:lnTo>
                  <a:lnTo>
                    <a:pt x="15544800" y="329184"/>
                  </a:lnTo>
                  <a:lnTo>
                    <a:pt x="0" y="329184"/>
                  </a:lnTo>
                  <a:close/>
                </a:path>
              </a:pathLst>
            </a:custGeom>
            <a:blipFill>
              <a:blip r:embed="rId5">
                <a:alphaModFix amt="0"/>
              </a:blip>
              <a:stretch>
                <a:fillRect l="0" t="-870126" r="0" b="-870126"/>
              </a:stretch>
            </a:blipFill>
          </p:spPr>
          <p:txBody>
            <a:bodyPr/>
            <a:p/>
          </p:txBody>
        </p:sp>
        <p:sp>
          <p:nvSpPr>
            <p:cNvPr name="TextBox 21" id="21"/>
            <p:cNvSpPr txBox="true"/>
            <p:nvPr/>
          </p:nvSpPr>
          <p:spPr>
            <a:xfrm>
              <a:off x="0" y="0"/>
              <a:ext cx="15544800" cy="329184"/>
            </a:xfrm>
            <a:prstGeom prst="rect">
              <a:avLst/>
            </a:prstGeom>
          </p:spPr>
          <p:txBody>
            <a:bodyPr anchor="ctr" rtlCol="false" tIns="0" lIns="0" bIns="0" rIns="0"/>
            <a:lstStyle/>
            <a:p>
              <a:pPr algn="l">
                <a:lnSpc>
                  <a:spcPts val="1439"/>
                </a:lnSpc>
              </a:pPr>
              <a:r>
                <a:rPr lang="en-US" sz="1200">
                  <a:solidFill>
                    <a:srgbClr val="BFD6E8"/>
                  </a:solidFill>
                  <a:latin typeface="Aptos"/>
                  <a:ea typeface="Aptos"/>
                  <a:cs typeface="Aptos"/>
                  <a:sym typeface="Aptos"/>
                </a:rPr>
                <a:t>DENSO Factory Hacks 2026  |  AI Kaizen Copilot — Motion Analyzer</a:t>
              </a:r>
            </a:p>
          </p:txBody>
        </p:sp>
      </p:grpSp>
      <p:graphicFrame>
        <p:nvGraphicFramePr>
          <p:cNvPr name="Table 22" id="22"/>
          <p:cNvGraphicFramePr>
            <a:graphicFrameLocks noGrp="true"/>
          </p:cNvGraphicFramePr>
          <p:nvPr/>
        </p:nvGraphicFramePr>
        <p:xfrm>
          <a:off x="800552" y="3667316"/>
          <a:ext cx="16478250" cy="4324350"/>
        </p:xfrm>
        <a:graphic>
          <a:graphicData uri="http://schemas.openxmlformats.org/drawingml/2006/table">
            <a:tbl>
              <a:tblPr/>
              <a:tblGrid>
                <a:gridCol w="7855269"/>
                <a:gridCol w="8622981"/>
              </a:tblGrid>
              <a:tr h="401913">
                <a:tc>
                  <a:txBody>
                    <a:bodyPr anchor="t" rtlCol="false"/>
                    <a:lstStyle/>
                    <a:p>
                      <a:pPr algn="l">
                        <a:lnSpc>
                          <a:spcPts val="1800"/>
                        </a:lnSpc>
                        <a:defRPr/>
                      </a:pPr>
                      <a:r>
                        <a:rPr lang="en-US" sz="1500" b="true">
                          <a:solidFill>
                            <a:srgbClr val="FFFFFF"/>
                          </a:solidFill>
                          <a:latin typeface="Aptos Bold"/>
                          <a:ea typeface="Aptos Bold"/>
                          <a:cs typeface="Aptos Bold"/>
                          <a:sym typeface="Aptos Bold"/>
                        </a:rPr>
                        <a:t>CÂU HỎI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153866"/>
                    </a:solidFill>
                  </a:tcPr>
                </a:tc>
                <a:tc>
                  <a:txBody>
                    <a:bodyPr anchor="t" rtlCol="false"/>
                    <a:lstStyle/>
                    <a:p>
                      <a:pPr algn="l">
                        <a:lnSpc>
                          <a:spcPts val="1800"/>
                        </a:lnSpc>
                        <a:defRPr/>
                      </a:pPr>
                      <a:r>
                        <a:rPr lang="en-US" sz="1500" b="true">
                          <a:solidFill>
                            <a:srgbClr val="FFFFFF"/>
                          </a:solidFill>
                          <a:latin typeface="Aptos Bold"/>
                          <a:ea typeface="Aptos Bold"/>
                          <a:cs typeface="Aptos Bold"/>
                          <a:sym typeface="Aptos Bold"/>
                        </a:rPr>
                        <a:t>TRẢ LỜI</a:t>
                      </a:r>
                      <a:endParaRPr lang="en-US" sz="1100"/>
                    </a:p>
                  </a:txBody>
                  <a:tcPr marL="91440" marR="91440" marT="91440" marB="9144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153866"/>
                    </a:solidFill>
                  </a:tcPr>
                </a:tc>
              </a:tr>
              <a:tr h="635729">
                <a:tc>
                  <a:txBody>
                    <a:bodyPr anchor="t" rtlCol="false"/>
                    <a:lstStyle/>
                    <a:p>
                      <a:pPr algn="l">
                        <a:lnSpc>
                          <a:spcPts val="2250"/>
                        </a:lnSpc>
                        <a:defRPr/>
                      </a:pPr>
                      <a:r>
                        <a:rPr lang="en-US" sz="1650">
                          <a:solidFill>
                            <a:srgbClr val="000000"/>
                          </a:solidFill>
                          <a:latin typeface="Segoe UI"/>
                          <a:ea typeface="Segoe UI"/>
                          <a:cs typeface="Segoe UI"/>
                          <a:sym typeface="Segoe UI"/>
                        </a:rPr>
                        <a:t>1. Trình bày điểm mới, đột phá so với các giải pháp truyền thống?</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Đo đồng thời Muda–Mura–Muri từ camera RGB thường; “số do code tính, LLM chỉ giải thích” với validator tự động chặn số/trích dẫn bịa; kiểm chứng kép bằng nhãn chuyên gia HA4M và cảm biến Azure Kinect.</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35729">
                <a:tc>
                  <a:txBody>
                    <a:bodyPr anchor="t" rtlCol="false"/>
                    <a:lstStyle/>
                    <a:p>
                      <a:pPr algn="l">
                        <a:lnSpc>
                          <a:spcPts val="2250"/>
                        </a:lnSpc>
                        <a:defRPr/>
                      </a:pPr>
                      <a:r>
                        <a:rPr lang="en-US" sz="1650">
                          <a:solidFill>
                            <a:srgbClr val="000000"/>
                          </a:solidFill>
                          <a:latin typeface="Segoe UI"/>
                          <a:ea typeface="Segoe UI"/>
                          <a:cs typeface="Segoe UI"/>
                          <a:sym typeface="Segoe UI"/>
                        </a:rPr>
                        <a:t>2. Ý tưởng này đang giải quyết vấn đề gì tại Denso?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Bấm giờ thủ công 2–4 giờ/trạm, phụ thuộc người đo, chỉ lấy vài chu kỳ; know-how người thợ giỏi là tri thức ngầm, mất khi nghỉ việc; lãng phí, biến động, quá tải không được đo liên tục.</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599708">
                <a:tc>
                  <a:txBody>
                    <a:bodyPr anchor="t" rtlCol="false"/>
                    <a:lstStyle/>
                    <a:p>
                      <a:pPr algn="l">
                        <a:lnSpc>
                          <a:spcPts val="2250"/>
                        </a:lnSpc>
                        <a:defRPr/>
                      </a:pPr>
                      <a:r>
                        <a:rPr lang="en-US" sz="1650">
                          <a:solidFill>
                            <a:srgbClr val="000000"/>
                          </a:solidFill>
                          <a:latin typeface="Segoe UI"/>
                          <a:ea typeface="Segoe UI"/>
                          <a:cs typeface="Segoe UI"/>
                          <a:sym typeface="Segoe UI"/>
                        </a:rPr>
                        <a:t>3. Phương pháp/công cụ áp dụng và thời gian thực hiện dự án?</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MediaPipe Pose trên CPU → lọc One Euro → zone/rule tách bước SOP → chỉ số 3M → 7 rule phát hiện → LLM (Gemini/Claude) + validator → dashboard. PoC đã chạy end-to-end; pilot 4 tuần tại 1 trạm.</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11715">
                <a:tc>
                  <a:txBody>
                    <a:bodyPr anchor="t" rtlCol="false"/>
                    <a:lstStyle/>
                    <a:p>
                      <a:pPr algn="l">
                        <a:lnSpc>
                          <a:spcPts val="2250"/>
                        </a:lnSpc>
                        <a:defRPr/>
                      </a:pPr>
                      <a:r>
                        <a:rPr lang="en-US" sz="1650">
                          <a:solidFill>
                            <a:srgbClr val="000000"/>
                          </a:solidFill>
                          <a:latin typeface="Segoe UI"/>
                          <a:ea typeface="Segoe UI"/>
                          <a:cs typeface="Segoe UI"/>
                          <a:sym typeface="Segoe UI"/>
                        </a:rPr>
                        <a:t>4. Ý tưởng này mang lại hiệu quả gì? Cho số liệu.</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HA4M U001: sai số cycle time 0.6 s/77.9 s, F1@IoU0.5 bước 0.75, MAE bước 0.62 s; cổ tay phải 95% frame lệch &lt; 50 px so với Azure Kinect; phân tích 2 chu kỳ ≈ 9 s sau khi có keypoint.</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695764">
                <a:tc>
                  <a:txBody>
                    <a:bodyPr anchor="t" rtlCol="false"/>
                    <a:lstStyle/>
                    <a:p>
                      <a:pPr algn="l">
                        <a:lnSpc>
                          <a:spcPts val="2250"/>
                        </a:lnSpc>
                        <a:defRPr/>
                      </a:pPr>
                      <a:r>
                        <a:rPr lang="en-US" sz="1650">
                          <a:solidFill>
                            <a:srgbClr val="000000"/>
                          </a:solidFill>
                          <a:latin typeface="Segoe UI"/>
                          <a:ea typeface="Segoe UI"/>
                          <a:cs typeface="Segoe UI"/>
                          <a:sym typeface="Segoe UI"/>
                        </a:rPr>
                        <a:t>5.  Khả năng mở rộng, triển khai ngang của dự án là gì (trong nội bộ Denso hoặc các nhà máy khác)?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Chỉ cần cấu hình trạm (zone + SOP) và KB riêng; mỗi lần chạy là một run có manifest để so sánh trước/sau, giữa trạm, giữa người; lưu golden cycle cho đào tạo.</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r h="743792">
                <a:tc>
                  <a:txBody>
                    <a:bodyPr anchor="t" rtlCol="false"/>
                    <a:lstStyle/>
                    <a:p>
                      <a:pPr algn="l">
                        <a:lnSpc>
                          <a:spcPts val="2250"/>
                        </a:lnSpc>
                        <a:defRPr/>
                      </a:pPr>
                      <a:r>
                        <a:rPr lang="en-US" sz="1650">
                          <a:solidFill>
                            <a:srgbClr val="000000"/>
                          </a:solidFill>
                          <a:latin typeface="Segoe UI"/>
                          <a:ea typeface="Segoe UI"/>
                          <a:cs typeface="Segoe UI"/>
                          <a:sym typeface="Segoe UI"/>
                        </a:rPr>
                        <a:t>6. Nhóm đã có những kiến thức hoặc kinh nghiệm nào giúp thực hiện giải pháp? </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c>
                  <a:txBody>
                    <a:bodyPr anchor="t" rtlCol="false"/>
                    <a:lstStyle/>
                    <a:p>
                      <a:pPr algn="l">
                        <a:lnSpc>
                          <a:spcPts val="1674"/>
                        </a:lnSpc>
                        <a:defRPr/>
                      </a:pPr>
                      <a:r>
                        <a:rPr lang="en-US" sz="1395">
                          <a:solidFill>
                            <a:srgbClr val="1F2D3D"/>
                          </a:solidFill>
                          <a:latin typeface="Aptos"/>
                          <a:ea typeface="Aptos"/>
                          <a:cs typeface="Aptos"/>
                          <a:sym typeface="Aptos"/>
                        </a:rPr>
                        <a:t>Computer vision &amp; pose, chuỗi thời gian, Lean/IE (3M, ECRS, Yamazumi), LLM có kiểm chứng, dashboard Streamlit và kiểm thử tự động (30 test).</a:t>
                      </a:r>
                      <a:endParaRPr lang="en-US" sz="1100"/>
                    </a:p>
                  </a:txBody>
                  <a:tcPr marL="91440" marR="91440" marT="91440" marB="91440" anchor="t">
                    <a:lnL cmpd="sng" algn="ctr" cap="flat" w="12700">
                      <a:solidFill>
                        <a:srgbClr val="000000"/>
                      </a:solidFill>
                      <a:prstDash val="solid"/>
                      <a:round/>
                      <a:headEnd type="none" w="med" len="med"/>
                      <a:tailEnd type="none" w="med" len="med"/>
                    </a:lnL>
                    <a:lnR cmpd="sng" algn="ctr" cap="flat" w="12700">
                      <a:solidFill>
                        <a:srgbClr val="000000"/>
                      </a:solidFill>
                      <a:prstDash val="solid"/>
                      <a:round/>
                      <a:headEnd type="none" w="med" len="med"/>
                      <a:tailEnd type="none" w="med" len="med"/>
                    </a:lnR>
                    <a:lnT cmpd="sng" algn="ctr" cap="flat" w="12700">
                      <a:solidFill>
                        <a:srgbClr val="000000"/>
                      </a:solidFill>
                      <a:prstDash val="solid"/>
                      <a:round/>
                      <a:headEnd type="none" w="med" len="med"/>
                      <a:tailEnd type="none" w="med" len="med"/>
                    </a:lnT>
                    <a:lnB cmpd="sng" algn="ctr" cap="flat" w="12700">
                      <a:solidFill>
                        <a:srgbClr val="000000"/>
                      </a:solidFill>
                      <a:prstDash val="solid"/>
                      <a:round/>
                      <a:headEnd type="none" w="med" len="med"/>
                      <a:tailEnd type="none" w="med" len="med"/>
                    </a:lnB>
                    <a:solidFill>
                      <a:srgbClr val="FFFFFF"/>
                    </a:solidFill>
                  </a:tcPr>
                </a:tc>
              </a:tr>
            </a:tbl>
          </a:graphicData>
        </a:graphic>
      </p:graphicFrame>
      <p:sp>
        <p:nvSpPr>
          <p:cNvPr name="TextBox 23" id="23"/>
          <p:cNvSpPr txBox="true"/>
          <p:nvPr/>
        </p:nvSpPr>
        <p:spPr>
          <a:xfrm rot="0">
            <a:off x="706345" y="1557223"/>
            <a:ext cx="16002000" cy="370227"/>
          </a:xfrm>
          <a:prstGeom prst="rect">
            <a:avLst/>
          </a:prstGeom>
        </p:spPr>
        <p:txBody>
          <a:bodyPr anchor="t" rtlCol="false" tIns="0" lIns="0" bIns="0" rIns="0">
            <a:spAutoFit/>
          </a:bodyPr>
          <a:lstStyle/>
          <a:p>
            <a:pPr algn="l">
              <a:lnSpc>
                <a:spcPts val="3779"/>
              </a:lnSpc>
            </a:pPr>
            <a:r>
              <a:rPr lang="en-US" sz="3150" b="true">
                <a:solidFill>
                  <a:srgbClr val="1F2D3D"/>
                </a:solidFill>
                <a:latin typeface="Aptos Bold"/>
                <a:ea typeface="Aptos Bold"/>
                <a:cs typeface="Aptos Bold"/>
                <a:sym typeface="Aptos Bold"/>
              </a:rPr>
              <a:t>TÊN CHỦ ĐỀ:  AI KAIZEN COPILOT — MOTION ANALYZER</a:t>
            </a:r>
          </a:p>
        </p:txBody>
      </p:sp>
      <p:grpSp>
        <p:nvGrpSpPr>
          <p:cNvPr name="Group 24" id="24"/>
          <p:cNvGrpSpPr/>
          <p:nvPr/>
        </p:nvGrpSpPr>
        <p:grpSpPr>
          <a:xfrm rot="0">
            <a:off x="801548" y="2314642"/>
            <a:ext cx="15019020" cy="342900"/>
            <a:chOff x="0" y="0"/>
            <a:chExt cx="20025360" cy="457200"/>
          </a:xfrm>
        </p:grpSpPr>
        <p:sp>
          <p:nvSpPr>
            <p:cNvPr name="Freeform 25" id="25"/>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5">
                <a:alphaModFix amt="0"/>
              </a:blip>
              <a:stretch>
                <a:fillRect l="0" t="-803444" r="0" b="-803444"/>
              </a:stretch>
            </a:blipFill>
          </p:spPr>
        </p:sp>
        <p:sp>
          <p:nvSpPr>
            <p:cNvPr name="TextBox 26" id="26"/>
            <p:cNvSpPr txBox="true"/>
            <p:nvPr/>
          </p:nvSpPr>
          <p:spPr>
            <a:xfrm>
              <a:off x="0" y="0"/>
              <a:ext cx="20025360" cy="457200"/>
            </a:xfrm>
            <a:prstGeom prst="rect">
              <a:avLst/>
            </a:prstGeom>
          </p:spPr>
          <p:txBody>
            <a:bodyPr anchor="ctr" rtlCol="false" tIns="0" lIns="0" bIns="0" rIns="0"/>
            <a:lstStyle/>
            <a:p>
              <a:pPr algn="l">
                <a:lnSpc>
                  <a:spcPts val="2160"/>
                </a:lnSpc>
              </a:pPr>
              <a:r>
                <a:rPr lang="en-US" sz="1800" b="true">
                  <a:solidFill>
                    <a:srgbClr val="1F2D3D"/>
                  </a:solidFill>
                  <a:latin typeface="Aptos Bold"/>
                  <a:ea typeface="Aptos Bold"/>
                  <a:cs typeface="Aptos Bold"/>
                  <a:sym typeface="Aptos Bold"/>
                </a:rPr>
                <a:t>CHỦ ĐỀ DỰ THI ĐỀ XUẤT</a:t>
              </a:r>
            </a:p>
          </p:txBody>
        </p:sp>
      </p:grpSp>
      <p:grpSp>
        <p:nvGrpSpPr>
          <p:cNvPr name="Group 27" id="27"/>
          <p:cNvGrpSpPr/>
          <p:nvPr/>
        </p:nvGrpSpPr>
        <p:grpSpPr>
          <a:xfrm rot="0">
            <a:off x="1271616" y="2809789"/>
            <a:ext cx="2383222" cy="135788"/>
            <a:chOff x="0" y="0"/>
            <a:chExt cx="3177629" cy="181051"/>
          </a:xfrm>
        </p:grpSpPr>
        <p:sp>
          <p:nvSpPr>
            <p:cNvPr name="Freeform 28" id="28"/>
            <p:cNvSpPr/>
            <p:nvPr/>
          </p:nvSpPr>
          <p:spPr>
            <a:xfrm flipH="false" flipV="false" rot="0">
              <a:off x="0" y="0"/>
              <a:ext cx="3177624" cy="181046"/>
            </a:xfrm>
            <a:custGeom>
              <a:avLst/>
              <a:gdLst/>
              <a:ahLst/>
              <a:cxnLst/>
              <a:rect r="r" b="b" t="t" l="l"/>
              <a:pathLst>
                <a:path h="181046" w="3177624">
                  <a:moveTo>
                    <a:pt x="0" y="0"/>
                  </a:moveTo>
                  <a:lnTo>
                    <a:pt x="3177624" y="0"/>
                  </a:lnTo>
                  <a:lnTo>
                    <a:pt x="3177624" y="181046"/>
                  </a:lnTo>
                  <a:lnTo>
                    <a:pt x="0" y="181046"/>
                  </a:lnTo>
                  <a:close/>
                </a:path>
              </a:pathLst>
            </a:custGeom>
            <a:blipFill>
              <a:blip r:embed="rId5">
                <a:alphaModFix amt="0"/>
              </a:blip>
              <a:stretch>
                <a:fillRect l="0" t="-291990" r="0" b="-291993"/>
              </a:stretch>
            </a:blipFill>
          </p:spPr>
        </p:sp>
        <p:sp>
          <p:nvSpPr>
            <p:cNvPr name="TextBox 29" id="29"/>
            <p:cNvSpPr txBox="true"/>
            <p:nvPr/>
          </p:nvSpPr>
          <p:spPr>
            <a:xfrm>
              <a:off x="0" y="-19050"/>
              <a:ext cx="3177629" cy="200101"/>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AI - Dự báo &amp; Tri thức</a:t>
              </a:r>
            </a:p>
          </p:txBody>
        </p:sp>
      </p:grpSp>
      <p:grpSp>
        <p:nvGrpSpPr>
          <p:cNvPr name="Group 30" id="30"/>
          <p:cNvGrpSpPr/>
          <p:nvPr/>
        </p:nvGrpSpPr>
        <p:grpSpPr>
          <a:xfrm rot="0">
            <a:off x="4256522" y="2803112"/>
            <a:ext cx="2383222" cy="135788"/>
            <a:chOff x="0" y="0"/>
            <a:chExt cx="3177629" cy="181051"/>
          </a:xfrm>
        </p:grpSpPr>
        <p:sp>
          <p:nvSpPr>
            <p:cNvPr name="Freeform 31" id="31"/>
            <p:cNvSpPr/>
            <p:nvPr/>
          </p:nvSpPr>
          <p:spPr>
            <a:xfrm flipH="false" flipV="false" rot="0">
              <a:off x="0" y="0"/>
              <a:ext cx="3177624" cy="181046"/>
            </a:xfrm>
            <a:custGeom>
              <a:avLst/>
              <a:gdLst/>
              <a:ahLst/>
              <a:cxnLst/>
              <a:rect r="r" b="b" t="t" l="l"/>
              <a:pathLst>
                <a:path h="181046" w="3177624">
                  <a:moveTo>
                    <a:pt x="0" y="0"/>
                  </a:moveTo>
                  <a:lnTo>
                    <a:pt x="3177624" y="0"/>
                  </a:lnTo>
                  <a:lnTo>
                    <a:pt x="3177624" y="181046"/>
                  </a:lnTo>
                  <a:lnTo>
                    <a:pt x="0" y="181046"/>
                  </a:lnTo>
                  <a:close/>
                </a:path>
              </a:pathLst>
            </a:custGeom>
            <a:blipFill>
              <a:blip r:embed="rId5">
                <a:alphaModFix amt="0"/>
              </a:blip>
              <a:stretch>
                <a:fillRect l="0" t="-291990" r="0" b="-291993"/>
              </a:stretch>
            </a:blipFill>
          </p:spPr>
        </p:sp>
        <p:sp>
          <p:nvSpPr>
            <p:cNvPr name="TextBox 32" id="32"/>
            <p:cNvSpPr txBox="true"/>
            <p:nvPr/>
          </p:nvSpPr>
          <p:spPr>
            <a:xfrm>
              <a:off x="0" y="-19050"/>
              <a:ext cx="3177629" cy="200101"/>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Humanoid &amp; Robot</a:t>
              </a:r>
            </a:p>
          </p:txBody>
        </p:sp>
      </p:grpSp>
      <p:grpSp>
        <p:nvGrpSpPr>
          <p:cNvPr name="Group 33" id="33"/>
          <p:cNvGrpSpPr/>
          <p:nvPr/>
        </p:nvGrpSpPr>
        <p:grpSpPr>
          <a:xfrm rot="0">
            <a:off x="7416108" y="2816398"/>
            <a:ext cx="2713983" cy="129180"/>
            <a:chOff x="0" y="0"/>
            <a:chExt cx="3609518" cy="171806"/>
          </a:xfrm>
        </p:grpSpPr>
        <p:sp>
          <p:nvSpPr>
            <p:cNvPr name="Freeform 34" id="34"/>
            <p:cNvSpPr/>
            <p:nvPr/>
          </p:nvSpPr>
          <p:spPr>
            <a:xfrm flipH="false" flipV="false" rot="0">
              <a:off x="0" y="0"/>
              <a:ext cx="3609516" cy="171800"/>
            </a:xfrm>
            <a:custGeom>
              <a:avLst/>
              <a:gdLst/>
              <a:ahLst/>
              <a:cxnLst/>
              <a:rect r="r" b="b" t="t" l="l"/>
              <a:pathLst>
                <a:path h="171800" w="3609516">
                  <a:moveTo>
                    <a:pt x="0" y="0"/>
                  </a:moveTo>
                  <a:lnTo>
                    <a:pt x="3609516" y="0"/>
                  </a:lnTo>
                  <a:lnTo>
                    <a:pt x="3609516" y="171800"/>
                  </a:lnTo>
                  <a:lnTo>
                    <a:pt x="0" y="171800"/>
                  </a:lnTo>
                  <a:close/>
                </a:path>
              </a:pathLst>
            </a:custGeom>
            <a:blipFill>
              <a:blip r:embed="rId5">
                <a:alphaModFix amt="0"/>
              </a:blip>
              <a:stretch>
                <a:fillRect l="0" t="-359378" r="0" b="-359382"/>
              </a:stretch>
            </a:blipFill>
          </p:spPr>
        </p:sp>
        <p:sp>
          <p:nvSpPr>
            <p:cNvPr name="TextBox 35" id="35"/>
            <p:cNvSpPr txBox="true"/>
            <p:nvPr/>
          </p:nvSpPr>
          <p:spPr>
            <a:xfrm>
              <a:off x="0" y="-19050"/>
              <a:ext cx="3609518" cy="190856"/>
            </a:xfrm>
            <a:prstGeom prst="rect">
              <a:avLst/>
            </a:prstGeom>
          </p:spPr>
          <p:txBody>
            <a:bodyPr anchor="ctr" rtlCol="false" tIns="0" lIns="0" bIns="0" rIns="0"/>
            <a:lstStyle/>
            <a:p>
              <a:pPr algn="l">
                <a:lnSpc>
                  <a:spcPts val="1800"/>
                </a:lnSpc>
              </a:pPr>
              <a:r>
                <a:rPr lang="en-US" sz="1500">
                  <a:solidFill>
                    <a:srgbClr val="1E293B"/>
                  </a:solidFill>
                  <a:latin typeface="Arial"/>
                  <a:ea typeface="Arial"/>
                  <a:cs typeface="Arial"/>
                  <a:sym typeface="Arial"/>
                </a:rPr>
                <a:t>Data - Chuẩn hóa &amp; Khai thác</a:t>
              </a:r>
            </a:p>
          </p:txBody>
        </p:sp>
      </p:grpSp>
      <p:grpSp>
        <p:nvGrpSpPr>
          <p:cNvPr name="Group 36" id="36"/>
          <p:cNvGrpSpPr/>
          <p:nvPr/>
        </p:nvGrpSpPr>
        <p:grpSpPr>
          <a:xfrm rot="0">
            <a:off x="956834" y="2800264"/>
            <a:ext cx="236372" cy="154838"/>
            <a:chOff x="0" y="0"/>
            <a:chExt cx="315163" cy="206451"/>
          </a:xfrm>
        </p:grpSpPr>
        <p:sp>
          <p:nvSpPr>
            <p:cNvPr name="Freeform 37" id="37"/>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38" id="38"/>
          <p:cNvGrpSpPr/>
          <p:nvPr/>
        </p:nvGrpSpPr>
        <p:grpSpPr>
          <a:xfrm rot="0">
            <a:off x="3914775" y="2793340"/>
            <a:ext cx="236372" cy="154838"/>
            <a:chOff x="0" y="0"/>
            <a:chExt cx="315163" cy="206451"/>
          </a:xfrm>
        </p:grpSpPr>
        <p:sp>
          <p:nvSpPr>
            <p:cNvPr name="Freeform 39" id="39"/>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40" id="40"/>
          <p:cNvGrpSpPr/>
          <p:nvPr/>
        </p:nvGrpSpPr>
        <p:grpSpPr>
          <a:xfrm rot="0">
            <a:off x="7115185" y="2793340"/>
            <a:ext cx="236372" cy="154838"/>
            <a:chOff x="0" y="0"/>
            <a:chExt cx="315163" cy="206451"/>
          </a:xfrm>
        </p:grpSpPr>
        <p:sp>
          <p:nvSpPr>
            <p:cNvPr name="Freeform 41" id="41"/>
            <p:cNvSpPr/>
            <p:nvPr/>
          </p:nvSpPr>
          <p:spPr>
            <a:xfrm flipH="false" flipV="false" rot="0">
              <a:off x="0" y="0"/>
              <a:ext cx="315214" cy="206502"/>
            </a:xfrm>
            <a:custGeom>
              <a:avLst/>
              <a:gdLst/>
              <a:ahLst/>
              <a:cxnLst/>
              <a:rect r="r" b="b" t="t" l="l"/>
              <a:pathLst>
                <a:path h="206502" w="315214">
                  <a:moveTo>
                    <a:pt x="0" y="0"/>
                  </a:moveTo>
                  <a:lnTo>
                    <a:pt x="315214" y="0"/>
                  </a:lnTo>
                  <a:lnTo>
                    <a:pt x="315214" y="206502"/>
                  </a:lnTo>
                  <a:lnTo>
                    <a:pt x="0" y="206502"/>
                  </a:lnTo>
                  <a:close/>
                </a:path>
              </a:pathLst>
            </a:custGeom>
            <a:solidFill>
              <a:srgbClr val="FFFFFF"/>
            </a:solidFill>
            <a:ln w="19050" cap="sq">
              <a:solidFill>
                <a:srgbClr val="000000"/>
              </a:solidFill>
              <a:prstDash val="solid"/>
              <a:miter/>
            </a:ln>
          </p:spPr>
        </p:sp>
      </p:grpSp>
      <p:grpSp>
        <p:nvGrpSpPr>
          <p:cNvPr name="Group 42" id="42"/>
          <p:cNvGrpSpPr/>
          <p:nvPr/>
        </p:nvGrpSpPr>
        <p:grpSpPr>
          <a:xfrm rot="0">
            <a:off x="429454" y="9032262"/>
            <a:ext cx="87630" cy="896874"/>
            <a:chOff x="0" y="0"/>
            <a:chExt cx="116840" cy="1195832"/>
          </a:xfrm>
        </p:grpSpPr>
        <p:sp>
          <p:nvSpPr>
            <p:cNvPr name="Freeform 43" id="43"/>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44" id="44"/>
          <p:cNvGrpSpPr/>
          <p:nvPr/>
        </p:nvGrpSpPr>
        <p:grpSpPr>
          <a:xfrm rot="0">
            <a:off x="925830" y="2763774"/>
            <a:ext cx="246888" cy="246888"/>
            <a:chOff x="0" y="0"/>
            <a:chExt cx="329184" cy="329184"/>
          </a:xfrm>
        </p:grpSpPr>
        <p:sp>
          <p:nvSpPr>
            <p:cNvPr name="Freeform 45" id="45"/>
            <p:cNvSpPr/>
            <p:nvPr/>
          </p:nvSpPr>
          <p:spPr>
            <a:xfrm flipH="false" flipV="false" rot="0">
              <a:off x="0" y="0"/>
              <a:ext cx="329184" cy="329184"/>
            </a:xfrm>
            <a:custGeom>
              <a:avLst/>
              <a:gdLst/>
              <a:ahLst/>
              <a:cxnLst/>
              <a:rect r="r" b="b" t="t" l="l"/>
              <a:pathLst>
                <a:path h="329184" w="329184">
                  <a:moveTo>
                    <a:pt x="0" y="0"/>
                  </a:moveTo>
                  <a:lnTo>
                    <a:pt x="329184" y="0"/>
                  </a:lnTo>
                  <a:lnTo>
                    <a:pt x="329184" y="329184"/>
                  </a:lnTo>
                  <a:lnTo>
                    <a:pt x="0" y="329184"/>
                  </a:lnTo>
                  <a:close/>
                </a:path>
              </a:pathLst>
            </a:custGeom>
            <a:blipFill>
              <a:blip r:embed="rId5">
                <a:alphaModFix amt="0"/>
              </a:blip>
              <a:stretch>
                <a:fillRect l="-78303" t="0" r="-78303" b="0"/>
              </a:stretch>
            </a:blipFill>
          </p:spPr>
        </p:sp>
        <p:sp>
          <p:nvSpPr>
            <p:cNvPr name="TextBox 46" id="46"/>
            <p:cNvSpPr txBox="true"/>
            <p:nvPr/>
          </p:nvSpPr>
          <p:spPr>
            <a:xfrm>
              <a:off x="0" y="-38100"/>
              <a:ext cx="329184" cy="367284"/>
            </a:xfrm>
            <a:prstGeom prst="rect">
              <a:avLst/>
            </a:prstGeom>
          </p:spPr>
          <p:txBody>
            <a:bodyPr anchor="ctr" rtlCol="false" tIns="0" lIns="0" bIns="0" rIns="0"/>
            <a:lstStyle/>
            <a:p>
              <a:pPr algn="ctr">
                <a:lnSpc>
                  <a:spcPts val="2160"/>
                </a:lnSpc>
              </a:pPr>
              <a:r>
                <a:rPr lang="en-US" sz="1800" b="true">
                  <a:solidFill>
                    <a:srgbClr val="00B96B"/>
                  </a:solidFill>
                  <a:latin typeface="Calibri (MS) Bold"/>
                  <a:ea typeface="Calibri (MS) Bold"/>
                  <a:cs typeface="Calibri (MS) Bold"/>
                  <a:sym typeface="Calibri (MS) Bold"/>
                </a:rPr>
                <a:t>✓</a:t>
              </a:r>
            </a:p>
          </p:txBody>
        </p:sp>
      </p:grpSp>
      <p:grpSp>
        <p:nvGrpSpPr>
          <p:cNvPr name="Group 47" id="47"/>
          <p:cNvGrpSpPr/>
          <p:nvPr/>
        </p:nvGrpSpPr>
        <p:grpSpPr>
          <a:xfrm rot="0">
            <a:off x="7084314" y="2763774"/>
            <a:ext cx="246888" cy="246888"/>
            <a:chOff x="0" y="0"/>
            <a:chExt cx="329184" cy="329184"/>
          </a:xfrm>
        </p:grpSpPr>
        <p:sp>
          <p:nvSpPr>
            <p:cNvPr name="Freeform 48" id="48"/>
            <p:cNvSpPr/>
            <p:nvPr/>
          </p:nvSpPr>
          <p:spPr>
            <a:xfrm flipH="false" flipV="false" rot="0">
              <a:off x="0" y="0"/>
              <a:ext cx="329184" cy="329184"/>
            </a:xfrm>
            <a:custGeom>
              <a:avLst/>
              <a:gdLst/>
              <a:ahLst/>
              <a:cxnLst/>
              <a:rect r="r" b="b" t="t" l="l"/>
              <a:pathLst>
                <a:path h="329184" w="329184">
                  <a:moveTo>
                    <a:pt x="0" y="0"/>
                  </a:moveTo>
                  <a:lnTo>
                    <a:pt x="329184" y="0"/>
                  </a:lnTo>
                  <a:lnTo>
                    <a:pt x="329184" y="329184"/>
                  </a:lnTo>
                  <a:lnTo>
                    <a:pt x="0" y="329184"/>
                  </a:lnTo>
                  <a:close/>
                </a:path>
              </a:pathLst>
            </a:custGeom>
            <a:blipFill>
              <a:blip r:embed="rId5">
                <a:alphaModFix amt="0"/>
              </a:blip>
              <a:stretch>
                <a:fillRect l="-78303" t="0" r="-78303" b="0"/>
              </a:stretch>
            </a:blipFill>
          </p:spPr>
        </p:sp>
        <p:sp>
          <p:nvSpPr>
            <p:cNvPr name="TextBox 49" id="49"/>
            <p:cNvSpPr txBox="true"/>
            <p:nvPr/>
          </p:nvSpPr>
          <p:spPr>
            <a:xfrm>
              <a:off x="0" y="-38100"/>
              <a:ext cx="329184" cy="367284"/>
            </a:xfrm>
            <a:prstGeom prst="rect">
              <a:avLst/>
            </a:prstGeom>
          </p:spPr>
          <p:txBody>
            <a:bodyPr anchor="ctr" rtlCol="false" tIns="0" lIns="0" bIns="0" rIns="0"/>
            <a:lstStyle/>
            <a:p>
              <a:pPr algn="ctr">
                <a:lnSpc>
                  <a:spcPts val="2160"/>
                </a:lnSpc>
              </a:pPr>
              <a:r>
                <a:rPr lang="en-US" sz="1800" b="true">
                  <a:solidFill>
                    <a:srgbClr val="00B96B"/>
                  </a:solidFill>
                  <a:latin typeface="Calibri (MS) Bold"/>
                  <a:ea typeface="Calibri (MS) Bold"/>
                  <a:cs typeface="Calibri (MS) Bold"/>
                  <a:sym typeface="Calibri (MS) Bold"/>
                </a:rPr>
                <a:t>✓</a:t>
              </a:r>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sp>
        <p:nvSpPr>
          <p:cNvPr name="TextBox 8" id="8"/>
          <p:cNvSpPr txBox="true"/>
          <p:nvPr/>
        </p:nvSpPr>
        <p:spPr>
          <a:xfrm rot="0">
            <a:off x="10730284" y="562346"/>
            <a:ext cx="15590520" cy="1868329"/>
          </a:xfrm>
          <a:prstGeom prst="rect">
            <a:avLst/>
          </a:prstGeom>
        </p:spPr>
        <p:txBody>
          <a:bodyPr anchor="t" rtlCol="false" tIns="0" lIns="0" bIns="0" rIns="0">
            <a:spAutoFit/>
          </a:bodyPr>
          <a:lstStyle/>
          <a:p>
            <a:pPr algn="l">
              <a:lnSpc>
                <a:spcPts val="5832"/>
              </a:lnSpc>
            </a:pPr>
            <a:r>
              <a:rPr lang="en-US" sz="5400" b="true">
                <a:solidFill>
                  <a:srgbClr val="FFFFFF"/>
                </a:solidFill>
                <a:latin typeface="Times New Roman Bold"/>
                <a:ea typeface="Times New Roman Bold"/>
                <a:cs typeface="Times New Roman Bold"/>
                <a:sym typeface="Times New Roman Bold"/>
              </a:rPr>
              <a:t>GIỚI THIỆU TEAM</a:t>
            </a:r>
          </a:p>
        </p:txBody>
      </p:sp>
      <p:grpSp>
        <p:nvGrpSpPr>
          <p:cNvPr name="Group 9" id="9"/>
          <p:cNvGrpSpPr/>
          <p:nvPr/>
        </p:nvGrpSpPr>
        <p:grpSpPr>
          <a:xfrm rot="0">
            <a:off x="334204" y="9277188"/>
            <a:ext cx="87630" cy="896874"/>
            <a:chOff x="0" y="0"/>
            <a:chExt cx="116840" cy="1195832"/>
          </a:xfrm>
        </p:grpSpPr>
        <p:sp>
          <p:nvSpPr>
            <p:cNvPr name="Freeform 10" id="10"/>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1" id="11"/>
          <p:cNvGrpSpPr/>
          <p:nvPr/>
        </p:nvGrpSpPr>
        <p:grpSpPr>
          <a:xfrm rot="0">
            <a:off x="576901" y="9410157"/>
            <a:ext cx="15019020" cy="342900"/>
            <a:chOff x="0" y="0"/>
            <a:chExt cx="20025360" cy="457200"/>
          </a:xfrm>
        </p:grpSpPr>
        <p:sp>
          <p:nvSpPr>
            <p:cNvPr name="Freeform 12" id="12"/>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sp>
        <p:sp>
          <p:nvSpPr>
            <p:cNvPr name="TextBox 13" id="13"/>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NĂNG LỰC TRIỂN KHAI</a:t>
              </a:r>
            </a:p>
          </p:txBody>
        </p:sp>
      </p:grpSp>
      <p:grpSp>
        <p:nvGrpSpPr>
          <p:cNvPr name="Group 14" id="14"/>
          <p:cNvGrpSpPr/>
          <p:nvPr/>
        </p:nvGrpSpPr>
        <p:grpSpPr>
          <a:xfrm rot="0">
            <a:off x="576901" y="9890217"/>
            <a:ext cx="15019020" cy="164592"/>
            <a:chOff x="0" y="0"/>
            <a:chExt cx="20025360" cy="219456"/>
          </a:xfrm>
        </p:grpSpPr>
        <p:sp>
          <p:nvSpPr>
            <p:cNvPr name="Freeform 15" id="15"/>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6" id="16"/>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Nhóm trưởng Trịnh Gia Huy điều phối kỹ thuật và trình bày; các mảng do cả đội cùng xây dựng.</a:t>
              </a:r>
            </a:p>
          </p:txBody>
        </p:sp>
      </p:grpSp>
      <p:grpSp>
        <p:nvGrpSpPr>
          <p:cNvPr name="Group 50" id="50"/>
          <p:cNvGrpSpPr/>
          <p:nvPr/>
        </p:nvGrpSpPr>
        <p:grpSpPr>
          <a:xfrm rot="0">
            <a:off x="3497580" y="8462772"/>
            <a:ext cx="11247120" cy="493776"/>
            <a:chOff x="0" y="0"/>
            <a:chExt cx="14996160" cy="658368"/>
          </a:xfrm>
        </p:grpSpPr>
        <p:sp>
          <p:nvSpPr>
            <p:cNvPr name="Freeform 51" id="51"/>
            <p:cNvSpPr/>
            <p:nvPr/>
          </p:nvSpPr>
          <p:spPr>
            <a:xfrm flipH="false" flipV="false" rot="0">
              <a:off x="0" y="0"/>
              <a:ext cx="14996161" cy="658368"/>
            </a:xfrm>
            <a:custGeom>
              <a:avLst/>
              <a:gdLst/>
              <a:ahLst/>
              <a:cxnLst/>
              <a:rect r="r" b="b" t="t" l="l"/>
              <a:pathLst>
                <a:path h="658368" w="14996161">
                  <a:moveTo>
                    <a:pt x="0" y="109728"/>
                  </a:moveTo>
                  <a:cubicBezTo>
                    <a:pt x="0" y="49149"/>
                    <a:pt x="49149" y="0"/>
                    <a:pt x="109728" y="0"/>
                  </a:cubicBezTo>
                  <a:lnTo>
                    <a:pt x="14886432" y="0"/>
                  </a:lnTo>
                  <a:cubicBezTo>
                    <a:pt x="14947012" y="0"/>
                    <a:pt x="14996161" y="49149"/>
                    <a:pt x="14996161" y="109728"/>
                  </a:cubicBezTo>
                  <a:lnTo>
                    <a:pt x="14996161" y="548640"/>
                  </a:lnTo>
                  <a:cubicBezTo>
                    <a:pt x="14996161" y="609219"/>
                    <a:pt x="14947012" y="658368"/>
                    <a:pt x="14886432" y="658368"/>
                  </a:cubicBezTo>
                  <a:lnTo>
                    <a:pt x="109728" y="658368"/>
                  </a:lnTo>
                  <a:cubicBezTo>
                    <a:pt x="49149" y="658368"/>
                    <a:pt x="0" y="609219"/>
                    <a:pt x="0" y="548640"/>
                  </a:cubicBezTo>
                  <a:close/>
                </a:path>
              </a:pathLst>
            </a:custGeom>
            <a:solidFill>
              <a:srgbClr val="E9F8F0"/>
            </a:solidFill>
          </p:spPr>
        </p:sp>
      </p:grpSp>
      <p:grpSp>
        <p:nvGrpSpPr>
          <p:cNvPr name="Group 52" id="52"/>
          <p:cNvGrpSpPr/>
          <p:nvPr/>
        </p:nvGrpSpPr>
        <p:grpSpPr>
          <a:xfrm rot="0">
            <a:off x="3552444" y="8483346"/>
            <a:ext cx="11137392" cy="452628"/>
            <a:chOff x="0" y="0"/>
            <a:chExt cx="14849856" cy="603504"/>
          </a:xfrm>
        </p:grpSpPr>
        <p:sp>
          <p:nvSpPr>
            <p:cNvPr name="Freeform 53" id="53"/>
            <p:cNvSpPr/>
            <p:nvPr/>
          </p:nvSpPr>
          <p:spPr>
            <a:xfrm flipH="false" flipV="false" rot="0">
              <a:off x="0" y="0"/>
              <a:ext cx="14849855" cy="603502"/>
            </a:xfrm>
            <a:custGeom>
              <a:avLst/>
              <a:gdLst/>
              <a:ahLst/>
              <a:cxnLst/>
              <a:rect r="r" b="b" t="t" l="l"/>
              <a:pathLst>
                <a:path h="603502" w="14849855">
                  <a:moveTo>
                    <a:pt x="0" y="0"/>
                  </a:moveTo>
                  <a:lnTo>
                    <a:pt x="14849855" y="0"/>
                  </a:lnTo>
                  <a:lnTo>
                    <a:pt x="14849855" y="603502"/>
                  </a:lnTo>
                  <a:lnTo>
                    <a:pt x="0" y="603502"/>
                  </a:lnTo>
                  <a:close/>
                </a:path>
              </a:pathLst>
            </a:custGeom>
            <a:blipFill>
              <a:blip r:embed="rId4">
                <a:alphaModFix amt="0"/>
              </a:blip>
              <a:stretch>
                <a:fillRect l="0" t="-429451" r="0" b="-429451"/>
              </a:stretch>
            </a:blipFill>
          </p:spPr>
          <p:txBody>
            <a:bodyPr/>
            <a:p/>
          </p:txBody>
        </p:sp>
        <p:sp>
          <p:nvSpPr>
            <p:cNvPr name="TextBox 54" id="54"/>
            <p:cNvSpPr txBox="true"/>
            <p:nvPr/>
          </p:nvSpPr>
          <p:spPr>
            <a:xfrm>
              <a:off x="0" y="0"/>
              <a:ext cx="14849856" cy="603504"/>
            </a:xfrm>
            <a:prstGeom prst="rect">
              <a:avLst/>
            </a:prstGeom>
          </p:spPr>
          <p:txBody>
            <a:bodyPr anchor="ctr" rtlCol="false" tIns="0" lIns="0" bIns="0" rIns="0"/>
            <a:lstStyle/>
            <a:p>
              <a:pPr algn="ctr">
                <a:lnSpc>
                  <a:spcPts val="1800"/>
                </a:lnSpc>
              </a:pPr>
              <a:r>
                <a:rPr lang="en-US" sz="1500" b="true">
                  <a:solidFill>
                    <a:srgbClr val="153866"/>
                  </a:solidFill>
                  <a:latin typeface="Aptos Bold"/>
                  <a:ea typeface="Aptos Bold"/>
                  <a:cs typeface="Aptos Bold"/>
                  <a:sym typeface="Aptos Bold"/>
                </a:rPr>
                <a:t>PHỐI HỢP: CV &amp; MOTION  •  KAIZEN METRICS  •  LLM + VALIDATOR  •  DASHBOARD &amp; ĐÁNH GIÁ</a:t>
              </a:r>
            </a:p>
          </p:txBody>
        </p:sp>
      </p:grpSp>
      <p:sp>
        <p:nvSpPr>
          <p:cNvPr id="55" name="Rounded Rectangle 54"/>
          <p:cNvSpPr/>
          <p:nvPr/>
        </p:nvSpPr>
        <p:spPr>
          <a:xfrm>
            <a:off x="777240" y="2240280"/>
            <a:ext cx="3977639" cy="2971800"/>
          </a:xfrm>
          <a:prstGeom prst="roundRect">
            <a:avLst>
              <a:gd name="adj" fmla="val 5538"/>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171700" y="2514600"/>
            <a:ext cx="1188720" cy="1188720"/>
          </a:xfrm>
          <a:prstGeom prst="ellipse">
            <a:avLst/>
          </a:prstGeom>
          <a:solidFill>
            <a:srgbClr val="1538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Aptos Bold"/>
              </a:rPr>
              <a:t>TH</a:t>
            </a:r>
          </a:p>
        </p:txBody>
      </p:sp>
      <p:sp>
        <p:nvSpPr>
          <p:cNvPr id="57" name="TextBox 56"/>
          <p:cNvSpPr txBox="1"/>
          <p:nvPr/>
        </p:nvSpPr>
        <p:spPr>
          <a:xfrm>
            <a:off x="960120" y="3886200"/>
            <a:ext cx="3611879" cy="457200"/>
          </a:xfrm>
          <a:prstGeom prst="rect">
            <a:avLst/>
          </a:prstGeom>
          <a:noFill/>
        </p:spPr>
        <p:txBody>
          <a:bodyPr wrap="square" lIns="0" rIns="0" tIns="0" bIns="0" anchor="t">
            <a:spAutoFit/>
          </a:bodyPr>
          <a:lstStyle/>
          <a:p>
            <a:pPr algn="ctr">
              <a:lnSpc>
                <a:spcPct val="112000"/>
              </a:lnSpc>
              <a:spcAft>
                <a:spcPts val="400"/>
              </a:spcAft>
            </a:pPr>
            <a:r>
              <a:rPr sz="2300" b="1">
                <a:solidFill>
                  <a:srgbClr val="153866"/>
                </a:solidFill>
                <a:latin typeface="Aptos Bold"/>
              </a:rPr>
              <a:t>Trịnh Gia Huy</a:t>
            </a:r>
          </a:p>
        </p:txBody>
      </p:sp>
      <p:sp>
        <p:nvSpPr>
          <p:cNvPr id="58" name="Rounded Rectangle 57"/>
          <p:cNvSpPr/>
          <p:nvPr/>
        </p:nvSpPr>
        <p:spPr>
          <a:xfrm>
            <a:off x="1851660" y="4526280"/>
            <a:ext cx="1828800" cy="411480"/>
          </a:xfrm>
          <a:prstGeom prst="roundRect">
            <a:avLst>
              <a:gd name="adj" fmla="val 50000"/>
            </a:avLst>
          </a:prstGeom>
          <a:solidFill>
            <a:srgbClr val="E9F8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0B96B"/>
                </a:solidFill>
                <a:latin typeface="Aptos Bold"/>
              </a:rPr>
              <a:t>Nhóm trưởng</a:t>
            </a:r>
          </a:p>
        </p:txBody>
      </p:sp>
      <p:sp>
        <p:nvSpPr>
          <p:cNvPr id="59" name="Rounded Rectangle 58"/>
          <p:cNvSpPr/>
          <p:nvPr/>
        </p:nvSpPr>
        <p:spPr>
          <a:xfrm>
            <a:off x="5047488" y="2240280"/>
            <a:ext cx="3977639" cy="2971800"/>
          </a:xfrm>
          <a:prstGeom prst="roundRect">
            <a:avLst>
              <a:gd name="adj" fmla="val 5538"/>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441947" y="2514600"/>
            <a:ext cx="1188720" cy="118872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Aptos Bold"/>
              </a:rPr>
              <a:t>VM</a:t>
            </a:r>
          </a:p>
        </p:txBody>
      </p:sp>
      <p:sp>
        <p:nvSpPr>
          <p:cNvPr id="61" name="TextBox 60"/>
          <p:cNvSpPr txBox="1"/>
          <p:nvPr/>
        </p:nvSpPr>
        <p:spPr>
          <a:xfrm>
            <a:off x="5230368" y="3886200"/>
            <a:ext cx="3611879" cy="457200"/>
          </a:xfrm>
          <a:prstGeom prst="rect">
            <a:avLst/>
          </a:prstGeom>
          <a:noFill/>
        </p:spPr>
        <p:txBody>
          <a:bodyPr wrap="square" lIns="0" rIns="0" tIns="0" bIns="0" anchor="t">
            <a:spAutoFit/>
          </a:bodyPr>
          <a:lstStyle/>
          <a:p>
            <a:pPr algn="ctr">
              <a:lnSpc>
                <a:spcPct val="112000"/>
              </a:lnSpc>
              <a:spcAft>
                <a:spcPts val="400"/>
              </a:spcAft>
            </a:pPr>
            <a:r>
              <a:rPr sz="2300" b="1">
                <a:solidFill>
                  <a:srgbClr val="153866"/>
                </a:solidFill>
                <a:latin typeface="Aptos Bold"/>
              </a:rPr>
              <a:t>Vũ Văn Mạnh</a:t>
            </a:r>
          </a:p>
        </p:txBody>
      </p:sp>
      <p:sp>
        <p:nvSpPr>
          <p:cNvPr id="62" name="Rounded Rectangle 61"/>
          <p:cNvSpPr/>
          <p:nvPr/>
        </p:nvSpPr>
        <p:spPr>
          <a:xfrm>
            <a:off x="6121907" y="4526280"/>
            <a:ext cx="1828800" cy="411480"/>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65A8"/>
                </a:solidFill>
                <a:latin typeface="Aptos Bold"/>
              </a:rPr>
              <a:t>Thành viên</a:t>
            </a:r>
          </a:p>
        </p:txBody>
      </p:sp>
      <p:sp>
        <p:nvSpPr>
          <p:cNvPr id="63" name="Rounded Rectangle 62"/>
          <p:cNvSpPr/>
          <p:nvPr/>
        </p:nvSpPr>
        <p:spPr>
          <a:xfrm>
            <a:off x="9317736" y="2240280"/>
            <a:ext cx="3977639" cy="2971800"/>
          </a:xfrm>
          <a:prstGeom prst="roundRect">
            <a:avLst>
              <a:gd name="adj" fmla="val 5538"/>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10712195" y="2514600"/>
            <a:ext cx="1188720" cy="118872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Aptos Bold"/>
              </a:rPr>
              <a:t>NQ</a:t>
            </a:r>
          </a:p>
        </p:txBody>
      </p:sp>
      <p:sp>
        <p:nvSpPr>
          <p:cNvPr id="65" name="TextBox 64"/>
          <p:cNvSpPr txBox="1"/>
          <p:nvPr/>
        </p:nvSpPr>
        <p:spPr>
          <a:xfrm>
            <a:off x="9500615" y="3886200"/>
            <a:ext cx="3611879" cy="457200"/>
          </a:xfrm>
          <a:prstGeom prst="rect">
            <a:avLst/>
          </a:prstGeom>
          <a:noFill/>
        </p:spPr>
        <p:txBody>
          <a:bodyPr wrap="square" lIns="0" rIns="0" tIns="0" bIns="0" anchor="t">
            <a:spAutoFit/>
          </a:bodyPr>
          <a:lstStyle/>
          <a:p>
            <a:pPr algn="ctr">
              <a:lnSpc>
                <a:spcPct val="112000"/>
              </a:lnSpc>
              <a:spcAft>
                <a:spcPts val="400"/>
              </a:spcAft>
            </a:pPr>
            <a:r>
              <a:rPr sz="2300" b="1">
                <a:solidFill>
                  <a:srgbClr val="153866"/>
                </a:solidFill>
                <a:latin typeface="Aptos Bold"/>
              </a:rPr>
              <a:t>Nguyễn Trần Quang</a:t>
            </a:r>
          </a:p>
        </p:txBody>
      </p:sp>
      <p:sp>
        <p:nvSpPr>
          <p:cNvPr id="66" name="Rounded Rectangle 65"/>
          <p:cNvSpPr/>
          <p:nvPr/>
        </p:nvSpPr>
        <p:spPr>
          <a:xfrm>
            <a:off x="10392155" y="4526280"/>
            <a:ext cx="1828800" cy="411480"/>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65A8"/>
                </a:solidFill>
                <a:latin typeface="Aptos Bold"/>
              </a:rPr>
              <a:t>Thành viên</a:t>
            </a:r>
          </a:p>
        </p:txBody>
      </p:sp>
      <p:sp>
        <p:nvSpPr>
          <p:cNvPr id="67" name="Rounded Rectangle 66"/>
          <p:cNvSpPr/>
          <p:nvPr/>
        </p:nvSpPr>
        <p:spPr>
          <a:xfrm>
            <a:off x="13587984" y="2240280"/>
            <a:ext cx="3977639" cy="2971800"/>
          </a:xfrm>
          <a:prstGeom prst="roundRect">
            <a:avLst>
              <a:gd name="adj" fmla="val 5538"/>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4982444" y="2514600"/>
            <a:ext cx="1188720" cy="118872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Aptos Bold"/>
              </a:rPr>
              <a:t>TN</a:t>
            </a:r>
          </a:p>
        </p:txBody>
      </p:sp>
      <p:sp>
        <p:nvSpPr>
          <p:cNvPr id="69" name="TextBox 68"/>
          <p:cNvSpPr txBox="1"/>
          <p:nvPr/>
        </p:nvSpPr>
        <p:spPr>
          <a:xfrm>
            <a:off x="13770863" y="3886200"/>
            <a:ext cx="3611879" cy="457200"/>
          </a:xfrm>
          <a:prstGeom prst="rect">
            <a:avLst/>
          </a:prstGeom>
          <a:noFill/>
        </p:spPr>
        <p:txBody>
          <a:bodyPr wrap="square" lIns="0" rIns="0" tIns="0" bIns="0" anchor="t">
            <a:spAutoFit/>
          </a:bodyPr>
          <a:lstStyle/>
          <a:p>
            <a:pPr algn="ctr">
              <a:lnSpc>
                <a:spcPct val="112000"/>
              </a:lnSpc>
              <a:spcAft>
                <a:spcPts val="400"/>
              </a:spcAft>
            </a:pPr>
            <a:r>
              <a:rPr sz="2300" b="1">
                <a:solidFill>
                  <a:srgbClr val="153866"/>
                </a:solidFill>
                <a:latin typeface="Aptos Bold"/>
              </a:rPr>
              <a:t>Trịnh Hoài Nam</a:t>
            </a:r>
          </a:p>
        </p:txBody>
      </p:sp>
      <p:sp>
        <p:nvSpPr>
          <p:cNvPr id="70" name="Rounded Rectangle 69"/>
          <p:cNvSpPr/>
          <p:nvPr/>
        </p:nvSpPr>
        <p:spPr>
          <a:xfrm>
            <a:off x="14662404" y="4526280"/>
            <a:ext cx="1828800" cy="411480"/>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65A8"/>
                </a:solidFill>
                <a:latin typeface="Aptos Bold"/>
              </a:rPr>
              <a:t>Thành viên</a:t>
            </a:r>
          </a:p>
        </p:txBody>
      </p:sp>
      <p:sp>
        <p:nvSpPr>
          <p:cNvPr id="71" name="TextBox 70"/>
          <p:cNvSpPr txBox="1"/>
          <p:nvPr/>
        </p:nvSpPr>
        <p:spPr>
          <a:xfrm>
            <a:off x="777240" y="5532120"/>
            <a:ext cx="16733520" cy="457200"/>
          </a:xfrm>
          <a:prstGeom prst="rect">
            <a:avLst/>
          </a:prstGeom>
          <a:noFill/>
        </p:spPr>
        <p:txBody>
          <a:bodyPr wrap="square" lIns="0" rIns="0" tIns="0" bIns="0" anchor="t">
            <a:spAutoFit/>
          </a:bodyPr>
          <a:lstStyle/>
          <a:p>
            <a:pPr algn="l">
              <a:lnSpc>
                <a:spcPct val="112000"/>
              </a:lnSpc>
              <a:spcAft>
                <a:spcPts val="400"/>
              </a:spcAft>
            </a:pPr>
            <a:r>
              <a:rPr sz="2000" b="1">
                <a:solidFill>
                  <a:srgbClr val="153866"/>
                </a:solidFill>
                <a:latin typeface="Aptos Bold"/>
              </a:rPr>
              <a:t>Các mảng đội đã xây dựng trong PoC</a:t>
            </a:r>
          </a:p>
        </p:txBody>
      </p:sp>
      <p:sp>
        <p:nvSpPr>
          <p:cNvPr id="72" name="Rounded Rectangle 71"/>
          <p:cNvSpPr/>
          <p:nvPr/>
        </p:nvSpPr>
        <p:spPr>
          <a:xfrm>
            <a:off x="777240" y="6080760"/>
            <a:ext cx="3977639" cy="1554480"/>
          </a:xfrm>
          <a:prstGeom prst="roundRect">
            <a:avLst>
              <a:gd name="adj" fmla="val 1058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05840" y="6263640"/>
            <a:ext cx="3520439" cy="411480"/>
          </a:xfrm>
          <a:prstGeom prst="rect">
            <a:avLst/>
          </a:prstGeom>
          <a:noFill/>
        </p:spPr>
        <p:txBody>
          <a:bodyPr wrap="square" lIns="0" rIns="0" tIns="0" bIns="0" anchor="t">
            <a:spAutoFit/>
          </a:bodyPr>
          <a:lstStyle/>
          <a:p>
            <a:pPr algn="l">
              <a:lnSpc>
                <a:spcPct val="112000"/>
              </a:lnSpc>
              <a:spcAft>
                <a:spcPts val="400"/>
              </a:spcAft>
            </a:pPr>
            <a:r>
              <a:rPr sz="1700" b="1">
                <a:solidFill>
                  <a:srgbClr val="1265A8"/>
                </a:solidFill>
                <a:latin typeface="Aptos Bold"/>
              </a:rPr>
              <a:t>Computer Vision &amp; Motion</a:t>
            </a:r>
          </a:p>
        </p:txBody>
      </p:sp>
      <p:sp>
        <p:nvSpPr>
          <p:cNvPr id="74" name="TextBox 73"/>
          <p:cNvSpPr txBox="1"/>
          <p:nvPr/>
        </p:nvSpPr>
        <p:spPr>
          <a:xfrm>
            <a:off x="1005840" y="6720840"/>
            <a:ext cx="3520439" cy="1005840"/>
          </a:xfrm>
          <a:prstGeom prst="rect">
            <a:avLst/>
          </a:prstGeom>
          <a:noFill/>
        </p:spPr>
        <p:txBody>
          <a:bodyPr wrap="square" lIns="0" rIns="0" tIns="0" bIns="0" anchor="t">
            <a:spAutoFit/>
          </a:bodyPr>
          <a:lstStyle/>
          <a:p>
            <a:pPr algn="l">
              <a:lnSpc>
                <a:spcPct val="112000"/>
              </a:lnSpc>
              <a:spcAft>
                <a:spcPts val="400"/>
              </a:spcAft>
            </a:pPr>
            <a:r>
              <a:rPr sz="1450" b="0">
                <a:solidFill>
                  <a:srgbClr val="1F2D3D"/>
                </a:solidFill>
                <a:latin typeface="Aptos"/>
              </a:rPr>
              <a:t>Trích keypoint MediaPipe, lọc nhiễu, zone, sự kiện thao tác</a:t>
            </a:r>
          </a:p>
        </p:txBody>
      </p:sp>
      <p:sp>
        <p:nvSpPr>
          <p:cNvPr id="75" name="Rounded Rectangle 74"/>
          <p:cNvSpPr/>
          <p:nvPr/>
        </p:nvSpPr>
        <p:spPr>
          <a:xfrm>
            <a:off x="5047488" y="6080760"/>
            <a:ext cx="3977639" cy="1554480"/>
          </a:xfrm>
          <a:prstGeom prst="roundRect">
            <a:avLst>
              <a:gd name="adj" fmla="val 1058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276088" y="6263640"/>
            <a:ext cx="3520439" cy="411480"/>
          </a:xfrm>
          <a:prstGeom prst="rect">
            <a:avLst/>
          </a:prstGeom>
          <a:noFill/>
        </p:spPr>
        <p:txBody>
          <a:bodyPr wrap="square" lIns="0" rIns="0" tIns="0" bIns="0" anchor="t">
            <a:spAutoFit/>
          </a:bodyPr>
          <a:lstStyle/>
          <a:p>
            <a:pPr algn="l">
              <a:lnSpc>
                <a:spcPct val="112000"/>
              </a:lnSpc>
              <a:spcAft>
                <a:spcPts val="400"/>
              </a:spcAft>
            </a:pPr>
            <a:r>
              <a:rPr sz="1700" b="1">
                <a:solidFill>
                  <a:srgbClr val="1265A8"/>
                </a:solidFill>
                <a:latin typeface="Aptos Bold"/>
              </a:rPr>
              <a:t>Kaizen Metrics &amp; Rules</a:t>
            </a:r>
          </a:p>
        </p:txBody>
      </p:sp>
      <p:sp>
        <p:nvSpPr>
          <p:cNvPr id="77" name="TextBox 76"/>
          <p:cNvSpPr txBox="1"/>
          <p:nvPr/>
        </p:nvSpPr>
        <p:spPr>
          <a:xfrm>
            <a:off x="5276088" y="6720840"/>
            <a:ext cx="3520439" cy="1005840"/>
          </a:xfrm>
          <a:prstGeom prst="rect">
            <a:avLst/>
          </a:prstGeom>
          <a:noFill/>
        </p:spPr>
        <p:txBody>
          <a:bodyPr wrap="square" lIns="0" rIns="0" tIns="0" bIns="0" anchor="t">
            <a:spAutoFit/>
          </a:bodyPr>
          <a:lstStyle/>
          <a:p>
            <a:pPr algn="l">
              <a:lnSpc>
                <a:spcPct val="112000"/>
              </a:lnSpc>
              <a:spcAft>
                <a:spcPts val="400"/>
              </a:spcAft>
            </a:pPr>
            <a:r>
              <a:rPr sz="1450" b="0">
                <a:solidFill>
                  <a:srgbClr val="1F2D3D"/>
                </a:solidFill>
                <a:latin typeface="Aptos"/>
              </a:rPr>
              <a:t>Phân đoạn bước SOP, chỉ số Muda/Mura/Muri, 7 rule phát hiện</a:t>
            </a:r>
          </a:p>
        </p:txBody>
      </p:sp>
      <p:sp>
        <p:nvSpPr>
          <p:cNvPr id="78" name="Rounded Rectangle 77"/>
          <p:cNvSpPr/>
          <p:nvPr/>
        </p:nvSpPr>
        <p:spPr>
          <a:xfrm>
            <a:off x="9317736" y="6080760"/>
            <a:ext cx="3977639" cy="1554480"/>
          </a:xfrm>
          <a:prstGeom prst="roundRect">
            <a:avLst>
              <a:gd name="adj" fmla="val 1058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546336" y="6263640"/>
            <a:ext cx="3520439" cy="411480"/>
          </a:xfrm>
          <a:prstGeom prst="rect">
            <a:avLst/>
          </a:prstGeom>
          <a:noFill/>
        </p:spPr>
        <p:txBody>
          <a:bodyPr wrap="square" lIns="0" rIns="0" tIns="0" bIns="0" anchor="t">
            <a:spAutoFit/>
          </a:bodyPr>
          <a:lstStyle/>
          <a:p>
            <a:pPr algn="l">
              <a:lnSpc>
                <a:spcPct val="112000"/>
              </a:lnSpc>
              <a:spcAft>
                <a:spcPts val="400"/>
              </a:spcAft>
            </a:pPr>
            <a:r>
              <a:rPr sz="1700" b="1">
                <a:solidFill>
                  <a:srgbClr val="1265A8"/>
                </a:solidFill>
                <a:latin typeface="Aptos Bold"/>
              </a:rPr>
              <a:t>LLM Copilot &amp; Validator</a:t>
            </a:r>
          </a:p>
        </p:txBody>
      </p:sp>
      <p:sp>
        <p:nvSpPr>
          <p:cNvPr id="80" name="TextBox 79"/>
          <p:cNvSpPr txBox="1"/>
          <p:nvPr/>
        </p:nvSpPr>
        <p:spPr>
          <a:xfrm>
            <a:off x="9546336" y="6720840"/>
            <a:ext cx="3520439" cy="1005840"/>
          </a:xfrm>
          <a:prstGeom prst="rect">
            <a:avLst/>
          </a:prstGeom>
          <a:noFill/>
        </p:spPr>
        <p:txBody>
          <a:bodyPr wrap="square" lIns="0" rIns="0" tIns="0" bIns="0" anchor="t">
            <a:spAutoFit/>
          </a:bodyPr>
          <a:lstStyle/>
          <a:p>
            <a:pPr algn="l">
              <a:lnSpc>
                <a:spcPct val="112000"/>
              </a:lnSpc>
              <a:spcAft>
                <a:spcPts val="400"/>
              </a:spcAft>
            </a:pPr>
            <a:r>
              <a:rPr sz="1450" b="0">
                <a:solidFill>
                  <a:srgbClr val="1F2D3D"/>
                </a:solidFill>
                <a:latin typeface="Aptos"/>
              </a:rPr>
              <a:t>Giải thích có trích dẫn KB/SOP, chặn số bịa, retry có phản hồi</a:t>
            </a:r>
          </a:p>
        </p:txBody>
      </p:sp>
      <p:sp>
        <p:nvSpPr>
          <p:cNvPr id="81" name="Rounded Rectangle 80"/>
          <p:cNvSpPr/>
          <p:nvPr/>
        </p:nvSpPr>
        <p:spPr>
          <a:xfrm>
            <a:off x="13587984" y="6080760"/>
            <a:ext cx="3977639" cy="1554480"/>
          </a:xfrm>
          <a:prstGeom prst="roundRect">
            <a:avLst>
              <a:gd name="adj" fmla="val 1058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3816584" y="6263640"/>
            <a:ext cx="3520439" cy="411480"/>
          </a:xfrm>
          <a:prstGeom prst="rect">
            <a:avLst/>
          </a:prstGeom>
          <a:noFill/>
        </p:spPr>
        <p:txBody>
          <a:bodyPr wrap="square" lIns="0" rIns="0" tIns="0" bIns="0" anchor="t">
            <a:spAutoFit/>
          </a:bodyPr>
          <a:lstStyle/>
          <a:p>
            <a:pPr algn="l">
              <a:lnSpc>
                <a:spcPct val="112000"/>
              </a:lnSpc>
              <a:spcAft>
                <a:spcPts val="400"/>
              </a:spcAft>
            </a:pPr>
            <a:r>
              <a:rPr sz="1700" b="1">
                <a:solidFill>
                  <a:srgbClr val="1265A8"/>
                </a:solidFill>
                <a:latin typeface="Aptos Bold"/>
              </a:rPr>
              <a:t>Dashboard &amp; Đánh giá</a:t>
            </a:r>
          </a:p>
        </p:txBody>
      </p:sp>
      <p:sp>
        <p:nvSpPr>
          <p:cNvPr id="83" name="TextBox 82"/>
          <p:cNvSpPr txBox="1"/>
          <p:nvPr/>
        </p:nvSpPr>
        <p:spPr>
          <a:xfrm>
            <a:off x="13816584" y="6720840"/>
            <a:ext cx="3520439" cy="1005840"/>
          </a:xfrm>
          <a:prstGeom prst="rect">
            <a:avLst/>
          </a:prstGeom>
          <a:noFill/>
        </p:spPr>
        <p:txBody>
          <a:bodyPr wrap="square" lIns="0" rIns="0" tIns="0" bIns="0" anchor="t">
            <a:spAutoFit/>
          </a:bodyPr>
          <a:lstStyle/>
          <a:p>
            <a:pPr algn="l">
              <a:lnSpc>
                <a:spcPct val="112000"/>
              </a:lnSpc>
              <a:spcAft>
                <a:spcPts val="400"/>
              </a:spcAft>
            </a:pPr>
            <a:r>
              <a:rPr sz="1450" b="0">
                <a:solidFill>
                  <a:srgbClr val="1F2D3D"/>
                </a:solidFill>
                <a:latin typeface="Aptos"/>
              </a:rPr>
              <a:t>Streamlit 8 tab, video overlay, so sánh run, 30 test tự động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BỐI CẢNH</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Thời gian bấm giờ 2–4 giờ/trạm là ước tính từ thực tế IE, cần xác nhận tại DENSO.</a:t>
              </a:r>
            </a:p>
          </p:txBody>
        </p:sp>
      </p:grpSp>
      <p:sp>
        <p:nvSpPr>
          <p:cNvPr name="TextBox 16" id="16"/>
          <p:cNvSpPr txBox="true"/>
          <p:nvPr/>
        </p:nvSpPr>
        <p:spPr>
          <a:xfrm rot="0">
            <a:off x="9706527" y="463810"/>
            <a:ext cx="8310696" cy="1236964"/>
          </a:xfrm>
          <a:prstGeom prst="rect">
            <a:avLst/>
          </a:prstGeom>
        </p:spPr>
        <p:txBody>
          <a:bodyPr anchor="t" rtlCol="false" tIns="0" lIns="0" bIns="0" rIns="0">
            <a:spAutoFit/>
          </a:bodyPr>
          <a:lstStyle/>
          <a:p>
            <a:pPr algn="l">
              <a:lnSpc>
                <a:spcPts val="4536"/>
              </a:lnSpc>
            </a:pPr>
            <a:r>
              <a:rPr lang="en-US" sz="4200" b="true">
                <a:solidFill>
                  <a:srgbClr val="FFFFFF"/>
                </a:solidFill>
                <a:latin typeface="Aptos Bold"/>
                <a:ea typeface="Aptos Bold"/>
                <a:cs typeface="Aptos Bold"/>
                <a:sym typeface="Aptos Bold"/>
              </a:rPr>
              <a:t>BÀI TOÁN TẠI LINE</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Know-how thao tác của người thợ giỏi chưa được đo, chưa được lưu và khó chuyển giao.</a:t>
            </a:r>
          </a:p>
        </p:txBody>
      </p:sp>
      <p:grpSp>
        <p:nvGrpSpPr>
          <p:cNvPr name="Group 18" id="18"/>
          <p:cNvGrpSpPr/>
          <p:nvPr/>
        </p:nvGrpSpPr>
        <p:grpSpPr>
          <a:xfrm rot="0">
            <a:off x="787908" y="2708148"/>
            <a:ext cx="5323332" cy="5021580"/>
            <a:chOff x="0" y="0"/>
            <a:chExt cx="7097776" cy="6695440"/>
          </a:xfrm>
        </p:grpSpPr>
        <p:sp>
          <p:nvSpPr>
            <p:cNvPr name="Freeform 19" id="19"/>
            <p:cNvSpPr/>
            <p:nvPr/>
          </p:nvSpPr>
          <p:spPr>
            <a:xfrm flipH="false" flipV="false" rot="0">
              <a:off x="0" y="0"/>
              <a:ext cx="7097776" cy="6695440"/>
            </a:xfrm>
            <a:custGeom>
              <a:avLst/>
              <a:gdLst/>
              <a:ahLst/>
              <a:cxnLst/>
              <a:rect r="r" b="b" t="t" l="l"/>
              <a:pathLst>
                <a:path h="6695440" w="7097776">
                  <a:moveTo>
                    <a:pt x="0" y="1115949"/>
                  </a:moveTo>
                  <a:cubicBezTo>
                    <a:pt x="0" y="499618"/>
                    <a:pt x="499618" y="0"/>
                    <a:pt x="1115949" y="0"/>
                  </a:cubicBezTo>
                  <a:lnTo>
                    <a:pt x="5981827" y="0"/>
                  </a:lnTo>
                  <a:cubicBezTo>
                    <a:pt x="6598158" y="0"/>
                    <a:pt x="7097776" y="499618"/>
                    <a:pt x="7097776" y="1115949"/>
                  </a:cubicBezTo>
                  <a:lnTo>
                    <a:pt x="7097776" y="5579491"/>
                  </a:lnTo>
                  <a:cubicBezTo>
                    <a:pt x="7097776" y="6195822"/>
                    <a:pt x="6598158" y="6695440"/>
                    <a:pt x="5981827" y="6695440"/>
                  </a:cubicBezTo>
                  <a:lnTo>
                    <a:pt x="1115949" y="6695440"/>
                  </a:lnTo>
                  <a:cubicBezTo>
                    <a:pt x="499618" y="6695440"/>
                    <a:pt x="0" y="6195822"/>
                    <a:pt x="0" y="5579491"/>
                  </a:cubicBezTo>
                  <a:close/>
                </a:path>
              </a:pathLst>
            </a:custGeom>
            <a:solidFill>
              <a:srgbClr val="F7F9FB"/>
            </a:solidFill>
            <a:ln w="15240" cap="sq">
              <a:solidFill>
                <a:srgbClr val="DCE6EF"/>
              </a:solidFill>
              <a:prstDash val="solid"/>
              <a:miter/>
            </a:ln>
          </p:spPr>
        </p:sp>
      </p:grpSp>
      <p:grpSp>
        <p:nvGrpSpPr>
          <p:cNvPr name="Group 20" id="20"/>
          <p:cNvGrpSpPr/>
          <p:nvPr/>
        </p:nvGrpSpPr>
        <p:grpSpPr>
          <a:xfrm rot="0">
            <a:off x="795528" y="2715768"/>
            <a:ext cx="5308092" cy="123444"/>
            <a:chOff x="0" y="0"/>
            <a:chExt cx="7077456" cy="164592"/>
          </a:xfrm>
        </p:grpSpPr>
        <p:sp>
          <p:nvSpPr>
            <p:cNvPr name="Freeform 21" id="21"/>
            <p:cNvSpPr/>
            <p:nvPr/>
          </p:nvSpPr>
          <p:spPr>
            <a:xfrm flipH="false" flipV="false" rot="0">
              <a:off x="0" y="0"/>
              <a:ext cx="7077456" cy="164592"/>
            </a:xfrm>
            <a:custGeom>
              <a:avLst/>
              <a:gdLst/>
              <a:ahLst/>
              <a:cxnLst/>
              <a:rect r="r" b="b" t="t" l="l"/>
              <a:pathLst>
                <a:path h="164592" w="7077456">
                  <a:moveTo>
                    <a:pt x="0" y="0"/>
                  </a:moveTo>
                  <a:lnTo>
                    <a:pt x="7077456" y="0"/>
                  </a:lnTo>
                  <a:lnTo>
                    <a:pt x="7077456" y="164592"/>
                  </a:lnTo>
                  <a:lnTo>
                    <a:pt x="0" y="164592"/>
                  </a:lnTo>
                  <a:close/>
                </a:path>
              </a:pathLst>
            </a:custGeom>
            <a:solidFill>
              <a:srgbClr val="1265A8"/>
            </a:solidFill>
          </p:spPr>
        </p:sp>
      </p:grpSp>
      <p:grpSp>
        <p:nvGrpSpPr>
          <p:cNvPr name="Group 22" id="22"/>
          <p:cNvGrpSpPr/>
          <p:nvPr/>
        </p:nvGrpSpPr>
        <p:grpSpPr>
          <a:xfrm rot="0">
            <a:off x="1097280" y="3058668"/>
            <a:ext cx="576072" cy="576072"/>
            <a:chOff x="0" y="0"/>
            <a:chExt cx="768096" cy="768096"/>
          </a:xfrm>
        </p:grpSpPr>
        <p:sp>
          <p:nvSpPr>
            <p:cNvPr name="Freeform 23" id="2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1265A8"/>
            </a:solidFill>
          </p:spPr>
        </p:sp>
      </p:grpSp>
      <p:grpSp>
        <p:nvGrpSpPr>
          <p:cNvPr name="Group 24" id="24"/>
          <p:cNvGrpSpPr/>
          <p:nvPr/>
        </p:nvGrpSpPr>
        <p:grpSpPr>
          <a:xfrm rot="0">
            <a:off x="1097280" y="3079242"/>
            <a:ext cx="576072" cy="507492"/>
            <a:chOff x="0" y="0"/>
            <a:chExt cx="768096" cy="676656"/>
          </a:xfrm>
        </p:grpSpPr>
        <p:sp>
          <p:nvSpPr>
            <p:cNvPr name="Freeform 25" id="25"/>
            <p:cNvSpPr/>
            <p:nvPr/>
          </p:nvSpPr>
          <p:spPr>
            <a:xfrm flipH="false" flipV="false" rot="0">
              <a:off x="0" y="0"/>
              <a:ext cx="768096" cy="676656"/>
            </a:xfrm>
            <a:custGeom>
              <a:avLst/>
              <a:gdLst/>
              <a:ahLst/>
              <a:cxnLst/>
              <a:rect r="r" b="b" t="t" l="l"/>
              <a:pathLst>
                <a:path h="676656" w="768096">
                  <a:moveTo>
                    <a:pt x="0" y="0"/>
                  </a:moveTo>
                  <a:lnTo>
                    <a:pt x="768096" y="0"/>
                  </a:lnTo>
                  <a:lnTo>
                    <a:pt x="768096" y="676656"/>
                  </a:lnTo>
                  <a:lnTo>
                    <a:pt x="0" y="676656"/>
                  </a:lnTo>
                  <a:close/>
                </a:path>
              </a:pathLst>
            </a:custGeom>
            <a:blipFill>
              <a:blip r:embed="rId4">
                <a:alphaModFix amt="0"/>
              </a:blip>
              <a:stretch>
                <a:fillRect l="-63029" t="0" r="-63029" b="0"/>
              </a:stretch>
            </a:blipFill>
          </p:spPr>
        </p:sp>
        <p:sp>
          <p:nvSpPr>
            <p:cNvPr name="TextBox 26" id="26"/>
            <p:cNvSpPr txBox="true"/>
            <p:nvPr/>
          </p:nvSpPr>
          <p:spPr>
            <a:xfrm>
              <a:off x="0" y="0"/>
              <a:ext cx="768096" cy="6766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01</a:t>
              </a:r>
            </a:p>
          </p:txBody>
        </p:sp>
      </p:grpSp>
      <p:sp>
        <p:nvSpPr>
          <p:cNvPr name="TextBox 27" id="27"/>
          <p:cNvSpPr txBox="true"/>
          <p:nvPr/>
        </p:nvSpPr>
        <p:spPr>
          <a:xfrm rot="0">
            <a:off x="1847088" y="3076956"/>
            <a:ext cx="3973068" cy="704088"/>
          </a:xfrm>
          <a:prstGeom prst="rect">
            <a:avLst/>
          </a:prstGeom>
        </p:spPr>
        <p:txBody>
          <a:bodyPr anchor="t" rtlCol="false" tIns="0" lIns="0" bIns="0" rIns="0">
            <a:spAutoFit/>
          </a:bodyPr>
          <a:lstStyle/>
          <a:p>
            <a:pPr algn="l">
              <a:lnSpc>
                <a:spcPts val="2555"/>
              </a:lnSpc>
            </a:pPr>
            <a:r>
              <a:rPr lang="en-US" sz="2129" b="true">
                <a:solidFill>
                  <a:srgbClr val="153866"/>
                </a:solidFill>
                <a:latin typeface="Aptos Bold"/>
                <a:ea typeface="Aptos Bold"/>
                <a:cs typeface="Aptos Bold"/>
                <a:sym typeface="Aptos Bold"/>
              </a:rPr>
              <a:t>TRI THỨC NGẦM DỄ MẤT</a:t>
            </a:r>
          </a:p>
        </p:txBody>
      </p:sp>
      <p:sp>
        <p:nvSpPr>
          <p:cNvPr name="TextBox 28" id="28"/>
          <p:cNvSpPr txBox="true"/>
          <p:nvPr/>
        </p:nvSpPr>
        <p:spPr>
          <a:xfrm rot="0">
            <a:off x="1106424" y="3982212"/>
            <a:ext cx="4686300" cy="3598164"/>
          </a:xfrm>
          <a:prstGeom prst="rect">
            <a:avLst/>
          </a:prstGeom>
        </p:spPr>
        <p:txBody>
          <a:bodyPr anchor="t" rtlCol="false" tIns="0" lIns="0" bIns="0" rIns="0">
            <a:spAutoFit/>
          </a:bodyPr>
          <a:lstStyle/>
          <a:p>
            <a:pPr algn="l">
              <a:lnSpc>
                <a:spcPts val="2340"/>
              </a:lnSpc>
            </a:pPr>
            <a:r>
              <a:rPr lang="en-US" sz="1950">
                <a:solidFill>
                  <a:srgbClr val="1F2D3D"/>
                </a:solidFill>
                <a:latin typeface="Aptos"/>
                <a:ea typeface="Aptos"/>
                <a:cs typeface="Aptos"/>
                <a:sym typeface="Aptos"/>
              </a:rPr>
              <a:t>Thứ tự động tác, nhịp làm việc, phối hợp hai tay chỉ nằm trong cơ thể người thợ giỏi; truyền miệng qua kèm cặp và mất khi nhân sự thay đổi.</a:t>
            </a:r>
          </a:p>
        </p:txBody>
      </p:sp>
      <p:grpSp>
        <p:nvGrpSpPr>
          <p:cNvPr name="Group 29" id="29"/>
          <p:cNvGrpSpPr/>
          <p:nvPr/>
        </p:nvGrpSpPr>
        <p:grpSpPr>
          <a:xfrm rot="0">
            <a:off x="6480048" y="2708148"/>
            <a:ext cx="5323332" cy="5021580"/>
            <a:chOff x="0" y="0"/>
            <a:chExt cx="7097776" cy="6695440"/>
          </a:xfrm>
        </p:grpSpPr>
        <p:sp>
          <p:nvSpPr>
            <p:cNvPr name="Freeform 30" id="30"/>
            <p:cNvSpPr/>
            <p:nvPr/>
          </p:nvSpPr>
          <p:spPr>
            <a:xfrm flipH="false" flipV="false" rot="0">
              <a:off x="0" y="0"/>
              <a:ext cx="7097776" cy="6695440"/>
            </a:xfrm>
            <a:custGeom>
              <a:avLst/>
              <a:gdLst/>
              <a:ahLst/>
              <a:cxnLst/>
              <a:rect r="r" b="b" t="t" l="l"/>
              <a:pathLst>
                <a:path h="6695440" w="7097776">
                  <a:moveTo>
                    <a:pt x="0" y="1115949"/>
                  </a:moveTo>
                  <a:cubicBezTo>
                    <a:pt x="0" y="499618"/>
                    <a:pt x="499618" y="0"/>
                    <a:pt x="1115949" y="0"/>
                  </a:cubicBezTo>
                  <a:lnTo>
                    <a:pt x="5981827" y="0"/>
                  </a:lnTo>
                  <a:cubicBezTo>
                    <a:pt x="6598158" y="0"/>
                    <a:pt x="7097776" y="499618"/>
                    <a:pt x="7097776" y="1115949"/>
                  </a:cubicBezTo>
                  <a:lnTo>
                    <a:pt x="7097776" y="5579491"/>
                  </a:lnTo>
                  <a:cubicBezTo>
                    <a:pt x="7097776" y="6195822"/>
                    <a:pt x="6598158" y="6695440"/>
                    <a:pt x="5981827" y="6695440"/>
                  </a:cubicBezTo>
                  <a:lnTo>
                    <a:pt x="1115949" y="6695440"/>
                  </a:lnTo>
                  <a:cubicBezTo>
                    <a:pt x="499618" y="6695440"/>
                    <a:pt x="0" y="6195822"/>
                    <a:pt x="0" y="5579491"/>
                  </a:cubicBezTo>
                  <a:close/>
                </a:path>
              </a:pathLst>
            </a:custGeom>
            <a:solidFill>
              <a:srgbClr val="F7F9FB"/>
            </a:solidFill>
            <a:ln w="15240" cap="sq">
              <a:solidFill>
                <a:srgbClr val="DCE6EF"/>
              </a:solidFill>
              <a:prstDash val="solid"/>
              <a:miter/>
            </a:ln>
          </p:spPr>
        </p:sp>
      </p:grpSp>
      <p:grpSp>
        <p:nvGrpSpPr>
          <p:cNvPr name="Group 31" id="31"/>
          <p:cNvGrpSpPr/>
          <p:nvPr/>
        </p:nvGrpSpPr>
        <p:grpSpPr>
          <a:xfrm rot="0">
            <a:off x="6487668" y="2715768"/>
            <a:ext cx="5308092" cy="123444"/>
            <a:chOff x="0" y="0"/>
            <a:chExt cx="7077456" cy="164592"/>
          </a:xfrm>
        </p:grpSpPr>
        <p:sp>
          <p:nvSpPr>
            <p:cNvPr name="Freeform 32" id="32"/>
            <p:cNvSpPr/>
            <p:nvPr/>
          </p:nvSpPr>
          <p:spPr>
            <a:xfrm flipH="false" flipV="false" rot="0">
              <a:off x="0" y="0"/>
              <a:ext cx="7077456" cy="164592"/>
            </a:xfrm>
            <a:custGeom>
              <a:avLst/>
              <a:gdLst/>
              <a:ahLst/>
              <a:cxnLst/>
              <a:rect r="r" b="b" t="t" l="l"/>
              <a:pathLst>
                <a:path h="164592" w="7077456">
                  <a:moveTo>
                    <a:pt x="0" y="0"/>
                  </a:moveTo>
                  <a:lnTo>
                    <a:pt x="7077456" y="0"/>
                  </a:lnTo>
                  <a:lnTo>
                    <a:pt x="7077456" y="164592"/>
                  </a:lnTo>
                  <a:lnTo>
                    <a:pt x="0" y="164592"/>
                  </a:lnTo>
                  <a:close/>
                </a:path>
              </a:pathLst>
            </a:custGeom>
            <a:solidFill>
              <a:srgbClr val="00B96B"/>
            </a:solidFill>
          </p:spPr>
        </p:sp>
      </p:grpSp>
      <p:grpSp>
        <p:nvGrpSpPr>
          <p:cNvPr name="Group 33" id="33"/>
          <p:cNvGrpSpPr/>
          <p:nvPr/>
        </p:nvGrpSpPr>
        <p:grpSpPr>
          <a:xfrm rot="0">
            <a:off x="6789420" y="3058668"/>
            <a:ext cx="576072" cy="576072"/>
            <a:chOff x="0" y="0"/>
            <a:chExt cx="768096" cy="768096"/>
          </a:xfrm>
        </p:grpSpPr>
        <p:sp>
          <p:nvSpPr>
            <p:cNvPr name="Freeform 34" id="3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B96B"/>
            </a:solidFill>
          </p:spPr>
        </p:sp>
      </p:grpSp>
      <p:grpSp>
        <p:nvGrpSpPr>
          <p:cNvPr name="Group 35" id="35"/>
          <p:cNvGrpSpPr/>
          <p:nvPr/>
        </p:nvGrpSpPr>
        <p:grpSpPr>
          <a:xfrm rot="0">
            <a:off x="6789420" y="3079242"/>
            <a:ext cx="576072" cy="507492"/>
            <a:chOff x="0" y="0"/>
            <a:chExt cx="768096" cy="676656"/>
          </a:xfrm>
        </p:grpSpPr>
        <p:sp>
          <p:nvSpPr>
            <p:cNvPr name="Freeform 36" id="36"/>
            <p:cNvSpPr/>
            <p:nvPr/>
          </p:nvSpPr>
          <p:spPr>
            <a:xfrm flipH="false" flipV="false" rot="0">
              <a:off x="0" y="0"/>
              <a:ext cx="768096" cy="676656"/>
            </a:xfrm>
            <a:custGeom>
              <a:avLst/>
              <a:gdLst/>
              <a:ahLst/>
              <a:cxnLst/>
              <a:rect r="r" b="b" t="t" l="l"/>
              <a:pathLst>
                <a:path h="676656" w="768096">
                  <a:moveTo>
                    <a:pt x="0" y="0"/>
                  </a:moveTo>
                  <a:lnTo>
                    <a:pt x="768096" y="0"/>
                  </a:lnTo>
                  <a:lnTo>
                    <a:pt x="768096" y="676656"/>
                  </a:lnTo>
                  <a:lnTo>
                    <a:pt x="0" y="676656"/>
                  </a:lnTo>
                  <a:close/>
                </a:path>
              </a:pathLst>
            </a:custGeom>
            <a:blipFill>
              <a:blip r:embed="rId4">
                <a:alphaModFix amt="0"/>
              </a:blip>
              <a:stretch>
                <a:fillRect l="-63029" t="0" r="-63029" b="0"/>
              </a:stretch>
            </a:blipFill>
          </p:spPr>
        </p:sp>
        <p:sp>
          <p:nvSpPr>
            <p:cNvPr name="TextBox 37" id="37"/>
            <p:cNvSpPr txBox="true"/>
            <p:nvPr/>
          </p:nvSpPr>
          <p:spPr>
            <a:xfrm>
              <a:off x="0" y="0"/>
              <a:ext cx="768096" cy="6766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02</a:t>
              </a:r>
            </a:p>
          </p:txBody>
        </p:sp>
      </p:grpSp>
      <p:sp>
        <p:nvSpPr>
          <p:cNvPr name="TextBox 38" id="38"/>
          <p:cNvSpPr txBox="true"/>
          <p:nvPr/>
        </p:nvSpPr>
        <p:spPr>
          <a:xfrm rot="0">
            <a:off x="7539228" y="3076956"/>
            <a:ext cx="3973068" cy="704088"/>
          </a:xfrm>
          <a:prstGeom prst="rect">
            <a:avLst/>
          </a:prstGeom>
        </p:spPr>
        <p:txBody>
          <a:bodyPr anchor="t" rtlCol="false" tIns="0" lIns="0" bIns="0" rIns="0">
            <a:spAutoFit/>
          </a:bodyPr>
          <a:lstStyle/>
          <a:p>
            <a:pPr algn="l">
              <a:lnSpc>
                <a:spcPts val="2555"/>
              </a:lnSpc>
            </a:pPr>
            <a:r>
              <a:rPr lang="en-US" sz="2129" b="true">
                <a:solidFill>
                  <a:srgbClr val="153866"/>
                </a:solidFill>
                <a:latin typeface="Aptos Bold"/>
                <a:ea typeface="Aptos Bold"/>
                <a:cs typeface="Aptos Bold"/>
                <a:sym typeface="Aptos Bold"/>
              </a:rPr>
              <a:t>BẤM GIỜ THỦ CÔNG</a:t>
            </a:r>
          </a:p>
        </p:txBody>
      </p:sp>
      <p:sp>
        <p:nvSpPr>
          <p:cNvPr name="TextBox 39" id="39"/>
          <p:cNvSpPr txBox="true"/>
          <p:nvPr/>
        </p:nvSpPr>
        <p:spPr>
          <a:xfrm rot="0">
            <a:off x="6798564" y="3982212"/>
            <a:ext cx="4686300" cy="3598164"/>
          </a:xfrm>
          <a:prstGeom prst="rect">
            <a:avLst/>
          </a:prstGeom>
        </p:spPr>
        <p:txBody>
          <a:bodyPr anchor="t" rtlCol="false" tIns="0" lIns="0" bIns="0" rIns="0">
            <a:spAutoFit/>
          </a:bodyPr>
          <a:lstStyle/>
          <a:p>
            <a:pPr algn="l">
              <a:lnSpc>
                <a:spcPts val="2340"/>
              </a:lnSpc>
            </a:pPr>
            <a:r>
              <a:rPr lang="en-US" sz="1950">
                <a:solidFill>
                  <a:srgbClr val="1F2D3D"/>
                </a:solidFill>
                <a:latin typeface="Aptos"/>
                <a:ea typeface="Aptos"/>
                <a:cs typeface="Aptos"/>
                <a:sym typeface="Aptos"/>
              </a:rPr>
              <a:t>Kỹ sư IE đo 2–4 giờ cho một trạm, ghi tay, mỗi người đo một kiểu; chỉ lấy được vài chu kỳ nên bỏ sót biến động.</a:t>
            </a:r>
          </a:p>
        </p:txBody>
      </p:sp>
      <p:grpSp>
        <p:nvGrpSpPr>
          <p:cNvPr name="Group 40" id="40"/>
          <p:cNvGrpSpPr/>
          <p:nvPr/>
        </p:nvGrpSpPr>
        <p:grpSpPr>
          <a:xfrm rot="0">
            <a:off x="12172188" y="2708148"/>
            <a:ext cx="5323332" cy="5021580"/>
            <a:chOff x="0" y="0"/>
            <a:chExt cx="7097776" cy="6695440"/>
          </a:xfrm>
        </p:grpSpPr>
        <p:sp>
          <p:nvSpPr>
            <p:cNvPr name="Freeform 41" id="41"/>
            <p:cNvSpPr/>
            <p:nvPr/>
          </p:nvSpPr>
          <p:spPr>
            <a:xfrm flipH="false" flipV="false" rot="0">
              <a:off x="0" y="0"/>
              <a:ext cx="7097776" cy="6695440"/>
            </a:xfrm>
            <a:custGeom>
              <a:avLst/>
              <a:gdLst/>
              <a:ahLst/>
              <a:cxnLst/>
              <a:rect r="r" b="b" t="t" l="l"/>
              <a:pathLst>
                <a:path h="6695440" w="7097776">
                  <a:moveTo>
                    <a:pt x="0" y="1115949"/>
                  </a:moveTo>
                  <a:cubicBezTo>
                    <a:pt x="0" y="499618"/>
                    <a:pt x="499618" y="0"/>
                    <a:pt x="1115949" y="0"/>
                  </a:cubicBezTo>
                  <a:lnTo>
                    <a:pt x="5981827" y="0"/>
                  </a:lnTo>
                  <a:cubicBezTo>
                    <a:pt x="6598158" y="0"/>
                    <a:pt x="7097776" y="499618"/>
                    <a:pt x="7097776" y="1115949"/>
                  </a:cubicBezTo>
                  <a:lnTo>
                    <a:pt x="7097776" y="5579491"/>
                  </a:lnTo>
                  <a:cubicBezTo>
                    <a:pt x="7097776" y="6195822"/>
                    <a:pt x="6598158" y="6695440"/>
                    <a:pt x="5981827" y="6695440"/>
                  </a:cubicBezTo>
                  <a:lnTo>
                    <a:pt x="1115949" y="6695440"/>
                  </a:lnTo>
                  <a:cubicBezTo>
                    <a:pt x="499618" y="6695440"/>
                    <a:pt x="0" y="6195822"/>
                    <a:pt x="0" y="5579491"/>
                  </a:cubicBezTo>
                  <a:close/>
                </a:path>
              </a:pathLst>
            </a:custGeom>
            <a:solidFill>
              <a:srgbClr val="F7F9FB"/>
            </a:solidFill>
            <a:ln w="15240" cap="sq">
              <a:solidFill>
                <a:srgbClr val="DCE6EF"/>
              </a:solidFill>
              <a:prstDash val="solid"/>
              <a:miter/>
            </a:ln>
          </p:spPr>
        </p:sp>
      </p:grpSp>
      <p:grpSp>
        <p:nvGrpSpPr>
          <p:cNvPr name="Group 42" id="42"/>
          <p:cNvGrpSpPr/>
          <p:nvPr/>
        </p:nvGrpSpPr>
        <p:grpSpPr>
          <a:xfrm rot="0">
            <a:off x="12179808" y="2715768"/>
            <a:ext cx="5308092" cy="123444"/>
            <a:chOff x="0" y="0"/>
            <a:chExt cx="7077456" cy="164592"/>
          </a:xfrm>
        </p:grpSpPr>
        <p:sp>
          <p:nvSpPr>
            <p:cNvPr name="Freeform 43" id="43"/>
            <p:cNvSpPr/>
            <p:nvPr/>
          </p:nvSpPr>
          <p:spPr>
            <a:xfrm flipH="false" flipV="false" rot="0">
              <a:off x="0" y="0"/>
              <a:ext cx="7077456" cy="164592"/>
            </a:xfrm>
            <a:custGeom>
              <a:avLst/>
              <a:gdLst/>
              <a:ahLst/>
              <a:cxnLst/>
              <a:rect r="r" b="b" t="t" l="l"/>
              <a:pathLst>
                <a:path h="164592" w="7077456">
                  <a:moveTo>
                    <a:pt x="0" y="0"/>
                  </a:moveTo>
                  <a:lnTo>
                    <a:pt x="7077456" y="0"/>
                  </a:lnTo>
                  <a:lnTo>
                    <a:pt x="7077456" y="164592"/>
                  </a:lnTo>
                  <a:lnTo>
                    <a:pt x="0" y="164592"/>
                  </a:lnTo>
                  <a:close/>
                </a:path>
              </a:pathLst>
            </a:custGeom>
            <a:solidFill>
              <a:srgbClr val="008F8A"/>
            </a:solidFill>
          </p:spPr>
        </p:sp>
      </p:grpSp>
      <p:grpSp>
        <p:nvGrpSpPr>
          <p:cNvPr name="Group 44" id="44"/>
          <p:cNvGrpSpPr/>
          <p:nvPr/>
        </p:nvGrpSpPr>
        <p:grpSpPr>
          <a:xfrm rot="0">
            <a:off x="12481560" y="3058668"/>
            <a:ext cx="576072" cy="576072"/>
            <a:chOff x="0" y="0"/>
            <a:chExt cx="768096" cy="768096"/>
          </a:xfrm>
        </p:grpSpPr>
        <p:sp>
          <p:nvSpPr>
            <p:cNvPr name="Freeform 45" id="45"/>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8F8A"/>
            </a:solidFill>
          </p:spPr>
        </p:sp>
      </p:grpSp>
      <p:grpSp>
        <p:nvGrpSpPr>
          <p:cNvPr name="Group 46" id="46"/>
          <p:cNvGrpSpPr/>
          <p:nvPr/>
        </p:nvGrpSpPr>
        <p:grpSpPr>
          <a:xfrm rot="0">
            <a:off x="12481560" y="3079242"/>
            <a:ext cx="576072" cy="507492"/>
            <a:chOff x="0" y="0"/>
            <a:chExt cx="768096" cy="676656"/>
          </a:xfrm>
        </p:grpSpPr>
        <p:sp>
          <p:nvSpPr>
            <p:cNvPr name="Freeform 47" id="47"/>
            <p:cNvSpPr/>
            <p:nvPr/>
          </p:nvSpPr>
          <p:spPr>
            <a:xfrm flipH="false" flipV="false" rot="0">
              <a:off x="0" y="0"/>
              <a:ext cx="768096" cy="676656"/>
            </a:xfrm>
            <a:custGeom>
              <a:avLst/>
              <a:gdLst/>
              <a:ahLst/>
              <a:cxnLst/>
              <a:rect r="r" b="b" t="t" l="l"/>
              <a:pathLst>
                <a:path h="676656" w="768096">
                  <a:moveTo>
                    <a:pt x="0" y="0"/>
                  </a:moveTo>
                  <a:lnTo>
                    <a:pt x="768096" y="0"/>
                  </a:lnTo>
                  <a:lnTo>
                    <a:pt x="768096" y="676656"/>
                  </a:lnTo>
                  <a:lnTo>
                    <a:pt x="0" y="676656"/>
                  </a:lnTo>
                  <a:close/>
                </a:path>
              </a:pathLst>
            </a:custGeom>
            <a:blipFill>
              <a:blip r:embed="rId4">
                <a:alphaModFix amt="0"/>
              </a:blip>
              <a:stretch>
                <a:fillRect l="-63029" t="0" r="-63029" b="0"/>
              </a:stretch>
            </a:blipFill>
          </p:spPr>
        </p:sp>
        <p:sp>
          <p:nvSpPr>
            <p:cNvPr name="TextBox 48" id="48"/>
            <p:cNvSpPr txBox="true"/>
            <p:nvPr/>
          </p:nvSpPr>
          <p:spPr>
            <a:xfrm>
              <a:off x="0" y="0"/>
              <a:ext cx="768096" cy="676656"/>
            </a:xfrm>
            <a:prstGeom prst="rect">
              <a:avLst/>
            </a:prstGeom>
          </p:spPr>
          <p:txBody>
            <a:bodyPr anchor="ctr" rtlCol="false" tIns="0" lIns="0" bIns="0" rIns="0"/>
            <a:lstStyle/>
            <a:p>
              <a:pPr algn="ctr">
                <a:lnSpc>
                  <a:spcPts val="1980"/>
                </a:lnSpc>
              </a:pPr>
              <a:r>
                <a:rPr lang="en-US" sz="1650" b="true">
                  <a:solidFill>
                    <a:srgbClr val="FFFFFF"/>
                  </a:solidFill>
                  <a:latin typeface="Aptos Bold"/>
                  <a:ea typeface="Aptos Bold"/>
                  <a:cs typeface="Aptos Bold"/>
                  <a:sym typeface="Aptos Bold"/>
                </a:rPr>
                <a:t>03</a:t>
              </a:r>
            </a:p>
          </p:txBody>
        </p:sp>
      </p:grpSp>
      <p:sp>
        <p:nvSpPr>
          <p:cNvPr name="TextBox 49" id="49"/>
          <p:cNvSpPr txBox="true"/>
          <p:nvPr/>
        </p:nvSpPr>
        <p:spPr>
          <a:xfrm rot="0">
            <a:off x="13231368" y="3076956"/>
            <a:ext cx="3973068" cy="704088"/>
          </a:xfrm>
          <a:prstGeom prst="rect">
            <a:avLst/>
          </a:prstGeom>
        </p:spPr>
        <p:txBody>
          <a:bodyPr anchor="t" rtlCol="false" tIns="0" lIns="0" bIns="0" rIns="0">
            <a:spAutoFit/>
          </a:bodyPr>
          <a:lstStyle/>
          <a:p>
            <a:pPr algn="l">
              <a:lnSpc>
                <a:spcPts val="2555"/>
              </a:lnSpc>
            </a:pPr>
            <a:r>
              <a:rPr lang="en-US" sz="2129" b="true">
                <a:solidFill>
                  <a:srgbClr val="153866"/>
                </a:solidFill>
                <a:latin typeface="Aptos Bold"/>
                <a:ea typeface="Aptos Bold"/>
                <a:cs typeface="Aptos Bold"/>
                <a:sym typeface="Aptos Bold"/>
              </a:rPr>
              <a:t>3M CHƯA ĐƯỢC ĐO</a:t>
            </a:r>
          </a:p>
        </p:txBody>
      </p:sp>
      <p:sp>
        <p:nvSpPr>
          <p:cNvPr name="TextBox 50" id="50"/>
          <p:cNvSpPr txBox="true"/>
          <p:nvPr/>
        </p:nvSpPr>
        <p:spPr>
          <a:xfrm rot="0">
            <a:off x="12490704" y="3982212"/>
            <a:ext cx="4686300" cy="3598164"/>
          </a:xfrm>
          <a:prstGeom prst="rect">
            <a:avLst/>
          </a:prstGeom>
        </p:spPr>
        <p:txBody>
          <a:bodyPr anchor="t" rtlCol="false" tIns="0" lIns="0" bIns="0" rIns="0">
            <a:spAutoFit/>
          </a:bodyPr>
          <a:lstStyle/>
          <a:p>
            <a:pPr algn="l">
              <a:lnSpc>
                <a:spcPts val="2340"/>
              </a:lnSpc>
            </a:pPr>
            <a:r>
              <a:rPr lang="en-US" sz="1950">
                <a:solidFill>
                  <a:srgbClr val="1F2D3D"/>
                </a:solidFill>
                <a:latin typeface="Aptos"/>
                <a:ea typeface="Aptos"/>
                <a:cs typeface="Aptos"/>
                <a:sym typeface="Aptos"/>
              </a:rPr>
              <a:t>Lãng phí (Muda), biến động (Mura), quá tải cổ tay (Muri) không được theo dõi hằng ngày; đề xuất Kaizen khó chứng minh bằng số liệu trước–sau.</a:t>
            </a:r>
          </a:p>
        </p:txBody>
      </p:sp>
      <p:grpSp>
        <p:nvGrpSpPr>
          <p:cNvPr name="Group 51" id="51"/>
          <p:cNvGrpSpPr/>
          <p:nvPr/>
        </p:nvGrpSpPr>
        <p:grpSpPr>
          <a:xfrm rot="0">
            <a:off x="1021080" y="7988808"/>
            <a:ext cx="16268700" cy="769620"/>
            <a:chOff x="0" y="0"/>
            <a:chExt cx="21691600" cy="1026160"/>
          </a:xfrm>
        </p:grpSpPr>
        <p:sp>
          <p:nvSpPr>
            <p:cNvPr name="Freeform 52" id="52"/>
            <p:cNvSpPr/>
            <p:nvPr/>
          </p:nvSpPr>
          <p:spPr>
            <a:xfrm flipH="false" flipV="false" rot="0">
              <a:off x="0" y="0"/>
              <a:ext cx="21691600" cy="1026160"/>
            </a:xfrm>
            <a:custGeom>
              <a:avLst/>
              <a:gdLst/>
              <a:ahLst/>
              <a:cxnLst/>
              <a:rect r="r" b="b" t="t" l="l"/>
              <a:pathLst>
                <a:path h="1026160" w="21691600">
                  <a:moveTo>
                    <a:pt x="0" y="171069"/>
                  </a:moveTo>
                  <a:cubicBezTo>
                    <a:pt x="0" y="76581"/>
                    <a:pt x="76581" y="0"/>
                    <a:pt x="171069" y="0"/>
                  </a:cubicBezTo>
                  <a:lnTo>
                    <a:pt x="21520531" y="0"/>
                  </a:lnTo>
                  <a:cubicBezTo>
                    <a:pt x="21615019" y="0"/>
                    <a:pt x="21691600" y="76581"/>
                    <a:pt x="21691600" y="171069"/>
                  </a:cubicBezTo>
                  <a:lnTo>
                    <a:pt x="21691600" y="855091"/>
                  </a:lnTo>
                  <a:cubicBezTo>
                    <a:pt x="21691600" y="949579"/>
                    <a:pt x="21615019" y="1026160"/>
                    <a:pt x="21520531" y="1026160"/>
                  </a:cubicBezTo>
                  <a:lnTo>
                    <a:pt x="171069" y="1026160"/>
                  </a:lnTo>
                  <a:cubicBezTo>
                    <a:pt x="76581" y="1026160"/>
                    <a:pt x="0" y="949579"/>
                    <a:pt x="0" y="855091"/>
                  </a:cubicBezTo>
                  <a:close/>
                </a:path>
              </a:pathLst>
            </a:custGeom>
            <a:solidFill>
              <a:srgbClr val="EAF3FC"/>
            </a:solidFill>
            <a:ln w="15240" cap="sq">
              <a:solidFill>
                <a:srgbClr val="EAF3FC"/>
              </a:solidFill>
              <a:prstDash val="solid"/>
              <a:miter/>
            </a:ln>
          </p:spPr>
        </p:sp>
      </p:grpSp>
      <p:grpSp>
        <p:nvGrpSpPr>
          <p:cNvPr name="Group 53" id="53"/>
          <p:cNvGrpSpPr/>
          <p:nvPr/>
        </p:nvGrpSpPr>
        <p:grpSpPr>
          <a:xfrm rot="0">
            <a:off x="1261872" y="8092440"/>
            <a:ext cx="15773400" cy="521208"/>
            <a:chOff x="0" y="0"/>
            <a:chExt cx="21031200" cy="694944"/>
          </a:xfrm>
        </p:grpSpPr>
        <p:sp>
          <p:nvSpPr>
            <p:cNvPr name="Freeform 54" id="54"/>
            <p:cNvSpPr/>
            <p:nvPr/>
          </p:nvSpPr>
          <p:spPr>
            <a:xfrm flipH="false" flipV="false" rot="0">
              <a:off x="0" y="0"/>
              <a:ext cx="21031200" cy="694944"/>
            </a:xfrm>
            <a:custGeom>
              <a:avLst/>
              <a:gdLst/>
              <a:ahLst/>
              <a:cxnLst/>
              <a:rect r="r" b="b" t="t" l="l"/>
              <a:pathLst>
                <a:path h="694944" w="21031200">
                  <a:moveTo>
                    <a:pt x="0" y="0"/>
                  </a:moveTo>
                  <a:lnTo>
                    <a:pt x="21031200" y="0"/>
                  </a:lnTo>
                  <a:lnTo>
                    <a:pt x="21031200" y="694944"/>
                  </a:lnTo>
                  <a:lnTo>
                    <a:pt x="0" y="694944"/>
                  </a:lnTo>
                  <a:close/>
                </a:path>
              </a:pathLst>
            </a:custGeom>
            <a:blipFill>
              <a:blip r:embed="rId4">
                <a:alphaModFix amt="0"/>
              </a:blip>
              <a:stretch>
                <a:fillRect l="0" t="-539678" r="0" b="-539678"/>
              </a:stretch>
            </a:blipFill>
          </p:spPr>
          <p:txBody>
            <a:bodyPr/>
            <a:p/>
          </p:txBody>
        </p:sp>
        <p:sp>
          <p:nvSpPr>
            <p:cNvPr name="TextBox 55" id="55"/>
            <p:cNvSpPr txBox="true"/>
            <p:nvPr/>
          </p:nvSpPr>
          <p:spPr>
            <a:xfrm>
              <a:off x="0" y="0"/>
              <a:ext cx="21031200" cy="694944"/>
            </a:xfrm>
            <a:prstGeom prst="rect">
              <a:avLst/>
            </a:prstGeom>
          </p:spPr>
          <p:txBody>
            <a:bodyPr anchor="ctr" rtlCol="false" tIns="0" lIns="0" bIns="0" rIns="0"/>
            <a:lstStyle/>
            <a:p>
              <a:pPr algn="l">
                <a:lnSpc>
                  <a:spcPts val="2430"/>
                </a:lnSpc>
              </a:pPr>
              <a:r>
                <a:rPr lang="en-US" sz="2025" b="true">
                  <a:solidFill>
                    <a:srgbClr val="153866"/>
                  </a:solidFill>
                  <a:latin typeface="Aptos Bold"/>
                  <a:ea typeface="Aptos Bold"/>
                  <a:cs typeface="Aptos Bold"/>
                  <a:sym typeface="Aptos Bold"/>
                </a:rPr>
                <a:t>HƯỚNG GIẢI:  camera đo mọi chu kỳ + LLM giải thích có kiểm chứng + kỹ sư IE duyệt.</a:t>
              </a:r>
            </a:p>
          </p:txBody>
        </p:sp>
      </p:gr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sp>
        <p:nvSpPr>
          <p:cNvPr name="TextBox 8" id="8"/>
          <p:cNvSpPr txBox="true"/>
          <p:nvPr/>
        </p:nvSpPr>
        <p:spPr>
          <a:xfrm rot="0">
            <a:off x="8958139" y="459724"/>
            <a:ext cx="15590520" cy="1839754"/>
          </a:xfrm>
          <a:prstGeom prst="rect">
            <a:avLst/>
          </a:prstGeom>
        </p:spPr>
        <p:txBody>
          <a:bodyPr anchor="t" rtlCol="false" tIns="0" lIns="0" bIns="0" rIns="0">
            <a:spAutoFit/>
          </a:bodyPr>
          <a:lstStyle/>
          <a:p>
            <a:pPr algn="l">
              <a:lnSpc>
                <a:spcPts val="4698"/>
              </a:lnSpc>
            </a:pPr>
            <a:r>
              <a:rPr lang="en-US" sz="4350" b="true">
                <a:solidFill>
                  <a:srgbClr val="FFFFFF"/>
                </a:solidFill>
                <a:latin typeface="Aptos Bold"/>
                <a:ea typeface="Aptos Bold"/>
                <a:cs typeface="Aptos Bold"/>
                <a:sym typeface="Aptos Bold"/>
              </a:rPr>
              <a:t>LUỒNG GIẢI PHÁP</a:t>
            </a:r>
          </a:p>
        </p:txBody>
      </p:sp>
      <p:grpSp>
        <p:nvGrpSpPr>
          <p:cNvPr name="Group 9" id="9"/>
          <p:cNvGrpSpPr/>
          <p:nvPr/>
        </p:nvGrpSpPr>
        <p:grpSpPr>
          <a:xfrm rot="0">
            <a:off x="238954" y="9113901"/>
            <a:ext cx="87630" cy="896874"/>
            <a:chOff x="0" y="0"/>
            <a:chExt cx="116840" cy="1195832"/>
          </a:xfrm>
        </p:grpSpPr>
        <p:sp>
          <p:nvSpPr>
            <p:cNvPr name="Freeform 10" id="10"/>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1" id="11"/>
          <p:cNvGrpSpPr/>
          <p:nvPr/>
        </p:nvGrpSpPr>
        <p:grpSpPr>
          <a:xfrm rot="0">
            <a:off x="481651" y="9124407"/>
            <a:ext cx="15019020" cy="342900"/>
            <a:chOff x="0" y="0"/>
            <a:chExt cx="20025360" cy="457200"/>
          </a:xfrm>
        </p:grpSpPr>
        <p:sp>
          <p:nvSpPr>
            <p:cNvPr name="Freeform 12" id="12"/>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sp>
        <p:sp>
          <p:nvSpPr>
            <p:cNvPr name="TextBox 13" id="13"/>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NGUYÊN TẮC THIẾT KẾ</a:t>
              </a:r>
            </a:p>
          </p:txBody>
        </p:sp>
      </p:grpSp>
      <p:grpSp>
        <p:nvGrpSpPr>
          <p:cNvPr name="Group 14" id="14"/>
          <p:cNvGrpSpPr/>
          <p:nvPr/>
        </p:nvGrpSpPr>
        <p:grpSpPr>
          <a:xfrm rot="0">
            <a:off x="481651" y="9726930"/>
            <a:ext cx="15019020" cy="164592"/>
            <a:chOff x="0" y="0"/>
            <a:chExt cx="20025360" cy="219456"/>
          </a:xfrm>
        </p:grpSpPr>
        <p:sp>
          <p:nvSpPr>
            <p:cNvPr name="Freeform 15" id="15"/>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6" id="16"/>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Mọi con số do thuật toán tính và truy vết được; LLM chỉ giải thích; mọi đề xuất cần kỹ sư duyệt.</a:t>
              </a:r>
            </a:p>
          </p:txBody>
        </p:sp>
      </p:grpSp>
      <p:sp>
        <p:nvSpPr>
          <p:cNvPr name="TextBox 17" id="17"/>
          <p:cNvSpPr txBox="true"/>
          <p:nvPr/>
        </p:nvSpPr>
        <p:spPr>
          <a:xfrm rot="0">
            <a:off x="804672" y="1856232"/>
            <a:ext cx="16646652" cy="470916"/>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Camera → khung xương → bước SOP → chỉ số 3M → findings → giải thích có trích dẫn → kỹ sư duyệt.</a:t>
            </a:r>
          </a:p>
        </p:txBody>
      </p:sp>
      <p:grpSp>
        <p:nvGrpSpPr>
          <p:cNvPr name="Group 18" id="18"/>
          <p:cNvGrpSpPr/>
          <p:nvPr/>
        </p:nvGrpSpPr>
        <p:grpSpPr>
          <a:xfrm rot="0">
            <a:off x="650748" y="2625852"/>
            <a:ext cx="4006596" cy="4925568"/>
            <a:chOff x="0" y="0"/>
            <a:chExt cx="5342128" cy="6567424"/>
          </a:xfrm>
        </p:grpSpPr>
        <p:sp>
          <p:nvSpPr>
            <p:cNvPr name="Freeform 19" id="19"/>
            <p:cNvSpPr/>
            <p:nvPr/>
          </p:nvSpPr>
          <p:spPr>
            <a:xfrm flipH="false" flipV="false" rot="0">
              <a:off x="0" y="0"/>
              <a:ext cx="5342128" cy="6567424"/>
            </a:xfrm>
            <a:custGeom>
              <a:avLst/>
              <a:gdLst/>
              <a:ahLst/>
              <a:cxnLst/>
              <a:rect r="r" b="b" t="t" l="l"/>
              <a:pathLst>
                <a:path h="6567424" w="5342128">
                  <a:moveTo>
                    <a:pt x="0" y="890397"/>
                  </a:moveTo>
                  <a:cubicBezTo>
                    <a:pt x="0" y="398653"/>
                    <a:pt x="398653" y="0"/>
                    <a:pt x="890397" y="0"/>
                  </a:cubicBezTo>
                  <a:lnTo>
                    <a:pt x="4451731" y="0"/>
                  </a:lnTo>
                  <a:cubicBezTo>
                    <a:pt x="4943475" y="0"/>
                    <a:pt x="5342128" y="398653"/>
                    <a:pt x="5342128" y="890397"/>
                  </a:cubicBezTo>
                  <a:lnTo>
                    <a:pt x="5342128" y="5677027"/>
                  </a:lnTo>
                  <a:cubicBezTo>
                    <a:pt x="5342128" y="6168771"/>
                    <a:pt x="4943475" y="6567424"/>
                    <a:pt x="4451731" y="6567424"/>
                  </a:cubicBezTo>
                  <a:lnTo>
                    <a:pt x="890397" y="6567424"/>
                  </a:lnTo>
                  <a:cubicBezTo>
                    <a:pt x="398653" y="6567424"/>
                    <a:pt x="0" y="6168771"/>
                    <a:pt x="0" y="5677027"/>
                  </a:cubicBezTo>
                  <a:close/>
                </a:path>
              </a:pathLst>
            </a:custGeom>
            <a:solidFill>
              <a:srgbClr val="F3F7FB"/>
            </a:solidFill>
            <a:ln w="15240" cap="sq">
              <a:solidFill>
                <a:srgbClr val="DCE6EF"/>
              </a:solidFill>
              <a:prstDash val="solid"/>
              <a:miter/>
            </a:ln>
          </p:spPr>
        </p:sp>
      </p:grpSp>
      <p:grpSp>
        <p:nvGrpSpPr>
          <p:cNvPr name="Group 20" id="20"/>
          <p:cNvGrpSpPr/>
          <p:nvPr/>
        </p:nvGrpSpPr>
        <p:grpSpPr>
          <a:xfrm rot="0">
            <a:off x="877824" y="2907792"/>
            <a:ext cx="3538728" cy="493776"/>
            <a:chOff x="0" y="0"/>
            <a:chExt cx="4718304" cy="658368"/>
          </a:xfrm>
        </p:grpSpPr>
        <p:sp>
          <p:nvSpPr>
            <p:cNvPr name="Freeform 21" id="21"/>
            <p:cNvSpPr/>
            <p:nvPr/>
          </p:nvSpPr>
          <p:spPr>
            <a:xfrm flipH="false" flipV="false" rot="0">
              <a:off x="0" y="0"/>
              <a:ext cx="4718304" cy="658368"/>
            </a:xfrm>
            <a:custGeom>
              <a:avLst/>
              <a:gdLst/>
              <a:ahLst/>
              <a:cxnLst/>
              <a:rect r="r" b="b" t="t" l="l"/>
              <a:pathLst>
                <a:path h="658368" w="4718304">
                  <a:moveTo>
                    <a:pt x="0" y="109728"/>
                  </a:moveTo>
                  <a:cubicBezTo>
                    <a:pt x="0" y="49149"/>
                    <a:pt x="49149" y="0"/>
                    <a:pt x="109728" y="0"/>
                  </a:cubicBezTo>
                  <a:lnTo>
                    <a:pt x="4608576" y="0"/>
                  </a:lnTo>
                  <a:cubicBezTo>
                    <a:pt x="4669155" y="0"/>
                    <a:pt x="4718304" y="49149"/>
                    <a:pt x="4718304" y="109728"/>
                  </a:cubicBezTo>
                  <a:lnTo>
                    <a:pt x="4718304" y="548640"/>
                  </a:lnTo>
                  <a:cubicBezTo>
                    <a:pt x="4718304" y="609219"/>
                    <a:pt x="4669155" y="658368"/>
                    <a:pt x="4608576" y="658368"/>
                  </a:cubicBezTo>
                  <a:lnTo>
                    <a:pt x="109728" y="658368"/>
                  </a:lnTo>
                  <a:cubicBezTo>
                    <a:pt x="49149" y="658368"/>
                    <a:pt x="0" y="609219"/>
                    <a:pt x="0" y="548640"/>
                  </a:cubicBezTo>
                  <a:close/>
                </a:path>
              </a:pathLst>
            </a:custGeom>
            <a:solidFill>
              <a:srgbClr val="EAF3FC"/>
            </a:solidFill>
          </p:spPr>
        </p:sp>
      </p:grpSp>
      <p:grpSp>
        <p:nvGrpSpPr>
          <p:cNvPr name="Group 22" id="22"/>
          <p:cNvGrpSpPr/>
          <p:nvPr/>
        </p:nvGrpSpPr>
        <p:grpSpPr>
          <a:xfrm rot="0">
            <a:off x="932688" y="2928366"/>
            <a:ext cx="3429000" cy="452628"/>
            <a:chOff x="0" y="0"/>
            <a:chExt cx="4572000" cy="603504"/>
          </a:xfrm>
        </p:grpSpPr>
        <p:sp>
          <p:nvSpPr>
            <p:cNvPr name="Freeform 23" id="23"/>
            <p:cNvSpPr/>
            <p:nvPr/>
          </p:nvSpPr>
          <p:spPr>
            <a:xfrm flipH="false" flipV="false" rot="0">
              <a:off x="0" y="0"/>
              <a:ext cx="4572000" cy="603502"/>
            </a:xfrm>
            <a:custGeom>
              <a:avLst/>
              <a:gdLst/>
              <a:ahLst/>
              <a:cxnLst/>
              <a:rect r="r" b="b" t="t" l="l"/>
              <a:pathLst>
                <a:path h="603502" w="4572000">
                  <a:moveTo>
                    <a:pt x="0" y="0"/>
                  </a:moveTo>
                  <a:lnTo>
                    <a:pt x="4572000" y="0"/>
                  </a:lnTo>
                  <a:lnTo>
                    <a:pt x="4572000" y="603502"/>
                  </a:lnTo>
                  <a:lnTo>
                    <a:pt x="0" y="603502"/>
                  </a:lnTo>
                  <a:close/>
                </a:path>
              </a:pathLst>
            </a:custGeom>
            <a:blipFill>
              <a:blip r:embed="rId4">
                <a:alphaModFix amt="0"/>
              </a:blip>
              <a:stretch>
                <a:fillRect l="0" t="-97614" r="0" b="-97614"/>
              </a:stretch>
            </a:blipFill>
          </p:spPr>
          <p:txBody>
            <a:bodyPr/>
            <a:p/>
          </p:txBody>
        </p:sp>
        <p:sp>
          <p:nvSpPr>
            <p:cNvPr name="TextBox 24" id="24"/>
            <p:cNvSpPr txBox="true"/>
            <p:nvPr/>
          </p:nvSpPr>
          <p:spPr>
            <a:xfrm>
              <a:off x="0" y="0"/>
              <a:ext cx="4572000" cy="603504"/>
            </a:xfrm>
            <a:prstGeom prst="rect">
              <a:avLst/>
            </a:prstGeom>
          </p:spPr>
          <p:txBody>
            <a:bodyPr anchor="ctr" rtlCol="false" tIns="0" lIns="0" bIns="0" rIns="0"/>
            <a:lstStyle/>
            <a:p>
              <a:pPr algn="ctr">
                <a:lnSpc>
                  <a:spcPts val="1709"/>
                </a:lnSpc>
              </a:pPr>
              <a:r>
                <a:rPr lang="en-US" sz="1425" b="true">
                  <a:solidFill>
                    <a:srgbClr val="1265A8"/>
                  </a:solidFill>
                  <a:latin typeface="Aptos Bold"/>
                  <a:ea typeface="Aptos Bold"/>
                  <a:cs typeface="Aptos Bold"/>
                  <a:sym typeface="Aptos Bold"/>
                </a:rPr>
                <a:t>OBSERVE</a:t>
              </a:r>
            </a:p>
          </p:txBody>
        </p:sp>
      </p:grpSp>
      <p:sp>
        <p:nvSpPr>
          <p:cNvPr name="TextBox 25" id="25"/>
          <p:cNvSpPr txBox="true"/>
          <p:nvPr/>
        </p:nvSpPr>
        <p:spPr>
          <a:xfrm rot="0">
            <a:off x="941832" y="3749040"/>
            <a:ext cx="3410712" cy="745236"/>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Video → khung xương</a:t>
            </a:r>
          </a:p>
        </p:txBody>
      </p:sp>
      <p:sp>
        <p:nvSpPr>
          <p:cNvPr name="TextBox 26" id="26"/>
          <p:cNvSpPr txBox="true"/>
          <p:nvPr/>
        </p:nvSpPr>
        <p:spPr>
          <a:xfrm rot="0">
            <a:off x="941832" y="4704969"/>
            <a:ext cx="3410712" cy="2381631"/>
          </a:xfrm>
          <a:prstGeom prst="rect">
            <a:avLst/>
          </a:prstGeom>
        </p:spPr>
        <p:txBody>
          <a:bodyPr anchor="t" rtlCol="false" tIns="0" lIns="0" bIns="0" rIns="0">
            <a:spAutoFit/>
          </a:bodyPr>
          <a:lstStyle/>
          <a:p>
            <a:pPr algn="l">
              <a:lnSpc>
                <a:spcPts val="2195"/>
              </a:lnSpc>
            </a:pPr>
            <a:r>
              <a:rPr lang="en-US" sz="1829">
                <a:solidFill>
                  <a:srgbClr val="1F2D3D"/>
                </a:solidFill>
                <a:latin typeface="Aptos"/>
                <a:ea typeface="Aptos"/>
                <a:cs typeface="Aptos"/>
                <a:sym typeface="Aptos"/>
              </a:rPr>
              <a:t>MediaPipe Pose chạy trên CPU, lọc nhiễu One Euro; chỉ lưu keypoint, không cần nhận diện khuôn mặt.</a:t>
            </a:r>
          </a:p>
        </p:txBody>
      </p:sp>
      <p:grpSp>
        <p:nvGrpSpPr>
          <p:cNvPr name="Group 27" id="27"/>
          <p:cNvGrpSpPr/>
          <p:nvPr/>
        </p:nvGrpSpPr>
        <p:grpSpPr>
          <a:xfrm rot="0">
            <a:off x="4663440" y="4485132"/>
            <a:ext cx="411480" cy="603504"/>
            <a:chOff x="0" y="0"/>
            <a:chExt cx="548640" cy="804672"/>
          </a:xfrm>
        </p:grpSpPr>
        <p:sp>
          <p:nvSpPr>
            <p:cNvPr name="Freeform 28" id="28"/>
            <p:cNvSpPr/>
            <p:nvPr/>
          </p:nvSpPr>
          <p:spPr>
            <a:xfrm flipH="false" flipV="false" rot="0">
              <a:off x="0" y="0"/>
              <a:ext cx="548640" cy="804672"/>
            </a:xfrm>
            <a:custGeom>
              <a:avLst/>
              <a:gdLst/>
              <a:ahLst/>
              <a:cxnLst/>
              <a:rect r="r" b="b" t="t" l="l"/>
              <a:pathLst>
                <a:path h="804672" w="548640">
                  <a:moveTo>
                    <a:pt x="0" y="0"/>
                  </a:moveTo>
                  <a:lnTo>
                    <a:pt x="548640" y="0"/>
                  </a:lnTo>
                  <a:lnTo>
                    <a:pt x="548640" y="804672"/>
                  </a:lnTo>
                  <a:lnTo>
                    <a:pt x="0" y="804672"/>
                  </a:lnTo>
                  <a:close/>
                </a:path>
              </a:pathLst>
            </a:custGeom>
            <a:blipFill>
              <a:blip r:embed="rId4">
                <a:alphaModFix amt="0"/>
              </a:blip>
              <a:stretch>
                <a:fillRect l="-138178" t="0" r="-138178" b="0"/>
              </a:stretch>
            </a:blipFill>
          </p:spPr>
        </p:sp>
        <p:sp>
          <p:nvSpPr>
            <p:cNvPr name="TextBox 29" id="29"/>
            <p:cNvSpPr txBox="true"/>
            <p:nvPr/>
          </p:nvSpPr>
          <p:spPr>
            <a:xfrm>
              <a:off x="0" y="0"/>
              <a:ext cx="548640" cy="804672"/>
            </a:xfrm>
            <a:prstGeom prst="rect">
              <a:avLst/>
            </a:prstGeom>
          </p:spPr>
          <p:txBody>
            <a:bodyPr anchor="ctr" rtlCol="false" tIns="0" lIns="0" bIns="0" rIns="0"/>
            <a:lstStyle/>
            <a:p>
              <a:pPr algn="ctr">
                <a:lnSpc>
                  <a:spcPts val="4320"/>
                </a:lnSpc>
              </a:pPr>
              <a:r>
                <a:rPr lang="en-US" sz="3600" b="true">
                  <a:solidFill>
                    <a:srgbClr val="00B96B"/>
                  </a:solidFill>
                  <a:latin typeface="Aptos Bold"/>
                  <a:ea typeface="Aptos Bold"/>
                  <a:cs typeface="Aptos Bold"/>
                  <a:sym typeface="Aptos Bold"/>
                </a:rPr>
                <a:t>→</a:t>
              </a:r>
            </a:p>
          </p:txBody>
        </p:sp>
      </p:grpSp>
      <p:grpSp>
        <p:nvGrpSpPr>
          <p:cNvPr name="Group 30" id="30"/>
          <p:cNvGrpSpPr/>
          <p:nvPr/>
        </p:nvGrpSpPr>
        <p:grpSpPr>
          <a:xfrm rot="0">
            <a:off x="5067300" y="2625852"/>
            <a:ext cx="4006596" cy="4925568"/>
            <a:chOff x="0" y="0"/>
            <a:chExt cx="5342128" cy="6567424"/>
          </a:xfrm>
        </p:grpSpPr>
        <p:sp>
          <p:nvSpPr>
            <p:cNvPr name="Freeform 31" id="31"/>
            <p:cNvSpPr/>
            <p:nvPr/>
          </p:nvSpPr>
          <p:spPr>
            <a:xfrm flipH="false" flipV="false" rot="0">
              <a:off x="0" y="0"/>
              <a:ext cx="5342128" cy="6567424"/>
            </a:xfrm>
            <a:custGeom>
              <a:avLst/>
              <a:gdLst/>
              <a:ahLst/>
              <a:cxnLst/>
              <a:rect r="r" b="b" t="t" l="l"/>
              <a:pathLst>
                <a:path h="6567424" w="5342128">
                  <a:moveTo>
                    <a:pt x="0" y="890397"/>
                  </a:moveTo>
                  <a:cubicBezTo>
                    <a:pt x="0" y="398653"/>
                    <a:pt x="398653" y="0"/>
                    <a:pt x="890397" y="0"/>
                  </a:cubicBezTo>
                  <a:lnTo>
                    <a:pt x="4451731" y="0"/>
                  </a:lnTo>
                  <a:cubicBezTo>
                    <a:pt x="4943475" y="0"/>
                    <a:pt x="5342128" y="398653"/>
                    <a:pt x="5342128" y="890397"/>
                  </a:cubicBezTo>
                  <a:lnTo>
                    <a:pt x="5342128" y="5677027"/>
                  </a:lnTo>
                  <a:cubicBezTo>
                    <a:pt x="5342128" y="6168771"/>
                    <a:pt x="4943475" y="6567424"/>
                    <a:pt x="4451731" y="6567424"/>
                  </a:cubicBezTo>
                  <a:lnTo>
                    <a:pt x="890397" y="6567424"/>
                  </a:lnTo>
                  <a:cubicBezTo>
                    <a:pt x="398653" y="6567424"/>
                    <a:pt x="0" y="6168771"/>
                    <a:pt x="0" y="5677027"/>
                  </a:cubicBezTo>
                  <a:close/>
                </a:path>
              </a:pathLst>
            </a:custGeom>
            <a:solidFill>
              <a:srgbClr val="F3F7FB"/>
            </a:solidFill>
            <a:ln w="15240" cap="sq">
              <a:solidFill>
                <a:srgbClr val="DCE6EF"/>
              </a:solidFill>
              <a:prstDash val="solid"/>
              <a:miter/>
            </a:ln>
          </p:spPr>
        </p:sp>
      </p:grpSp>
      <p:grpSp>
        <p:nvGrpSpPr>
          <p:cNvPr name="Group 32" id="32"/>
          <p:cNvGrpSpPr/>
          <p:nvPr/>
        </p:nvGrpSpPr>
        <p:grpSpPr>
          <a:xfrm rot="0">
            <a:off x="5294376" y="2907792"/>
            <a:ext cx="3538728" cy="493776"/>
            <a:chOff x="0" y="0"/>
            <a:chExt cx="4718304" cy="658368"/>
          </a:xfrm>
        </p:grpSpPr>
        <p:sp>
          <p:nvSpPr>
            <p:cNvPr name="Freeform 33" id="33"/>
            <p:cNvSpPr/>
            <p:nvPr/>
          </p:nvSpPr>
          <p:spPr>
            <a:xfrm flipH="false" flipV="false" rot="0">
              <a:off x="0" y="0"/>
              <a:ext cx="4718304" cy="658368"/>
            </a:xfrm>
            <a:custGeom>
              <a:avLst/>
              <a:gdLst/>
              <a:ahLst/>
              <a:cxnLst/>
              <a:rect r="r" b="b" t="t" l="l"/>
              <a:pathLst>
                <a:path h="658368" w="4718304">
                  <a:moveTo>
                    <a:pt x="0" y="109728"/>
                  </a:moveTo>
                  <a:cubicBezTo>
                    <a:pt x="0" y="49149"/>
                    <a:pt x="49149" y="0"/>
                    <a:pt x="109728" y="0"/>
                  </a:cubicBezTo>
                  <a:lnTo>
                    <a:pt x="4608576" y="0"/>
                  </a:lnTo>
                  <a:cubicBezTo>
                    <a:pt x="4669155" y="0"/>
                    <a:pt x="4718304" y="49149"/>
                    <a:pt x="4718304" y="109728"/>
                  </a:cubicBezTo>
                  <a:lnTo>
                    <a:pt x="4718304" y="548640"/>
                  </a:lnTo>
                  <a:cubicBezTo>
                    <a:pt x="4718304" y="609219"/>
                    <a:pt x="4669155" y="658368"/>
                    <a:pt x="4608576" y="658368"/>
                  </a:cubicBezTo>
                  <a:lnTo>
                    <a:pt x="109728" y="658368"/>
                  </a:lnTo>
                  <a:cubicBezTo>
                    <a:pt x="49149" y="658368"/>
                    <a:pt x="0" y="609219"/>
                    <a:pt x="0" y="548640"/>
                  </a:cubicBezTo>
                  <a:close/>
                </a:path>
              </a:pathLst>
            </a:custGeom>
            <a:solidFill>
              <a:srgbClr val="EAF3FC"/>
            </a:solidFill>
          </p:spPr>
        </p:sp>
      </p:grpSp>
      <p:grpSp>
        <p:nvGrpSpPr>
          <p:cNvPr name="Group 34" id="34"/>
          <p:cNvGrpSpPr/>
          <p:nvPr/>
        </p:nvGrpSpPr>
        <p:grpSpPr>
          <a:xfrm rot="0">
            <a:off x="5349240" y="2928366"/>
            <a:ext cx="3429000" cy="452628"/>
            <a:chOff x="0" y="0"/>
            <a:chExt cx="4572000" cy="603504"/>
          </a:xfrm>
        </p:grpSpPr>
        <p:sp>
          <p:nvSpPr>
            <p:cNvPr name="Freeform 35" id="35"/>
            <p:cNvSpPr/>
            <p:nvPr/>
          </p:nvSpPr>
          <p:spPr>
            <a:xfrm flipH="false" flipV="false" rot="0">
              <a:off x="0" y="0"/>
              <a:ext cx="4572000" cy="603502"/>
            </a:xfrm>
            <a:custGeom>
              <a:avLst/>
              <a:gdLst/>
              <a:ahLst/>
              <a:cxnLst/>
              <a:rect r="r" b="b" t="t" l="l"/>
              <a:pathLst>
                <a:path h="603502" w="4572000">
                  <a:moveTo>
                    <a:pt x="0" y="0"/>
                  </a:moveTo>
                  <a:lnTo>
                    <a:pt x="4572000" y="0"/>
                  </a:lnTo>
                  <a:lnTo>
                    <a:pt x="4572000" y="603502"/>
                  </a:lnTo>
                  <a:lnTo>
                    <a:pt x="0" y="603502"/>
                  </a:lnTo>
                  <a:close/>
                </a:path>
              </a:pathLst>
            </a:custGeom>
            <a:blipFill>
              <a:blip r:embed="rId4">
                <a:alphaModFix amt="0"/>
              </a:blip>
              <a:stretch>
                <a:fillRect l="0" t="-97614" r="0" b="-97614"/>
              </a:stretch>
            </a:blipFill>
          </p:spPr>
          <p:txBody>
            <a:bodyPr/>
            <a:p/>
          </p:txBody>
        </p:sp>
        <p:sp>
          <p:nvSpPr>
            <p:cNvPr name="TextBox 36" id="36"/>
            <p:cNvSpPr txBox="true"/>
            <p:nvPr/>
          </p:nvSpPr>
          <p:spPr>
            <a:xfrm>
              <a:off x="0" y="0"/>
              <a:ext cx="4572000" cy="603504"/>
            </a:xfrm>
            <a:prstGeom prst="rect">
              <a:avLst/>
            </a:prstGeom>
          </p:spPr>
          <p:txBody>
            <a:bodyPr anchor="ctr" rtlCol="false" tIns="0" lIns="0" bIns="0" rIns="0"/>
            <a:lstStyle/>
            <a:p>
              <a:pPr algn="ctr">
                <a:lnSpc>
                  <a:spcPts val="1709"/>
                </a:lnSpc>
              </a:pPr>
              <a:r>
                <a:rPr lang="en-US" sz="1425" b="true">
                  <a:solidFill>
                    <a:srgbClr val="008F8A"/>
                  </a:solidFill>
                  <a:latin typeface="Aptos Bold"/>
                  <a:ea typeface="Aptos Bold"/>
                  <a:cs typeface="Aptos Bold"/>
                  <a:sym typeface="Aptos Bold"/>
                </a:rPr>
                <a:t>MEASURE</a:t>
              </a:r>
            </a:p>
          </p:txBody>
        </p:sp>
      </p:grpSp>
      <p:sp>
        <p:nvSpPr>
          <p:cNvPr name="TextBox 37" id="37"/>
          <p:cNvSpPr txBox="true"/>
          <p:nvPr/>
        </p:nvSpPr>
        <p:spPr>
          <a:xfrm rot="0">
            <a:off x="5358384" y="3749040"/>
            <a:ext cx="3410712" cy="745236"/>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Bước SOP &amp; 3M</a:t>
            </a:r>
          </a:p>
        </p:txBody>
      </p:sp>
      <p:sp>
        <p:nvSpPr>
          <p:cNvPr name="TextBox 38" id="38"/>
          <p:cNvSpPr txBox="true"/>
          <p:nvPr/>
        </p:nvSpPr>
        <p:spPr>
          <a:xfrm rot="0">
            <a:off x="5358384" y="4704969"/>
            <a:ext cx="3410712" cy="2381631"/>
          </a:xfrm>
          <a:prstGeom prst="rect">
            <a:avLst/>
          </a:prstGeom>
        </p:spPr>
        <p:txBody>
          <a:bodyPr anchor="t" rtlCol="false" tIns="0" lIns="0" bIns="0" rIns="0">
            <a:spAutoFit/>
          </a:bodyPr>
          <a:lstStyle/>
          <a:p>
            <a:pPr algn="l">
              <a:lnSpc>
                <a:spcPts val="2195"/>
              </a:lnSpc>
            </a:pPr>
            <a:r>
              <a:rPr lang="en-US" sz="1829">
                <a:solidFill>
                  <a:srgbClr val="1F2D3D"/>
                </a:solidFill>
                <a:latin typeface="Aptos"/>
                <a:ea typeface="Aptos"/>
                <a:cs typeface="Aptos"/>
                <a:sym typeface="Aptos"/>
              </a:rPr>
              <a:t>Zone + rule tách 12 bước; tính cycle time, %VA, thời gian chờ, số lần lấy, CV, góc cổ tay.</a:t>
            </a:r>
          </a:p>
        </p:txBody>
      </p:sp>
      <p:grpSp>
        <p:nvGrpSpPr>
          <p:cNvPr name="Group 39" id="39"/>
          <p:cNvGrpSpPr/>
          <p:nvPr/>
        </p:nvGrpSpPr>
        <p:grpSpPr>
          <a:xfrm rot="0">
            <a:off x="9079992" y="4485132"/>
            <a:ext cx="411480" cy="603504"/>
            <a:chOff x="0" y="0"/>
            <a:chExt cx="548640" cy="804672"/>
          </a:xfrm>
        </p:grpSpPr>
        <p:sp>
          <p:nvSpPr>
            <p:cNvPr name="Freeform 40" id="40"/>
            <p:cNvSpPr/>
            <p:nvPr/>
          </p:nvSpPr>
          <p:spPr>
            <a:xfrm flipH="false" flipV="false" rot="0">
              <a:off x="0" y="0"/>
              <a:ext cx="548640" cy="804672"/>
            </a:xfrm>
            <a:custGeom>
              <a:avLst/>
              <a:gdLst/>
              <a:ahLst/>
              <a:cxnLst/>
              <a:rect r="r" b="b" t="t" l="l"/>
              <a:pathLst>
                <a:path h="804672" w="548640">
                  <a:moveTo>
                    <a:pt x="0" y="0"/>
                  </a:moveTo>
                  <a:lnTo>
                    <a:pt x="548640" y="0"/>
                  </a:lnTo>
                  <a:lnTo>
                    <a:pt x="548640" y="804672"/>
                  </a:lnTo>
                  <a:lnTo>
                    <a:pt x="0" y="804672"/>
                  </a:lnTo>
                  <a:close/>
                </a:path>
              </a:pathLst>
            </a:custGeom>
            <a:blipFill>
              <a:blip r:embed="rId4">
                <a:alphaModFix amt="0"/>
              </a:blip>
              <a:stretch>
                <a:fillRect l="-138178" t="0" r="-138178" b="0"/>
              </a:stretch>
            </a:blipFill>
          </p:spPr>
        </p:sp>
        <p:sp>
          <p:nvSpPr>
            <p:cNvPr name="TextBox 41" id="41"/>
            <p:cNvSpPr txBox="true"/>
            <p:nvPr/>
          </p:nvSpPr>
          <p:spPr>
            <a:xfrm>
              <a:off x="0" y="0"/>
              <a:ext cx="548640" cy="804672"/>
            </a:xfrm>
            <a:prstGeom prst="rect">
              <a:avLst/>
            </a:prstGeom>
          </p:spPr>
          <p:txBody>
            <a:bodyPr anchor="ctr" rtlCol="false" tIns="0" lIns="0" bIns="0" rIns="0"/>
            <a:lstStyle/>
            <a:p>
              <a:pPr algn="ctr">
                <a:lnSpc>
                  <a:spcPts val="4320"/>
                </a:lnSpc>
              </a:pPr>
              <a:r>
                <a:rPr lang="en-US" sz="3600" b="true">
                  <a:solidFill>
                    <a:srgbClr val="00B96B"/>
                  </a:solidFill>
                  <a:latin typeface="Aptos Bold"/>
                  <a:ea typeface="Aptos Bold"/>
                  <a:cs typeface="Aptos Bold"/>
                  <a:sym typeface="Aptos Bold"/>
                </a:rPr>
                <a:t>→</a:t>
              </a:r>
            </a:p>
          </p:txBody>
        </p:sp>
      </p:grpSp>
      <p:grpSp>
        <p:nvGrpSpPr>
          <p:cNvPr name="Group 42" id="42"/>
          <p:cNvGrpSpPr/>
          <p:nvPr/>
        </p:nvGrpSpPr>
        <p:grpSpPr>
          <a:xfrm rot="0">
            <a:off x="9483852" y="2625852"/>
            <a:ext cx="4006596" cy="4925568"/>
            <a:chOff x="0" y="0"/>
            <a:chExt cx="5342128" cy="6567424"/>
          </a:xfrm>
        </p:grpSpPr>
        <p:sp>
          <p:nvSpPr>
            <p:cNvPr name="Freeform 43" id="43"/>
            <p:cNvSpPr/>
            <p:nvPr/>
          </p:nvSpPr>
          <p:spPr>
            <a:xfrm flipH="false" flipV="false" rot="0">
              <a:off x="0" y="0"/>
              <a:ext cx="5342128" cy="6567424"/>
            </a:xfrm>
            <a:custGeom>
              <a:avLst/>
              <a:gdLst/>
              <a:ahLst/>
              <a:cxnLst/>
              <a:rect r="r" b="b" t="t" l="l"/>
              <a:pathLst>
                <a:path h="6567424" w="5342128">
                  <a:moveTo>
                    <a:pt x="0" y="890397"/>
                  </a:moveTo>
                  <a:cubicBezTo>
                    <a:pt x="0" y="398653"/>
                    <a:pt x="398653" y="0"/>
                    <a:pt x="890397" y="0"/>
                  </a:cubicBezTo>
                  <a:lnTo>
                    <a:pt x="4451731" y="0"/>
                  </a:lnTo>
                  <a:cubicBezTo>
                    <a:pt x="4943475" y="0"/>
                    <a:pt x="5342128" y="398653"/>
                    <a:pt x="5342128" y="890397"/>
                  </a:cubicBezTo>
                  <a:lnTo>
                    <a:pt x="5342128" y="5677027"/>
                  </a:lnTo>
                  <a:cubicBezTo>
                    <a:pt x="5342128" y="6168771"/>
                    <a:pt x="4943475" y="6567424"/>
                    <a:pt x="4451731" y="6567424"/>
                  </a:cubicBezTo>
                  <a:lnTo>
                    <a:pt x="890397" y="6567424"/>
                  </a:lnTo>
                  <a:cubicBezTo>
                    <a:pt x="398653" y="6567424"/>
                    <a:pt x="0" y="6168771"/>
                    <a:pt x="0" y="5677027"/>
                  </a:cubicBezTo>
                  <a:close/>
                </a:path>
              </a:pathLst>
            </a:custGeom>
            <a:solidFill>
              <a:srgbClr val="F3F7FB"/>
            </a:solidFill>
            <a:ln w="15240" cap="sq">
              <a:solidFill>
                <a:srgbClr val="DCE6EF"/>
              </a:solidFill>
              <a:prstDash val="solid"/>
              <a:miter/>
            </a:ln>
          </p:spPr>
        </p:sp>
      </p:grpSp>
      <p:grpSp>
        <p:nvGrpSpPr>
          <p:cNvPr name="Group 44" id="44"/>
          <p:cNvGrpSpPr/>
          <p:nvPr/>
        </p:nvGrpSpPr>
        <p:grpSpPr>
          <a:xfrm rot="0">
            <a:off x="9710928" y="2907792"/>
            <a:ext cx="3538728" cy="493776"/>
            <a:chOff x="0" y="0"/>
            <a:chExt cx="4718304" cy="658368"/>
          </a:xfrm>
        </p:grpSpPr>
        <p:sp>
          <p:nvSpPr>
            <p:cNvPr name="Freeform 45" id="45"/>
            <p:cNvSpPr/>
            <p:nvPr/>
          </p:nvSpPr>
          <p:spPr>
            <a:xfrm flipH="false" flipV="false" rot="0">
              <a:off x="0" y="0"/>
              <a:ext cx="4718304" cy="658368"/>
            </a:xfrm>
            <a:custGeom>
              <a:avLst/>
              <a:gdLst/>
              <a:ahLst/>
              <a:cxnLst/>
              <a:rect r="r" b="b" t="t" l="l"/>
              <a:pathLst>
                <a:path h="658368" w="4718304">
                  <a:moveTo>
                    <a:pt x="0" y="109728"/>
                  </a:moveTo>
                  <a:cubicBezTo>
                    <a:pt x="0" y="49149"/>
                    <a:pt x="49149" y="0"/>
                    <a:pt x="109728" y="0"/>
                  </a:cubicBezTo>
                  <a:lnTo>
                    <a:pt x="4608576" y="0"/>
                  </a:lnTo>
                  <a:cubicBezTo>
                    <a:pt x="4669155" y="0"/>
                    <a:pt x="4718304" y="49149"/>
                    <a:pt x="4718304" y="109728"/>
                  </a:cubicBezTo>
                  <a:lnTo>
                    <a:pt x="4718304" y="548640"/>
                  </a:lnTo>
                  <a:cubicBezTo>
                    <a:pt x="4718304" y="609219"/>
                    <a:pt x="4669155" y="658368"/>
                    <a:pt x="4608576" y="658368"/>
                  </a:cubicBezTo>
                  <a:lnTo>
                    <a:pt x="109728" y="658368"/>
                  </a:lnTo>
                  <a:cubicBezTo>
                    <a:pt x="49149" y="658368"/>
                    <a:pt x="0" y="609219"/>
                    <a:pt x="0" y="548640"/>
                  </a:cubicBezTo>
                  <a:close/>
                </a:path>
              </a:pathLst>
            </a:custGeom>
            <a:solidFill>
              <a:srgbClr val="E9F8F0"/>
            </a:solidFill>
          </p:spPr>
        </p:sp>
      </p:grpSp>
      <p:grpSp>
        <p:nvGrpSpPr>
          <p:cNvPr name="Group 46" id="46"/>
          <p:cNvGrpSpPr/>
          <p:nvPr/>
        </p:nvGrpSpPr>
        <p:grpSpPr>
          <a:xfrm rot="0">
            <a:off x="9765792" y="2928366"/>
            <a:ext cx="3429000" cy="452628"/>
            <a:chOff x="0" y="0"/>
            <a:chExt cx="4572000" cy="603504"/>
          </a:xfrm>
        </p:grpSpPr>
        <p:sp>
          <p:nvSpPr>
            <p:cNvPr name="Freeform 47" id="47"/>
            <p:cNvSpPr/>
            <p:nvPr/>
          </p:nvSpPr>
          <p:spPr>
            <a:xfrm flipH="false" flipV="false" rot="0">
              <a:off x="0" y="0"/>
              <a:ext cx="4572000" cy="603502"/>
            </a:xfrm>
            <a:custGeom>
              <a:avLst/>
              <a:gdLst/>
              <a:ahLst/>
              <a:cxnLst/>
              <a:rect r="r" b="b" t="t" l="l"/>
              <a:pathLst>
                <a:path h="603502" w="4572000">
                  <a:moveTo>
                    <a:pt x="0" y="0"/>
                  </a:moveTo>
                  <a:lnTo>
                    <a:pt x="4572000" y="0"/>
                  </a:lnTo>
                  <a:lnTo>
                    <a:pt x="4572000" y="603502"/>
                  </a:lnTo>
                  <a:lnTo>
                    <a:pt x="0" y="603502"/>
                  </a:lnTo>
                  <a:close/>
                </a:path>
              </a:pathLst>
            </a:custGeom>
            <a:blipFill>
              <a:blip r:embed="rId4">
                <a:alphaModFix amt="0"/>
              </a:blip>
              <a:stretch>
                <a:fillRect l="0" t="-97614" r="0" b="-97614"/>
              </a:stretch>
            </a:blipFill>
          </p:spPr>
          <p:txBody>
            <a:bodyPr/>
            <a:p/>
          </p:txBody>
        </p:sp>
        <p:sp>
          <p:nvSpPr>
            <p:cNvPr name="TextBox 48" id="48"/>
            <p:cNvSpPr txBox="true"/>
            <p:nvPr/>
          </p:nvSpPr>
          <p:spPr>
            <a:xfrm>
              <a:off x="0" y="0"/>
              <a:ext cx="4572000" cy="603504"/>
            </a:xfrm>
            <a:prstGeom prst="rect">
              <a:avLst/>
            </a:prstGeom>
          </p:spPr>
          <p:txBody>
            <a:bodyPr anchor="ctr" rtlCol="false" tIns="0" lIns="0" bIns="0" rIns="0"/>
            <a:lstStyle/>
            <a:p>
              <a:pPr algn="ctr">
                <a:lnSpc>
                  <a:spcPts val="1709"/>
                </a:lnSpc>
              </a:pPr>
              <a:r>
                <a:rPr lang="en-US" sz="1425" b="true">
                  <a:solidFill>
                    <a:srgbClr val="00B96B"/>
                  </a:solidFill>
                  <a:latin typeface="Aptos Bold"/>
                  <a:ea typeface="Aptos Bold"/>
                  <a:cs typeface="Aptos Bold"/>
                  <a:sym typeface="Aptos Bold"/>
                </a:rPr>
                <a:t>EXPLAIN</a:t>
              </a:r>
            </a:p>
          </p:txBody>
        </p:sp>
      </p:grpSp>
      <p:sp>
        <p:nvSpPr>
          <p:cNvPr name="TextBox 49" id="49"/>
          <p:cNvSpPr txBox="true"/>
          <p:nvPr/>
        </p:nvSpPr>
        <p:spPr>
          <a:xfrm rot="0">
            <a:off x="9774936" y="3749040"/>
            <a:ext cx="3410712" cy="745236"/>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Findings + LLM</a:t>
            </a:r>
          </a:p>
        </p:txBody>
      </p:sp>
      <p:sp>
        <p:nvSpPr>
          <p:cNvPr name="TextBox 50" id="50"/>
          <p:cNvSpPr txBox="true"/>
          <p:nvPr/>
        </p:nvSpPr>
        <p:spPr>
          <a:xfrm rot="0">
            <a:off x="9774936" y="4704969"/>
            <a:ext cx="3410712" cy="2381631"/>
          </a:xfrm>
          <a:prstGeom prst="rect">
            <a:avLst/>
          </a:prstGeom>
        </p:spPr>
        <p:txBody>
          <a:bodyPr anchor="t" rtlCol="false" tIns="0" lIns="0" bIns="0" rIns="0">
            <a:spAutoFit/>
          </a:bodyPr>
          <a:lstStyle/>
          <a:p>
            <a:pPr algn="l">
              <a:lnSpc>
                <a:spcPts val="2195"/>
              </a:lnSpc>
            </a:pPr>
            <a:r>
              <a:rPr lang="en-US" sz="1829">
                <a:solidFill>
                  <a:srgbClr val="1F2D3D"/>
                </a:solidFill>
                <a:latin typeface="Aptos"/>
                <a:ea typeface="Aptos"/>
                <a:cs typeface="Aptos"/>
                <a:sym typeface="Aptos"/>
              </a:rPr>
              <a:t>7 rule tìm vấn đề, xếp hạng theo ảnh hưởng; LLM giải thích có trích dẫn KB/SOP, validator chặn số bịa.</a:t>
            </a:r>
          </a:p>
        </p:txBody>
      </p:sp>
      <p:grpSp>
        <p:nvGrpSpPr>
          <p:cNvPr name="Group 51" id="51"/>
          <p:cNvGrpSpPr/>
          <p:nvPr/>
        </p:nvGrpSpPr>
        <p:grpSpPr>
          <a:xfrm rot="0">
            <a:off x="13496544" y="4485132"/>
            <a:ext cx="411480" cy="603504"/>
            <a:chOff x="0" y="0"/>
            <a:chExt cx="548640" cy="804672"/>
          </a:xfrm>
        </p:grpSpPr>
        <p:sp>
          <p:nvSpPr>
            <p:cNvPr name="Freeform 52" id="52"/>
            <p:cNvSpPr/>
            <p:nvPr/>
          </p:nvSpPr>
          <p:spPr>
            <a:xfrm flipH="false" flipV="false" rot="0">
              <a:off x="0" y="0"/>
              <a:ext cx="548640" cy="804672"/>
            </a:xfrm>
            <a:custGeom>
              <a:avLst/>
              <a:gdLst/>
              <a:ahLst/>
              <a:cxnLst/>
              <a:rect r="r" b="b" t="t" l="l"/>
              <a:pathLst>
                <a:path h="804672" w="548640">
                  <a:moveTo>
                    <a:pt x="0" y="0"/>
                  </a:moveTo>
                  <a:lnTo>
                    <a:pt x="548640" y="0"/>
                  </a:lnTo>
                  <a:lnTo>
                    <a:pt x="548640" y="804672"/>
                  </a:lnTo>
                  <a:lnTo>
                    <a:pt x="0" y="804672"/>
                  </a:lnTo>
                  <a:close/>
                </a:path>
              </a:pathLst>
            </a:custGeom>
            <a:blipFill>
              <a:blip r:embed="rId4">
                <a:alphaModFix amt="0"/>
              </a:blip>
              <a:stretch>
                <a:fillRect l="-138178" t="0" r="-138178" b="0"/>
              </a:stretch>
            </a:blipFill>
          </p:spPr>
        </p:sp>
        <p:sp>
          <p:nvSpPr>
            <p:cNvPr name="TextBox 53" id="53"/>
            <p:cNvSpPr txBox="true"/>
            <p:nvPr/>
          </p:nvSpPr>
          <p:spPr>
            <a:xfrm>
              <a:off x="0" y="0"/>
              <a:ext cx="548640" cy="804672"/>
            </a:xfrm>
            <a:prstGeom prst="rect">
              <a:avLst/>
            </a:prstGeom>
          </p:spPr>
          <p:txBody>
            <a:bodyPr anchor="ctr" rtlCol="false" tIns="0" lIns="0" bIns="0" rIns="0"/>
            <a:lstStyle/>
            <a:p>
              <a:pPr algn="ctr">
                <a:lnSpc>
                  <a:spcPts val="4320"/>
                </a:lnSpc>
              </a:pPr>
              <a:r>
                <a:rPr lang="en-US" sz="3600" b="true">
                  <a:solidFill>
                    <a:srgbClr val="00B96B"/>
                  </a:solidFill>
                  <a:latin typeface="Aptos Bold"/>
                  <a:ea typeface="Aptos Bold"/>
                  <a:cs typeface="Aptos Bold"/>
                  <a:sym typeface="Aptos Bold"/>
                </a:rPr>
                <a:t>→</a:t>
              </a:r>
            </a:p>
          </p:txBody>
        </p:sp>
      </p:grpSp>
      <p:grpSp>
        <p:nvGrpSpPr>
          <p:cNvPr name="Group 54" id="54"/>
          <p:cNvGrpSpPr/>
          <p:nvPr/>
        </p:nvGrpSpPr>
        <p:grpSpPr>
          <a:xfrm rot="0">
            <a:off x="13900404" y="2625852"/>
            <a:ext cx="4006596" cy="4925568"/>
            <a:chOff x="0" y="0"/>
            <a:chExt cx="5342128" cy="6567424"/>
          </a:xfrm>
        </p:grpSpPr>
        <p:sp>
          <p:nvSpPr>
            <p:cNvPr name="Freeform 55" id="55"/>
            <p:cNvSpPr/>
            <p:nvPr/>
          </p:nvSpPr>
          <p:spPr>
            <a:xfrm flipH="false" flipV="false" rot="0">
              <a:off x="0" y="0"/>
              <a:ext cx="5342128" cy="6567424"/>
            </a:xfrm>
            <a:custGeom>
              <a:avLst/>
              <a:gdLst/>
              <a:ahLst/>
              <a:cxnLst/>
              <a:rect r="r" b="b" t="t" l="l"/>
              <a:pathLst>
                <a:path h="6567424" w="5342128">
                  <a:moveTo>
                    <a:pt x="0" y="890397"/>
                  </a:moveTo>
                  <a:cubicBezTo>
                    <a:pt x="0" y="398653"/>
                    <a:pt x="398653" y="0"/>
                    <a:pt x="890397" y="0"/>
                  </a:cubicBezTo>
                  <a:lnTo>
                    <a:pt x="4451731" y="0"/>
                  </a:lnTo>
                  <a:cubicBezTo>
                    <a:pt x="4943475" y="0"/>
                    <a:pt x="5342128" y="398653"/>
                    <a:pt x="5342128" y="890397"/>
                  </a:cubicBezTo>
                  <a:lnTo>
                    <a:pt x="5342128" y="5677027"/>
                  </a:lnTo>
                  <a:cubicBezTo>
                    <a:pt x="5342128" y="6168771"/>
                    <a:pt x="4943475" y="6567424"/>
                    <a:pt x="4451731" y="6567424"/>
                  </a:cubicBezTo>
                  <a:lnTo>
                    <a:pt x="890397" y="6567424"/>
                  </a:lnTo>
                  <a:cubicBezTo>
                    <a:pt x="398653" y="6567424"/>
                    <a:pt x="0" y="6168771"/>
                    <a:pt x="0" y="5677027"/>
                  </a:cubicBezTo>
                  <a:close/>
                </a:path>
              </a:pathLst>
            </a:custGeom>
            <a:solidFill>
              <a:srgbClr val="F3F7FB"/>
            </a:solidFill>
            <a:ln w="15240" cap="sq">
              <a:solidFill>
                <a:srgbClr val="DCE6EF"/>
              </a:solidFill>
              <a:prstDash val="solid"/>
              <a:miter/>
            </a:ln>
          </p:spPr>
        </p:sp>
      </p:grpSp>
      <p:grpSp>
        <p:nvGrpSpPr>
          <p:cNvPr name="Group 56" id="56"/>
          <p:cNvGrpSpPr/>
          <p:nvPr/>
        </p:nvGrpSpPr>
        <p:grpSpPr>
          <a:xfrm rot="0">
            <a:off x="14127480" y="2907792"/>
            <a:ext cx="3538728" cy="493776"/>
            <a:chOff x="0" y="0"/>
            <a:chExt cx="4718304" cy="658368"/>
          </a:xfrm>
        </p:grpSpPr>
        <p:sp>
          <p:nvSpPr>
            <p:cNvPr name="Freeform 57" id="57"/>
            <p:cNvSpPr/>
            <p:nvPr/>
          </p:nvSpPr>
          <p:spPr>
            <a:xfrm flipH="false" flipV="false" rot="0">
              <a:off x="0" y="0"/>
              <a:ext cx="4718304" cy="658368"/>
            </a:xfrm>
            <a:custGeom>
              <a:avLst/>
              <a:gdLst/>
              <a:ahLst/>
              <a:cxnLst/>
              <a:rect r="r" b="b" t="t" l="l"/>
              <a:pathLst>
                <a:path h="658368" w="4718304">
                  <a:moveTo>
                    <a:pt x="0" y="109728"/>
                  </a:moveTo>
                  <a:cubicBezTo>
                    <a:pt x="0" y="49149"/>
                    <a:pt x="49149" y="0"/>
                    <a:pt x="109728" y="0"/>
                  </a:cubicBezTo>
                  <a:lnTo>
                    <a:pt x="4608576" y="0"/>
                  </a:lnTo>
                  <a:cubicBezTo>
                    <a:pt x="4669155" y="0"/>
                    <a:pt x="4718304" y="49149"/>
                    <a:pt x="4718304" y="109728"/>
                  </a:cubicBezTo>
                  <a:lnTo>
                    <a:pt x="4718304" y="548640"/>
                  </a:lnTo>
                  <a:cubicBezTo>
                    <a:pt x="4718304" y="609219"/>
                    <a:pt x="4669155" y="658368"/>
                    <a:pt x="4608576" y="658368"/>
                  </a:cubicBezTo>
                  <a:lnTo>
                    <a:pt x="109728" y="658368"/>
                  </a:lnTo>
                  <a:cubicBezTo>
                    <a:pt x="49149" y="658368"/>
                    <a:pt x="0" y="609219"/>
                    <a:pt x="0" y="548640"/>
                  </a:cubicBezTo>
                  <a:close/>
                </a:path>
              </a:pathLst>
            </a:custGeom>
            <a:solidFill>
              <a:srgbClr val="E9F8F0"/>
            </a:solidFill>
          </p:spPr>
        </p:sp>
      </p:grpSp>
      <p:grpSp>
        <p:nvGrpSpPr>
          <p:cNvPr name="Group 58" id="58"/>
          <p:cNvGrpSpPr/>
          <p:nvPr/>
        </p:nvGrpSpPr>
        <p:grpSpPr>
          <a:xfrm rot="0">
            <a:off x="14182344" y="2928366"/>
            <a:ext cx="3429000" cy="452628"/>
            <a:chOff x="0" y="0"/>
            <a:chExt cx="4572000" cy="603504"/>
          </a:xfrm>
        </p:grpSpPr>
        <p:sp>
          <p:nvSpPr>
            <p:cNvPr name="Freeform 59" id="59"/>
            <p:cNvSpPr/>
            <p:nvPr/>
          </p:nvSpPr>
          <p:spPr>
            <a:xfrm flipH="false" flipV="false" rot="0">
              <a:off x="0" y="0"/>
              <a:ext cx="4572000" cy="603502"/>
            </a:xfrm>
            <a:custGeom>
              <a:avLst/>
              <a:gdLst/>
              <a:ahLst/>
              <a:cxnLst/>
              <a:rect r="r" b="b" t="t" l="l"/>
              <a:pathLst>
                <a:path h="603502" w="4572000">
                  <a:moveTo>
                    <a:pt x="0" y="0"/>
                  </a:moveTo>
                  <a:lnTo>
                    <a:pt x="4572000" y="0"/>
                  </a:lnTo>
                  <a:lnTo>
                    <a:pt x="4572000" y="603502"/>
                  </a:lnTo>
                  <a:lnTo>
                    <a:pt x="0" y="603502"/>
                  </a:lnTo>
                  <a:close/>
                </a:path>
              </a:pathLst>
            </a:custGeom>
            <a:blipFill>
              <a:blip r:embed="rId4">
                <a:alphaModFix amt="0"/>
              </a:blip>
              <a:stretch>
                <a:fillRect l="0" t="-97614" r="0" b="-97614"/>
              </a:stretch>
            </a:blipFill>
          </p:spPr>
          <p:txBody>
            <a:bodyPr/>
            <a:p/>
          </p:txBody>
        </p:sp>
        <p:sp>
          <p:nvSpPr>
            <p:cNvPr name="TextBox 60" id="60"/>
            <p:cNvSpPr txBox="true"/>
            <p:nvPr/>
          </p:nvSpPr>
          <p:spPr>
            <a:xfrm>
              <a:off x="0" y="0"/>
              <a:ext cx="4572000" cy="603504"/>
            </a:xfrm>
            <a:prstGeom prst="rect">
              <a:avLst/>
            </a:prstGeom>
          </p:spPr>
          <p:txBody>
            <a:bodyPr anchor="ctr" rtlCol="false" tIns="0" lIns="0" bIns="0" rIns="0"/>
            <a:lstStyle/>
            <a:p>
              <a:pPr algn="ctr">
                <a:lnSpc>
                  <a:spcPts val="1709"/>
                </a:lnSpc>
              </a:pPr>
              <a:r>
                <a:rPr lang="en-US" sz="1425" b="true">
                  <a:solidFill>
                    <a:srgbClr val="153866"/>
                  </a:solidFill>
                  <a:latin typeface="Aptos Bold"/>
                  <a:ea typeface="Aptos Bold"/>
                  <a:cs typeface="Aptos Bold"/>
                  <a:sym typeface="Aptos Bold"/>
                </a:rPr>
                <a:t>VERIFY</a:t>
              </a:r>
            </a:p>
          </p:txBody>
        </p:sp>
      </p:grpSp>
      <p:sp>
        <p:nvSpPr>
          <p:cNvPr name="TextBox 61" id="61"/>
          <p:cNvSpPr txBox="true"/>
          <p:nvPr/>
        </p:nvSpPr>
        <p:spPr>
          <a:xfrm rot="0">
            <a:off x="14191488" y="3749040"/>
            <a:ext cx="3410712" cy="745236"/>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Kỹ sư duyệt</a:t>
            </a:r>
          </a:p>
        </p:txBody>
      </p:sp>
      <p:sp>
        <p:nvSpPr>
          <p:cNvPr name="TextBox 62" id="62"/>
          <p:cNvSpPr txBox="true"/>
          <p:nvPr/>
        </p:nvSpPr>
        <p:spPr>
          <a:xfrm rot="0">
            <a:off x="14191488" y="4704969"/>
            <a:ext cx="3410712" cy="2381631"/>
          </a:xfrm>
          <a:prstGeom prst="rect">
            <a:avLst/>
          </a:prstGeom>
        </p:spPr>
        <p:txBody>
          <a:bodyPr anchor="t" rtlCol="false" tIns="0" lIns="0" bIns="0" rIns="0">
            <a:spAutoFit/>
          </a:bodyPr>
          <a:lstStyle/>
          <a:p>
            <a:pPr algn="l">
              <a:lnSpc>
                <a:spcPts val="2195"/>
              </a:lnSpc>
            </a:pPr>
            <a:r>
              <a:rPr lang="en-US" sz="1829">
                <a:solidFill>
                  <a:srgbClr val="1F2D3D"/>
                </a:solidFill>
                <a:latin typeface="Aptos"/>
                <a:ea typeface="Aptos"/>
                <a:cs typeface="Aptos"/>
                <a:sym typeface="Aptos"/>
              </a:rPr>
              <a:t>Dashboard + video bằng chứng; duyệt hoặc bác bỏ, thử cải tiến, đo lại cùng phương pháp trước–sau.</a:t>
            </a:r>
          </a:p>
        </p:txBody>
      </p:sp>
      <p:grpSp>
        <p:nvGrpSpPr>
          <p:cNvPr name="Group 63" id="63"/>
          <p:cNvGrpSpPr/>
          <p:nvPr/>
        </p:nvGrpSpPr>
        <p:grpSpPr>
          <a:xfrm rot="0">
            <a:off x="842772" y="7920228"/>
            <a:ext cx="16474440" cy="810768"/>
            <a:chOff x="0" y="0"/>
            <a:chExt cx="21965920" cy="1081024"/>
          </a:xfrm>
        </p:grpSpPr>
        <p:sp>
          <p:nvSpPr>
            <p:cNvPr name="Freeform 64" id="64"/>
            <p:cNvSpPr/>
            <p:nvPr/>
          </p:nvSpPr>
          <p:spPr>
            <a:xfrm flipH="false" flipV="false" rot="0">
              <a:off x="0" y="0"/>
              <a:ext cx="21965921" cy="1081024"/>
            </a:xfrm>
            <a:custGeom>
              <a:avLst/>
              <a:gdLst/>
              <a:ahLst/>
              <a:cxnLst/>
              <a:rect r="r" b="b" t="t" l="l"/>
              <a:pathLst>
                <a:path h="1081024" w="21965921">
                  <a:moveTo>
                    <a:pt x="0" y="180213"/>
                  </a:moveTo>
                  <a:cubicBezTo>
                    <a:pt x="0" y="80645"/>
                    <a:pt x="80645" y="0"/>
                    <a:pt x="180213" y="0"/>
                  </a:cubicBezTo>
                  <a:lnTo>
                    <a:pt x="21785707" y="0"/>
                  </a:lnTo>
                  <a:cubicBezTo>
                    <a:pt x="21885275" y="0"/>
                    <a:pt x="21965921" y="80645"/>
                    <a:pt x="21965921" y="180213"/>
                  </a:cubicBezTo>
                  <a:lnTo>
                    <a:pt x="21965921" y="900811"/>
                  </a:lnTo>
                  <a:cubicBezTo>
                    <a:pt x="21965921" y="1000379"/>
                    <a:pt x="21885275" y="1081024"/>
                    <a:pt x="21785707" y="1081024"/>
                  </a:cubicBezTo>
                  <a:lnTo>
                    <a:pt x="180213" y="1081024"/>
                  </a:lnTo>
                  <a:cubicBezTo>
                    <a:pt x="80645" y="1081024"/>
                    <a:pt x="0" y="1000379"/>
                    <a:pt x="0" y="900811"/>
                  </a:cubicBezTo>
                  <a:close/>
                </a:path>
              </a:pathLst>
            </a:custGeom>
            <a:solidFill>
              <a:srgbClr val="153866"/>
            </a:solidFill>
            <a:ln w="15240" cap="sq">
              <a:solidFill>
                <a:srgbClr val="153866"/>
              </a:solidFill>
              <a:prstDash val="solid"/>
              <a:miter/>
            </a:ln>
          </p:spPr>
        </p:sp>
      </p:grpSp>
      <p:grpSp>
        <p:nvGrpSpPr>
          <p:cNvPr name="Group 65" id="65"/>
          <p:cNvGrpSpPr/>
          <p:nvPr/>
        </p:nvGrpSpPr>
        <p:grpSpPr>
          <a:xfrm rot="0">
            <a:off x="1165860" y="8051292"/>
            <a:ext cx="15841980" cy="480060"/>
            <a:chOff x="0" y="0"/>
            <a:chExt cx="21122640" cy="640080"/>
          </a:xfrm>
        </p:grpSpPr>
        <p:sp>
          <p:nvSpPr>
            <p:cNvPr name="Freeform 66" id="66"/>
            <p:cNvSpPr/>
            <p:nvPr/>
          </p:nvSpPr>
          <p:spPr>
            <a:xfrm flipH="false" flipV="false" rot="0">
              <a:off x="0" y="0"/>
              <a:ext cx="21122639" cy="640080"/>
            </a:xfrm>
            <a:custGeom>
              <a:avLst/>
              <a:gdLst/>
              <a:ahLst/>
              <a:cxnLst/>
              <a:rect r="r" b="b" t="t" l="l"/>
              <a:pathLst>
                <a:path h="640080" w="21122639">
                  <a:moveTo>
                    <a:pt x="0" y="0"/>
                  </a:moveTo>
                  <a:lnTo>
                    <a:pt x="21122639" y="0"/>
                  </a:lnTo>
                  <a:lnTo>
                    <a:pt x="21122639" y="640080"/>
                  </a:lnTo>
                  <a:lnTo>
                    <a:pt x="0" y="640080"/>
                  </a:lnTo>
                  <a:close/>
                </a:path>
              </a:pathLst>
            </a:custGeom>
            <a:blipFill>
              <a:blip r:embed="rId4">
                <a:alphaModFix amt="0"/>
              </a:blip>
              <a:stretch>
                <a:fillRect l="0" t="-593006" r="0" b="-593006"/>
              </a:stretch>
            </a:blipFill>
          </p:spPr>
          <p:txBody>
            <a:bodyPr/>
            <a:p/>
          </p:txBody>
        </p:sp>
        <p:sp>
          <p:nvSpPr>
            <p:cNvPr name="TextBox 67" id="67"/>
            <p:cNvSpPr txBox="true"/>
            <p:nvPr/>
          </p:nvSpPr>
          <p:spPr>
            <a:xfrm>
              <a:off x="0" y="0"/>
              <a:ext cx="21122640" cy="640080"/>
            </a:xfrm>
            <a:prstGeom prst="rect">
              <a:avLst/>
            </a:prstGeom>
          </p:spPr>
          <p:txBody>
            <a:bodyPr anchor="ctr" rtlCol="false" tIns="0" lIns="0" bIns="0" rIns="0"/>
            <a:lstStyle/>
            <a:p>
              <a:pPr algn="ctr">
                <a:lnSpc>
                  <a:spcPts val="2250"/>
                </a:lnSpc>
              </a:pPr>
              <a:r>
                <a:rPr lang="en-US" sz="1875" b="true">
                  <a:solidFill>
                    <a:srgbClr val="FFFFFF"/>
                  </a:solidFill>
                  <a:latin typeface="Aptos Bold"/>
                  <a:ea typeface="Aptos Bold"/>
                  <a:cs typeface="Aptos Bold"/>
                  <a:sym typeface="Aptos Bold"/>
                </a:rPr>
                <a:t>ĐẦU RA: Gantt bước • Yamazumi &amp; %VA • Mura • Muri • findings có video bằng chứng • dashboard</a:t>
              </a:r>
            </a:p>
          </p:txBody>
        </p:sp>
      </p:gr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KIẾN TRÚC</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Mỗi bước chạy lại độc lập được; 30 test tự động.</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KIẾN TRÚC PIPELINE</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9 bước độc lập, mỗi bước đọc file → ghi file; mỗi lần chạy là một run có manifest để tái lập và so sánh.</a:t>
            </a:r>
          </a:p>
        </p:txBody>
      </p:sp>
      <p:sp>
        <p:nvSpPr>
          <p:cNvPr id="18" name="Rounded Rectangle 17"/>
          <p:cNvSpPr/>
          <p:nvPr/>
        </p:nvSpPr>
        <p:spPr>
          <a:xfrm>
            <a:off x="822960"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44168" y="2788920"/>
            <a:ext cx="640080" cy="64008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00</a:t>
            </a:r>
          </a:p>
        </p:txBody>
      </p:sp>
      <p:sp>
        <p:nvSpPr>
          <p:cNvPr id="20" name="TextBox 19"/>
          <p:cNvSpPr txBox="1"/>
          <p:nvPr/>
        </p:nvSpPr>
        <p:spPr>
          <a:xfrm>
            <a:off x="932688"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Inspect</a:t>
            </a:r>
          </a:p>
        </p:txBody>
      </p:sp>
      <p:sp>
        <p:nvSpPr>
          <p:cNvPr id="21" name="TextBox 20"/>
          <p:cNvSpPr txBox="1"/>
          <p:nvPr/>
        </p:nvSpPr>
        <p:spPr>
          <a:xfrm>
            <a:off x="932688"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chốt schema dữ liệu thật</a:t>
            </a:r>
          </a:p>
        </p:txBody>
      </p:sp>
      <p:sp>
        <p:nvSpPr>
          <p:cNvPr id="22" name="Rounded Rectangle 21"/>
          <p:cNvSpPr/>
          <p:nvPr/>
        </p:nvSpPr>
        <p:spPr>
          <a:xfrm>
            <a:off x="2688336"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209544" y="2788920"/>
            <a:ext cx="640080" cy="64008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01</a:t>
            </a:r>
          </a:p>
        </p:txBody>
      </p:sp>
      <p:sp>
        <p:nvSpPr>
          <p:cNvPr id="24" name="TextBox 23"/>
          <p:cNvSpPr txBox="1"/>
          <p:nvPr/>
        </p:nvSpPr>
        <p:spPr>
          <a:xfrm>
            <a:off x="2798064"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Keypoints</a:t>
            </a:r>
          </a:p>
        </p:txBody>
      </p:sp>
      <p:sp>
        <p:nvSpPr>
          <p:cNvPr id="25" name="TextBox 24"/>
          <p:cNvSpPr txBox="1"/>
          <p:nvPr/>
        </p:nvSpPr>
        <p:spPr>
          <a:xfrm>
            <a:off x="2798064"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MediaPipe trên CPU</a:t>
            </a:r>
          </a:p>
        </p:txBody>
      </p:sp>
      <p:sp>
        <p:nvSpPr>
          <p:cNvPr id="26" name="Rounded Rectangle 25"/>
          <p:cNvSpPr/>
          <p:nvPr/>
        </p:nvSpPr>
        <p:spPr>
          <a:xfrm>
            <a:off x="4553712"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074920" y="2788920"/>
            <a:ext cx="640080" cy="64008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02</a:t>
            </a:r>
          </a:p>
        </p:txBody>
      </p:sp>
      <p:sp>
        <p:nvSpPr>
          <p:cNvPr id="28" name="TextBox 27"/>
          <p:cNvSpPr txBox="1"/>
          <p:nvPr/>
        </p:nvSpPr>
        <p:spPr>
          <a:xfrm>
            <a:off x="4663440"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Features</a:t>
            </a:r>
          </a:p>
        </p:txBody>
      </p:sp>
      <p:sp>
        <p:nvSpPr>
          <p:cNvPr id="29" name="TextBox 28"/>
          <p:cNvSpPr txBox="1"/>
          <p:nvPr/>
        </p:nvSpPr>
        <p:spPr>
          <a:xfrm>
            <a:off x="4663440"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lọc nhiễu, tốc độ, zone</a:t>
            </a:r>
          </a:p>
        </p:txBody>
      </p:sp>
      <p:sp>
        <p:nvSpPr>
          <p:cNvPr id="30" name="Rounded Rectangle 29"/>
          <p:cNvSpPr/>
          <p:nvPr/>
        </p:nvSpPr>
        <p:spPr>
          <a:xfrm>
            <a:off x="6419088"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940296" y="2788920"/>
            <a:ext cx="640080" cy="64008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03</a:t>
            </a:r>
          </a:p>
        </p:txBody>
      </p:sp>
      <p:sp>
        <p:nvSpPr>
          <p:cNvPr id="32" name="TextBox 31"/>
          <p:cNvSpPr txBox="1"/>
          <p:nvPr/>
        </p:nvSpPr>
        <p:spPr>
          <a:xfrm>
            <a:off x="6528816"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Events</a:t>
            </a:r>
          </a:p>
        </p:txBody>
      </p:sp>
      <p:sp>
        <p:nvSpPr>
          <p:cNvPr id="33" name="TextBox 32"/>
          <p:cNvSpPr txBox="1"/>
          <p:nvPr/>
        </p:nvSpPr>
        <p:spPr>
          <a:xfrm>
            <a:off x="6528816"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lấy · lắp · chờ · di chuyển</a:t>
            </a:r>
          </a:p>
        </p:txBody>
      </p:sp>
      <p:sp>
        <p:nvSpPr>
          <p:cNvPr id="34" name="Rounded Rectangle 33"/>
          <p:cNvSpPr/>
          <p:nvPr/>
        </p:nvSpPr>
        <p:spPr>
          <a:xfrm>
            <a:off x="8284464"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805672" y="2788920"/>
            <a:ext cx="640080" cy="640080"/>
          </a:xfrm>
          <a:prstGeom prst="ellipse">
            <a:avLst/>
          </a:prstGeom>
          <a:solidFill>
            <a:srgbClr val="1265A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04</a:t>
            </a:r>
          </a:p>
        </p:txBody>
      </p:sp>
      <p:sp>
        <p:nvSpPr>
          <p:cNvPr id="36" name="TextBox 35"/>
          <p:cNvSpPr txBox="1"/>
          <p:nvPr/>
        </p:nvSpPr>
        <p:spPr>
          <a:xfrm>
            <a:off x="8394192"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Steps</a:t>
            </a:r>
          </a:p>
        </p:txBody>
      </p:sp>
      <p:sp>
        <p:nvSpPr>
          <p:cNvPr id="37" name="TextBox 36"/>
          <p:cNvSpPr txBox="1"/>
          <p:nvPr/>
        </p:nvSpPr>
        <p:spPr>
          <a:xfrm>
            <a:off x="8394192"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oracle | pred + đánh giá</a:t>
            </a:r>
          </a:p>
        </p:txBody>
      </p:sp>
      <p:sp>
        <p:nvSpPr>
          <p:cNvPr id="38" name="Rounded Rectangle 37"/>
          <p:cNvSpPr/>
          <p:nvPr/>
        </p:nvSpPr>
        <p:spPr>
          <a:xfrm>
            <a:off x="10149840"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71048" y="2788920"/>
            <a:ext cx="640080" cy="640080"/>
          </a:xfrm>
          <a:prstGeom prst="ellipse">
            <a:avLst/>
          </a:prstGeom>
          <a:solidFill>
            <a:srgbClr val="00B9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05</a:t>
            </a:r>
          </a:p>
        </p:txBody>
      </p:sp>
      <p:sp>
        <p:nvSpPr>
          <p:cNvPr id="40" name="TextBox 39"/>
          <p:cNvSpPr txBox="1"/>
          <p:nvPr/>
        </p:nvSpPr>
        <p:spPr>
          <a:xfrm>
            <a:off x="10259567"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Metrics</a:t>
            </a:r>
          </a:p>
        </p:txBody>
      </p:sp>
      <p:sp>
        <p:nvSpPr>
          <p:cNvPr id="41" name="TextBox 40"/>
          <p:cNvSpPr txBox="1"/>
          <p:nvPr/>
        </p:nvSpPr>
        <p:spPr>
          <a:xfrm>
            <a:off x="10259567"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Muda · Mura · Muri</a:t>
            </a:r>
          </a:p>
        </p:txBody>
      </p:sp>
      <p:sp>
        <p:nvSpPr>
          <p:cNvPr id="42" name="Rounded Rectangle 41"/>
          <p:cNvSpPr/>
          <p:nvPr/>
        </p:nvSpPr>
        <p:spPr>
          <a:xfrm>
            <a:off x="12015216"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2536424" y="2788920"/>
            <a:ext cx="640080" cy="640080"/>
          </a:xfrm>
          <a:prstGeom prst="ellipse">
            <a:avLst/>
          </a:prstGeom>
          <a:solidFill>
            <a:srgbClr val="00B9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06</a:t>
            </a:r>
          </a:p>
        </p:txBody>
      </p:sp>
      <p:sp>
        <p:nvSpPr>
          <p:cNvPr id="44" name="TextBox 43"/>
          <p:cNvSpPr txBox="1"/>
          <p:nvPr/>
        </p:nvSpPr>
        <p:spPr>
          <a:xfrm>
            <a:off x="12124944"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Findings</a:t>
            </a:r>
          </a:p>
        </p:txBody>
      </p:sp>
      <p:sp>
        <p:nvSpPr>
          <p:cNvPr id="45" name="TextBox 44"/>
          <p:cNvSpPr txBox="1"/>
          <p:nvPr/>
        </p:nvSpPr>
        <p:spPr>
          <a:xfrm>
            <a:off x="12124944"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rule R1–R7, xếp hạng</a:t>
            </a:r>
          </a:p>
        </p:txBody>
      </p:sp>
      <p:sp>
        <p:nvSpPr>
          <p:cNvPr id="46" name="Rounded Rectangle 45"/>
          <p:cNvSpPr/>
          <p:nvPr/>
        </p:nvSpPr>
        <p:spPr>
          <a:xfrm>
            <a:off x="13880592"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4401800" y="2788920"/>
            <a:ext cx="640080" cy="640080"/>
          </a:xfrm>
          <a:prstGeom prst="ellipse">
            <a:avLst/>
          </a:prstGeom>
          <a:solidFill>
            <a:srgbClr val="1538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07</a:t>
            </a:r>
          </a:p>
        </p:txBody>
      </p:sp>
      <p:sp>
        <p:nvSpPr>
          <p:cNvPr id="48" name="TextBox 47"/>
          <p:cNvSpPr txBox="1"/>
          <p:nvPr/>
        </p:nvSpPr>
        <p:spPr>
          <a:xfrm>
            <a:off x="13990320"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Explain</a:t>
            </a:r>
          </a:p>
        </p:txBody>
      </p:sp>
      <p:sp>
        <p:nvSpPr>
          <p:cNvPr id="49" name="TextBox 48"/>
          <p:cNvSpPr txBox="1"/>
          <p:nvPr/>
        </p:nvSpPr>
        <p:spPr>
          <a:xfrm>
            <a:off x="13990320"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LLM + validator</a:t>
            </a:r>
          </a:p>
        </p:txBody>
      </p:sp>
      <p:sp>
        <p:nvSpPr>
          <p:cNvPr id="50" name="Rounded Rectangle 49"/>
          <p:cNvSpPr/>
          <p:nvPr/>
        </p:nvSpPr>
        <p:spPr>
          <a:xfrm>
            <a:off x="15745967" y="2606040"/>
            <a:ext cx="1682496" cy="2240280"/>
          </a:xfrm>
          <a:prstGeom prst="roundRect">
            <a:avLst>
              <a:gd name="adj" fmla="val 978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6267176" y="2788920"/>
            <a:ext cx="640080" cy="640080"/>
          </a:xfrm>
          <a:prstGeom prst="ellipse">
            <a:avLst/>
          </a:prstGeom>
          <a:solidFill>
            <a:srgbClr val="1538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ptos Bold"/>
              </a:rPr>
              <a:t>08</a:t>
            </a:r>
          </a:p>
        </p:txBody>
      </p:sp>
      <p:sp>
        <p:nvSpPr>
          <p:cNvPr id="52" name="TextBox 51"/>
          <p:cNvSpPr txBox="1"/>
          <p:nvPr/>
        </p:nvSpPr>
        <p:spPr>
          <a:xfrm>
            <a:off x="15855696" y="3566160"/>
            <a:ext cx="1463040" cy="411480"/>
          </a:xfrm>
          <a:prstGeom prst="rect">
            <a:avLst/>
          </a:prstGeom>
          <a:noFill/>
        </p:spPr>
        <p:txBody>
          <a:bodyPr wrap="square" lIns="0" rIns="0" tIns="0" bIns="0" anchor="t">
            <a:spAutoFit/>
          </a:bodyPr>
          <a:lstStyle/>
          <a:p>
            <a:pPr algn="ctr">
              <a:lnSpc>
                <a:spcPct val="112000"/>
              </a:lnSpc>
              <a:spcAft>
                <a:spcPts val="400"/>
              </a:spcAft>
            </a:pPr>
            <a:r>
              <a:rPr sz="1700" b="1">
                <a:solidFill>
                  <a:srgbClr val="153866"/>
                </a:solidFill>
                <a:latin typeface="Aptos Bold"/>
              </a:rPr>
              <a:t>Report</a:t>
            </a:r>
          </a:p>
        </p:txBody>
      </p:sp>
      <p:sp>
        <p:nvSpPr>
          <p:cNvPr id="53" name="TextBox 52"/>
          <p:cNvSpPr txBox="1"/>
          <p:nvPr/>
        </p:nvSpPr>
        <p:spPr>
          <a:xfrm>
            <a:off x="15855696" y="4005072"/>
            <a:ext cx="1463040" cy="777240"/>
          </a:xfrm>
          <a:prstGeom prst="rect">
            <a:avLst/>
          </a:prstGeom>
          <a:noFill/>
        </p:spPr>
        <p:txBody>
          <a:bodyPr wrap="square" lIns="0" rIns="0" tIns="0" bIns="0" anchor="t">
            <a:spAutoFit/>
          </a:bodyPr>
          <a:lstStyle/>
          <a:p>
            <a:pPr algn="ctr">
              <a:lnSpc>
                <a:spcPct val="112000"/>
              </a:lnSpc>
              <a:spcAft>
                <a:spcPts val="400"/>
              </a:spcAft>
            </a:pPr>
            <a:r>
              <a:rPr sz="1400" b="0">
                <a:solidFill>
                  <a:srgbClr val="586777"/>
                </a:solidFill>
                <a:latin typeface="Aptos"/>
              </a:rPr>
              <a:t>Markdown, PNG, video</a:t>
            </a:r>
          </a:p>
        </p:txBody>
      </p:sp>
      <p:sp>
        <p:nvSpPr>
          <p:cNvPr id="54" name="Rounded Rectangle 53"/>
          <p:cNvSpPr/>
          <p:nvPr/>
        </p:nvSpPr>
        <p:spPr>
          <a:xfrm>
            <a:off x="822960" y="4983480"/>
            <a:ext cx="914400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THỊ GIÁC MÁY TÍNH</a:t>
            </a:r>
          </a:p>
        </p:txBody>
      </p:sp>
      <p:sp>
        <p:nvSpPr>
          <p:cNvPr id="55" name="Rounded Rectangle 54"/>
          <p:cNvSpPr/>
          <p:nvPr/>
        </p:nvSpPr>
        <p:spPr>
          <a:xfrm>
            <a:off x="10149840" y="4983480"/>
            <a:ext cx="3547872" cy="384048"/>
          </a:xfrm>
          <a:prstGeom prst="roundRect">
            <a:avLst>
              <a:gd name="adj" fmla="val 50000"/>
            </a:avLst>
          </a:prstGeom>
          <a:solidFill>
            <a:srgbClr val="E9F8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0B96B"/>
                </a:solidFill>
                <a:latin typeface="Aptos Bold"/>
              </a:rPr>
              <a:t>CHỈ SỐ KAIZEN</a:t>
            </a:r>
          </a:p>
        </p:txBody>
      </p:sp>
      <p:sp>
        <p:nvSpPr>
          <p:cNvPr id="56" name="Rounded Rectangle 55"/>
          <p:cNvSpPr/>
          <p:nvPr/>
        </p:nvSpPr>
        <p:spPr>
          <a:xfrm>
            <a:off x="13880592" y="4983480"/>
            <a:ext cx="3547872"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53866"/>
                </a:solidFill>
                <a:latin typeface="Aptos Bold"/>
              </a:rPr>
              <a:t>COPILOT &amp; BÁO CÁO</a:t>
            </a:r>
          </a:p>
        </p:txBody>
      </p:sp>
      <p:sp>
        <p:nvSpPr>
          <p:cNvPr id="57" name="Rounded Rectangle 56"/>
          <p:cNvSpPr/>
          <p:nvPr/>
        </p:nvSpPr>
        <p:spPr>
          <a:xfrm>
            <a:off x="822960" y="5577840"/>
            <a:ext cx="5349240" cy="2331720"/>
          </a:xfrm>
          <a:prstGeom prst="roundRect">
            <a:avLst>
              <a:gd name="adj" fmla="val 705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97280" y="5760720"/>
            <a:ext cx="4800600" cy="457200"/>
          </a:xfrm>
          <a:prstGeom prst="rect">
            <a:avLst/>
          </a:prstGeom>
          <a:noFill/>
        </p:spPr>
        <p:txBody>
          <a:bodyPr wrap="square" lIns="0" rIns="0" tIns="0" bIns="0" anchor="t">
            <a:spAutoFit/>
          </a:bodyPr>
          <a:lstStyle/>
          <a:p>
            <a:pPr algn="l">
              <a:lnSpc>
                <a:spcPct val="112000"/>
              </a:lnSpc>
              <a:spcAft>
                <a:spcPts val="400"/>
              </a:spcAft>
            </a:pPr>
            <a:r>
              <a:rPr sz="1800" b="1">
                <a:solidFill>
                  <a:srgbClr val="1265A8"/>
                </a:solidFill>
                <a:latin typeface="Aptos Bold"/>
              </a:rPr>
              <a:t>Số do code tính — LLM chỉ giải thích</a:t>
            </a:r>
          </a:p>
        </p:txBody>
      </p:sp>
      <p:sp>
        <p:nvSpPr>
          <p:cNvPr id="59" name="TextBox 58"/>
          <p:cNvSpPr txBox="1"/>
          <p:nvPr/>
        </p:nvSpPr>
        <p:spPr>
          <a:xfrm>
            <a:off x="1097280" y="6263640"/>
            <a:ext cx="4800600" cy="1600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Mỗi chỉ số trong metrics.json kèm đơn vị và định nghĩa. Validator: trích dẫn phải có trong KB/SOP, mọi số phải có trong finding; sai thì hỏi lại LLM 1 lần kèm lỗi cụ thể.</a:t>
            </a:r>
          </a:p>
        </p:txBody>
      </p:sp>
      <p:sp>
        <p:nvSpPr>
          <p:cNvPr id="60" name="Rounded Rectangle 59"/>
          <p:cNvSpPr/>
          <p:nvPr/>
        </p:nvSpPr>
        <p:spPr>
          <a:xfrm>
            <a:off x="6400800" y="5577840"/>
            <a:ext cx="5349240" cy="2331720"/>
          </a:xfrm>
          <a:prstGeom prst="roundRect">
            <a:avLst>
              <a:gd name="adj" fmla="val 705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0" y="5760720"/>
            <a:ext cx="4800600" cy="457200"/>
          </a:xfrm>
          <a:prstGeom prst="rect">
            <a:avLst/>
          </a:prstGeom>
          <a:noFill/>
        </p:spPr>
        <p:txBody>
          <a:bodyPr wrap="square" lIns="0" rIns="0" tIns="0" bIns="0" anchor="t">
            <a:spAutoFit/>
          </a:bodyPr>
          <a:lstStyle/>
          <a:p>
            <a:pPr algn="l">
              <a:lnSpc>
                <a:spcPct val="112000"/>
              </a:lnSpc>
              <a:spcAft>
                <a:spcPts val="400"/>
              </a:spcAft>
            </a:pPr>
            <a:r>
              <a:rPr sz="1800" b="1">
                <a:solidFill>
                  <a:srgbClr val="1265A8"/>
                </a:solidFill>
                <a:latin typeface="Aptos Bold"/>
              </a:rPr>
              <a:t>Chế độ --oracle</a:t>
            </a:r>
          </a:p>
        </p:txBody>
      </p:sp>
      <p:sp>
        <p:nvSpPr>
          <p:cNvPr id="62" name="TextBox 61"/>
          <p:cNvSpPr txBox="1"/>
          <p:nvPr/>
        </p:nvSpPr>
        <p:spPr>
          <a:xfrm>
            <a:off x="6675120" y="6263640"/>
            <a:ext cx="4800600" cy="1600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Dùng nhãn chuyên gia thay cho bước CV để chạy nửa sau độc lập. Chênh lệch oracle vs pred chính là sai số của phần thị giác máy tính.</a:t>
            </a:r>
          </a:p>
        </p:txBody>
      </p:sp>
      <p:sp>
        <p:nvSpPr>
          <p:cNvPr id="63" name="Rounded Rectangle 62"/>
          <p:cNvSpPr/>
          <p:nvPr/>
        </p:nvSpPr>
        <p:spPr>
          <a:xfrm>
            <a:off x="11978640" y="5577840"/>
            <a:ext cx="5349240" cy="2331720"/>
          </a:xfrm>
          <a:prstGeom prst="roundRect">
            <a:avLst>
              <a:gd name="adj" fmla="val 7058"/>
            </a:avLst>
          </a:prstGeom>
          <a:solidFill>
            <a:srgbClr val="FFFFFF"/>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2252960" y="5760720"/>
            <a:ext cx="4800600" cy="457200"/>
          </a:xfrm>
          <a:prstGeom prst="rect">
            <a:avLst/>
          </a:prstGeom>
          <a:noFill/>
        </p:spPr>
        <p:txBody>
          <a:bodyPr wrap="square" lIns="0" rIns="0" tIns="0" bIns="0" anchor="t">
            <a:spAutoFit/>
          </a:bodyPr>
          <a:lstStyle/>
          <a:p>
            <a:pPr algn="l">
              <a:lnSpc>
                <a:spcPct val="112000"/>
              </a:lnSpc>
              <a:spcAft>
                <a:spcPts val="400"/>
              </a:spcAft>
            </a:pPr>
            <a:r>
              <a:rPr sz="1800" b="1">
                <a:solidFill>
                  <a:srgbClr val="1265A8"/>
                </a:solidFill>
                <a:latin typeface="Aptos Bold"/>
              </a:rPr>
              <a:t>Run có manifest</a:t>
            </a:r>
          </a:p>
        </p:txBody>
      </p:sp>
      <p:sp>
        <p:nvSpPr>
          <p:cNvPr id="65" name="TextBox 64"/>
          <p:cNvSpPr txBox="1"/>
          <p:nvPr/>
        </p:nvSpPr>
        <p:spPr>
          <a:xfrm>
            <a:off x="12252960" y="6263640"/>
            <a:ext cx="4800600" cy="1600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outputs/runs/&lt;run_id&gt;/ lưu lệnh gốc, git hash, bản chụp cấu hình trạm. So sánh oracle vs pred, Gemini vs Claude, trước vs sau Kaizen bằng một lệnh.</a:t>
            </a:r>
          </a:p>
        </p:txBody>
      </p:sp>
      <p:sp>
        <p:nvSpPr>
          <p:cNvPr id="66" name="TextBox 65"/>
          <p:cNvSpPr txBox="1"/>
          <p:nvPr/>
        </p:nvSpPr>
        <p:spPr>
          <a:xfrm>
            <a:off x="822960" y="8138160"/>
            <a:ext cx="16642080" cy="411480"/>
          </a:xfrm>
          <a:prstGeom prst="rect">
            <a:avLst/>
          </a:prstGeom>
          <a:noFill/>
        </p:spPr>
        <p:txBody>
          <a:bodyPr wrap="square" lIns="0" rIns="0" tIns="0" bIns="0" anchor="t">
            <a:spAutoFit/>
          </a:bodyPr>
          <a:lstStyle/>
          <a:p>
            <a:pPr algn="l">
              <a:lnSpc>
                <a:spcPct val="112000"/>
              </a:lnSpc>
              <a:spcAft>
                <a:spcPts val="400"/>
              </a:spcAft>
            </a:pPr>
            <a:r>
              <a:rPr sz="1500" b="1">
                <a:solidFill>
                  <a:srgbClr val="586777"/>
                </a:solidFill>
                <a:latin typeface="Aptos Bold"/>
              </a:rPr>
              <a:t>Công nghệ:</a:t>
            </a:r>
            <a:r>
              <a:rPr sz="1500" b="0">
                <a:solidFill>
                  <a:srgbClr val="586777"/>
                </a:solidFill>
                <a:latin typeface="Aptos"/>
              </a:rPr>
              <a:t> Python · MediaPipe · NumPy/Pandas · Shapely · One Euro filter · Gemini 3.8 Flash / Claude · Streamlit · Plotly · H.264 (imageio-ffmpeg)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DỮ LIỆU</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Kinect cũng là ước lượng — dùng để đối chứng, không phải ground truth tuyệt đối.</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DỮ LIỆU &amp; ĐỘ TIN CẬY KEYPOINT</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HA4M: 41 người lắp bộ bánh răng hành tinh, 12 bước, nhãn chuyên gia theo từng khung hình.</a:t>
            </a:r>
          </a:p>
        </p:txBody>
      </p:sp>
      <p:pic>
        <p:nvPicPr>
          <p:cNvPr id="18" name="Picture 17" descr="frame_V001_step3.png"/>
          <p:cNvPicPr>
            <a:picLocks noChangeAspect="1"/>
          </p:cNvPicPr>
          <p:nvPr/>
        </p:nvPicPr>
        <p:blipFill>
          <a:blip r:embed="rId5"/>
          <a:stretch>
            <a:fillRect/>
          </a:stretch>
        </p:blipFill>
        <p:spPr>
          <a:xfrm>
            <a:off x="1173480" y="2468880"/>
            <a:ext cx="7437120" cy="5577840"/>
          </a:xfrm>
          <a:prstGeom prst="rect">
            <a:avLst/>
          </a:prstGeom>
          <a:ln w="12700">
            <a:solidFill>
              <a:srgbClr val="DCE6EF"/>
            </a:solidFill>
          </a:ln>
        </p:spPr>
      </p:pic>
      <p:sp>
        <p:nvSpPr>
          <p:cNvPr id="19" name="TextBox 18"/>
          <p:cNvSpPr txBox="1"/>
          <p:nvPr/>
        </p:nvSpPr>
        <p:spPr>
          <a:xfrm>
            <a:off x="822960" y="8119872"/>
            <a:ext cx="8138160" cy="457200"/>
          </a:xfrm>
          <a:prstGeom prst="rect">
            <a:avLst/>
          </a:prstGeom>
          <a:noFill/>
        </p:spPr>
        <p:txBody>
          <a:bodyPr wrap="square" lIns="0" rIns="0" tIns="0" bIns="0" anchor="t">
            <a:spAutoFit/>
          </a:bodyPr>
          <a:lstStyle/>
          <a:p>
            <a:pPr algn="l">
              <a:lnSpc>
                <a:spcPct val="112000"/>
              </a:lnSpc>
              <a:spcAft>
                <a:spcPts val="400"/>
              </a:spcAft>
            </a:pPr>
            <a:r>
              <a:rPr sz="1300" b="0">
                <a:solidFill>
                  <a:srgbClr val="586777"/>
                </a:solidFill>
                <a:latin typeface="Aptos"/>
              </a:rPr>
              <a:t>Khung hình overlay từ video demo của run (U001_V001, t = 17.6 s, bước 3.1): zone khay tô theo màu bước, vệt cổ tay ~1 s, trạng thái hai tay.</a:t>
            </a:r>
          </a:p>
        </p:txBody>
      </p:sp>
      <p:sp>
        <p:nvSpPr>
          <p:cNvPr id="20" name="Rounded Rectangle 19"/>
          <p:cNvSpPr/>
          <p:nvPr/>
        </p:nvSpPr>
        <p:spPr>
          <a:xfrm>
            <a:off x="9326880" y="2468880"/>
            <a:ext cx="3977639" cy="2697480"/>
          </a:xfrm>
          <a:prstGeom prst="roundRect">
            <a:avLst>
              <a:gd name="adj" fmla="val 6101"/>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0" y="2670048"/>
            <a:ext cx="3428999" cy="777240"/>
          </a:xfrm>
          <a:prstGeom prst="rect">
            <a:avLst/>
          </a:prstGeom>
          <a:noFill/>
        </p:spPr>
        <p:txBody>
          <a:bodyPr wrap="square" lIns="0" rIns="0" tIns="0" bIns="0" anchor="t">
            <a:spAutoFit/>
          </a:bodyPr>
          <a:lstStyle/>
          <a:p>
            <a:pPr algn="l">
              <a:lnSpc>
                <a:spcPct val="112000"/>
              </a:lnSpc>
              <a:spcAft>
                <a:spcPts val="400"/>
              </a:spcAft>
            </a:pPr>
            <a:r>
              <a:rPr sz="4000" b="1">
                <a:solidFill>
                  <a:srgbClr val="1265A8"/>
                </a:solidFill>
                <a:latin typeface="Aptos Bold"/>
              </a:rPr>
              <a:t>2 chu kỳ</a:t>
            </a:r>
          </a:p>
        </p:txBody>
      </p:sp>
      <p:sp>
        <p:nvSpPr>
          <p:cNvPr id="22" name="TextBox 21"/>
          <p:cNvSpPr txBox="1"/>
          <p:nvPr/>
        </p:nvSpPr>
        <p:spPr>
          <a:xfrm>
            <a:off x="9601200" y="3429000"/>
            <a:ext cx="3428999" cy="457200"/>
          </a:xfrm>
          <a:prstGeom prst="rect">
            <a:avLst/>
          </a:prstGeom>
          <a:noFill/>
        </p:spPr>
        <p:txBody>
          <a:bodyPr wrap="square" lIns="0" rIns="0" tIns="0" bIns="0" anchor="t">
            <a:spAutoFit/>
          </a:bodyPr>
          <a:lstStyle/>
          <a:p>
            <a:pPr algn="l">
              <a:lnSpc>
                <a:spcPct val="112000"/>
              </a:lnSpc>
              <a:spcAft>
                <a:spcPts val="400"/>
              </a:spcAft>
            </a:pPr>
            <a:r>
              <a:rPr sz="1700" b="1">
                <a:solidFill>
                  <a:srgbClr val="153866"/>
                </a:solidFill>
                <a:latin typeface="Aptos Bold"/>
              </a:rPr>
              <a:t>U001_V001 · U001_V002</a:t>
            </a:r>
          </a:p>
        </p:txBody>
      </p:sp>
      <p:sp>
        <p:nvSpPr>
          <p:cNvPr id="23" name="TextBox 22"/>
          <p:cNvSpPr txBox="1"/>
          <p:nvPr/>
        </p:nvSpPr>
        <p:spPr>
          <a:xfrm>
            <a:off x="9601200" y="3840480"/>
            <a:ext cx="3428999" cy="1234440"/>
          </a:xfrm>
          <a:prstGeom prst="rect">
            <a:avLst/>
          </a:prstGeom>
          <a:noFill/>
        </p:spPr>
        <p:txBody>
          <a:bodyPr wrap="square" lIns="0" rIns="0" tIns="0" bIns="0" anchor="t">
            <a:spAutoFit/>
          </a:bodyPr>
          <a:lstStyle/>
          <a:p>
            <a:pPr algn="l">
              <a:lnSpc>
                <a:spcPct val="112000"/>
              </a:lnSpc>
              <a:spcAft>
                <a:spcPts val="400"/>
              </a:spcAft>
            </a:pPr>
            <a:r>
              <a:rPr sz="1400" b="0">
                <a:solidFill>
                  <a:srgbClr val="586777"/>
                </a:solidFill>
                <a:latin typeface="Aptos"/>
              </a:rPr>
              <a:t>5.082 khung hình, 30 fps, 2048×1536; trích keypoint ≈ 7.5 fps trên CPU</a:t>
            </a:r>
          </a:p>
        </p:txBody>
      </p:sp>
      <p:sp>
        <p:nvSpPr>
          <p:cNvPr id="24" name="Rounded Rectangle 23"/>
          <p:cNvSpPr/>
          <p:nvPr/>
        </p:nvSpPr>
        <p:spPr>
          <a:xfrm>
            <a:off x="13533120" y="2468880"/>
            <a:ext cx="3977639" cy="2697480"/>
          </a:xfrm>
          <a:prstGeom prst="roundRect">
            <a:avLst>
              <a:gd name="adj" fmla="val 6101"/>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807440" y="2670048"/>
            <a:ext cx="3428999" cy="777240"/>
          </a:xfrm>
          <a:prstGeom prst="rect">
            <a:avLst/>
          </a:prstGeom>
          <a:noFill/>
        </p:spPr>
        <p:txBody>
          <a:bodyPr wrap="square" lIns="0" rIns="0" tIns="0" bIns="0" anchor="t">
            <a:spAutoFit/>
          </a:bodyPr>
          <a:lstStyle/>
          <a:p>
            <a:pPr algn="l">
              <a:lnSpc>
                <a:spcPct val="112000"/>
              </a:lnSpc>
              <a:spcAft>
                <a:spcPts val="400"/>
              </a:spcAft>
            </a:pPr>
            <a:r>
              <a:rPr sz="4000" b="1">
                <a:solidFill>
                  <a:srgbClr val="1265A8"/>
                </a:solidFill>
                <a:latin typeface="Aptos Bold"/>
              </a:rPr>
              <a:t>95–96%</a:t>
            </a:r>
          </a:p>
        </p:txBody>
      </p:sp>
      <p:sp>
        <p:nvSpPr>
          <p:cNvPr id="26" name="TextBox 25"/>
          <p:cNvSpPr txBox="1"/>
          <p:nvPr/>
        </p:nvSpPr>
        <p:spPr>
          <a:xfrm>
            <a:off x="13807440" y="3429000"/>
            <a:ext cx="3428999" cy="457200"/>
          </a:xfrm>
          <a:prstGeom prst="rect">
            <a:avLst/>
          </a:prstGeom>
          <a:noFill/>
        </p:spPr>
        <p:txBody>
          <a:bodyPr wrap="square" lIns="0" rIns="0" tIns="0" bIns="0" anchor="t">
            <a:spAutoFit/>
          </a:bodyPr>
          <a:lstStyle/>
          <a:p>
            <a:pPr algn="l">
              <a:lnSpc>
                <a:spcPct val="112000"/>
              </a:lnSpc>
              <a:spcAft>
                <a:spcPts val="400"/>
              </a:spcAft>
            </a:pPr>
            <a:r>
              <a:rPr sz="1700" b="1">
                <a:solidFill>
                  <a:srgbClr val="153866"/>
                </a:solidFill>
                <a:latin typeface="Aptos Bold"/>
              </a:rPr>
              <a:t>Khung hình phát hiện người</a:t>
            </a:r>
          </a:p>
        </p:txBody>
      </p:sp>
      <p:sp>
        <p:nvSpPr>
          <p:cNvPr id="27" name="TextBox 26"/>
          <p:cNvSpPr txBox="1"/>
          <p:nvPr/>
        </p:nvSpPr>
        <p:spPr>
          <a:xfrm>
            <a:off x="13807440" y="3840480"/>
            <a:ext cx="3428999" cy="1234440"/>
          </a:xfrm>
          <a:prstGeom prst="rect">
            <a:avLst/>
          </a:prstGeom>
          <a:noFill/>
        </p:spPr>
        <p:txBody>
          <a:bodyPr wrap="square" lIns="0" rIns="0" tIns="0" bIns="0" anchor="t">
            <a:spAutoFit/>
          </a:bodyPr>
          <a:lstStyle/>
          <a:p>
            <a:pPr algn="l">
              <a:lnSpc>
                <a:spcPct val="112000"/>
              </a:lnSpc>
              <a:spcAft>
                <a:spcPts val="400"/>
              </a:spcAft>
            </a:pPr>
            <a:r>
              <a:rPr sz="1400" b="0">
                <a:solidFill>
                  <a:srgbClr val="586777"/>
                </a:solidFill>
                <a:latin typeface="Aptos"/>
              </a:rPr>
              <a:t>detect_rate 0.953 / 0.961</a:t>
            </a:r>
          </a:p>
        </p:txBody>
      </p:sp>
      <p:sp>
        <p:nvSpPr>
          <p:cNvPr id="28" name="Rounded Rectangle 27"/>
          <p:cNvSpPr/>
          <p:nvPr/>
        </p:nvSpPr>
        <p:spPr>
          <a:xfrm>
            <a:off x="9326880" y="5349240"/>
            <a:ext cx="3977639" cy="2697480"/>
          </a:xfrm>
          <a:prstGeom prst="roundRect">
            <a:avLst>
              <a:gd name="adj" fmla="val 6101"/>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0" y="5550407"/>
            <a:ext cx="3428999" cy="777240"/>
          </a:xfrm>
          <a:prstGeom prst="rect">
            <a:avLst/>
          </a:prstGeom>
          <a:noFill/>
        </p:spPr>
        <p:txBody>
          <a:bodyPr wrap="square" lIns="0" rIns="0" tIns="0" bIns="0" anchor="t">
            <a:spAutoFit/>
          </a:bodyPr>
          <a:lstStyle/>
          <a:p>
            <a:pPr algn="l">
              <a:lnSpc>
                <a:spcPct val="112000"/>
              </a:lnSpc>
              <a:spcAft>
                <a:spcPts val="400"/>
              </a:spcAft>
            </a:pPr>
            <a:r>
              <a:rPr sz="4000" b="1">
                <a:solidFill>
                  <a:srgbClr val="1265A8"/>
                </a:solidFill>
                <a:latin typeface="Aptos Bold"/>
              </a:rPr>
              <a:t>24.5 px</a:t>
            </a:r>
          </a:p>
        </p:txBody>
      </p:sp>
      <p:sp>
        <p:nvSpPr>
          <p:cNvPr id="30" name="TextBox 29"/>
          <p:cNvSpPr txBox="1"/>
          <p:nvPr/>
        </p:nvSpPr>
        <p:spPr>
          <a:xfrm>
            <a:off x="9601200" y="6309359"/>
            <a:ext cx="3428999" cy="457200"/>
          </a:xfrm>
          <a:prstGeom prst="rect">
            <a:avLst/>
          </a:prstGeom>
          <a:noFill/>
        </p:spPr>
        <p:txBody>
          <a:bodyPr wrap="square" lIns="0" rIns="0" tIns="0" bIns="0" anchor="t">
            <a:spAutoFit/>
          </a:bodyPr>
          <a:lstStyle/>
          <a:p>
            <a:pPr algn="l">
              <a:lnSpc>
                <a:spcPct val="112000"/>
              </a:lnSpc>
              <a:spcAft>
                <a:spcPts val="400"/>
              </a:spcAft>
            </a:pPr>
            <a:r>
              <a:rPr sz="1700" b="1">
                <a:solidFill>
                  <a:srgbClr val="153866"/>
                </a:solidFill>
                <a:latin typeface="Aptos Bold"/>
              </a:rPr>
              <a:t>Lệch trung vị cổ tay phải</a:t>
            </a:r>
          </a:p>
        </p:txBody>
      </p:sp>
      <p:sp>
        <p:nvSpPr>
          <p:cNvPr id="31" name="TextBox 30"/>
          <p:cNvSpPr txBox="1"/>
          <p:nvPr/>
        </p:nvSpPr>
        <p:spPr>
          <a:xfrm>
            <a:off x="9601200" y="6720840"/>
            <a:ext cx="3428999" cy="1234440"/>
          </a:xfrm>
          <a:prstGeom prst="rect">
            <a:avLst/>
          </a:prstGeom>
          <a:noFill/>
        </p:spPr>
        <p:txBody>
          <a:bodyPr wrap="square" lIns="0" rIns="0" tIns="0" bIns="0" anchor="t">
            <a:spAutoFit/>
          </a:bodyPr>
          <a:lstStyle/>
          <a:p>
            <a:pPr algn="l">
              <a:lnSpc>
                <a:spcPct val="112000"/>
              </a:lnSpc>
              <a:spcAft>
                <a:spcPts val="400"/>
              </a:spcAft>
            </a:pPr>
            <a:r>
              <a:rPr sz="1400" b="0">
                <a:solidFill>
                  <a:srgbClr val="586777"/>
                </a:solidFill>
                <a:latin typeface="Aptos"/>
              </a:rPr>
              <a:t>So với skeleton Azure Kinect (U001_V001)</a:t>
            </a:r>
          </a:p>
        </p:txBody>
      </p:sp>
      <p:sp>
        <p:nvSpPr>
          <p:cNvPr id="32" name="Rounded Rectangle 31"/>
          <p:cNvSpPr/>
          <p:nvPr/>
        </p:nvSpPr>
        <p:spPr>
          <a:xfrm>
            <a:off x="13533120" y="5349240"/>
            <a:ext cx="3977639" cy="2697480"/>
          </a:xfrm>
          <a:prstGeom prst="roundRect">
            <a:avLst>
              <a:gd name="adj" fmla="val 6101"/>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07440" y="5550407"/>
            <a:ext cx="3428999" cy="777240"/>
          </a:xfrm>
          <a:prstGeom prst="rect">
            <a:avLst/>
          </a:prstGeom>
          <a:noFill/>
        </p:spPr>
        <p:txBody>
          <a:bodyPr wrap="square" lIns="0" rIns="0" tIns="0" bIns="0" anchor="t">
            <a:spAutoFit/>
          </a:bodyPr>
          <a:lstStyle/>
          <a:p>
            <a:pPr algn="l">
              <a:lnSpc>
                <a:spcPct val="112000"/>
              </a:lnSpc>
              <a:spcAft>
                <a:spcPts val="400"/>
              </a:spcAft>
            </a:pPr>
            <a:r>
              <a:rPr sz="4000" b="1">
                <a:solidFill>
                  <a:srgbClr val="00B96B"/>
                </a:solidFill>
                <a:latin typeface="Aptos Bold"/>
              </a:rPr>
              <a:t>95%</a:t>
            </a:r>
          </a:p>
        </p:txBody>
      </p:sp>
      <p:sp>
        <p:nvSpPr>
          <p:cNvPr id="34" name="TextBox 33"/>
          <p:cNvSpPr txBox="1"/>
          <p:nvPr/>
        </p:nvSpPr>
        <p:spPr>
          <a:xfrm>
            <a:off x="13807440" y="6309359"/>
            <a:ext cx="3428999" cy="457200"/>
          </a:xfrm>
          <a:prstGeom prst="rect">
            <a:avLst/>
          </a:prstGeom>
          <a:noFill/>
        </p:spPr>
        <p:txBody>
          <a:bodyPr wrap="square" lIns="0" rIns="0" tIns="0" bIns="0" anchor="t">
            <a:spAutoFit/>
          </a:bodyPr>
          <a:lstStyle/>
          <a:p>
            <a:pPr algn="l">
              <a:lnSpc>
                <a:spcPct val="112000"/>
              </a:lnSpc>
              <a:spcAft>
                <a:spcPts val="400"/>
              </a:spcAft>
            </a:pPr>
            <a:r>
              <a:rPr sz="1700" b="1">
                <a:solidFill>
                  <a:srgbClr val="153866"/>
                </a:solidFill>
                <a:latin typeface="Aptos Bold"/>
              </a:rPr>
              <a:t>Khung hình lệch &lt; 50 px</a:t>
            </a:r>
          </a:p>
        </p:txBody>
      </p:sp>
      <p:sp>
        <p:nvSpPr>
          <p:cNvPr id="35" name="TextBox 34"/>
          <p:cNvSpPr txBox="1"/>
          <p:nvPr/>
        </p:nvSpPr>
        <p:spPr>
          <a:xfrm>
            <a:off x="13807440" y="6720840"/>
            <a:ext cx="3428999" cy="1234440"/>
          </a:xfrm>
          <a:prstGeom prst="rect">
            <a:avLst/>
          </a:prstGeom>
          <a:noFill/>
        </p:spPr>
        <p:txBody>
          <a:bodyPr wrap="square" lIns="0" rIns="0" tIns="0" bIns="0" anchor="t">
            <a:spAutoFit/>
          </a:bodyPr>
          <a:lstStyle/>
          <a:p>
            <a:pPr algn="l">
              <a:lnSpc>
                <a:spcPct val="112000"/>
              </a:lnSpc>
              <a:spcAft>
                <a:spcPts val="400"/>
              </a:spcAft>
            </a:pPr>
            <a:r>
              <a:rPr sz="1400" b="0">
                <a:solidFill>
                  <a:srgbClr val="586777"/>
                </a:solidFill>
                <a:latin typeface="Aptos"/>
              </a:rPr>
              <a:t>Tay phải. Tay trái hay bị thân che: P90 151.6 px → gắn cờ kém tin cậy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ĐÁNH GIÁ</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Baseline rule-based, chưa huấn luyện model; v2: DTW / change-point.</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PHÂN ĐOẠN BƯỚC: CV vs NHÃN</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Bước bắt đầu ở lần lấy đầu tiên tại khay của bước; so trực tiếp với nhãn chuyên gia.</a:t>
            </a:r>
          </a:p>
        </p:txBody>
      </p:sp>
      <p:pic>
        <p:nvPicPr>
          <p:cNvPr id="18" name="Picture 17" descr="gantt_U001_V001.png"/>
          <p:cNvPicPr>
            <a:picLocks noChangeAspect="1"/>
          </p:cNvPicPr>
          <p:nvPr/>
        </p:nvPicPr>
        <p:blipFill>
          <a:blip r:embed="rId5"/>
          <a:stretch>
            <a:fillRect/>
          </a:stretch>
        </p:blipFill>
        <p:spPr>
          <a:xfrm>
            <a:off x="882502" y="2395728"/>
            <a:ext cx="10122195" cy="3108960"/>
          </a:xfrm>
          <a:prstGeom prst="rect">
            <a:avLst/>
          </a:prstGeom>
          <a:ln w="12700">
            <a:solidFill>
              <a:srgbClr val="DCE6EF"/>
            </a:solidFill>
          </a:ln>
        </p:spPr>
      </p:pic>
      <p:pic>
        <p:nvPicPr>
          <p:cNvPr id="19" name="Picture 18" descr="gantt_U001_V002.png"/>
          <p:cNvPicPr>
            <a:picLocks noChangeAspect="1"/>
          </p:cNvPicPr>
          <p:nvPr/>
        </p:nvPicPr>
        <p:blipFill>
          <a:blip r:embed="rId6"/>
          <a:stretch>
            <a:fillRect/>
          </a:stretch>
        </p:blipFill>
        <p:spPr>
          <a:xfrm>
            <a:off x="882502" y="5596128"/>
            <a:ext cx="10122195" cy="3108960"/>
          </a:xfrm>
          <a:prstGeom prst="rect">
            <a:avLst/>
          </a:prstGeom>
          <a:ln w="12700">
            <a:solidFill>
              <a:srgbClr val="DCE6EF"/>
            </a:solidFill>
          </a:ln>
        </p:spPr>
      </p:pic>
      <p:sp>
        <p:nvSpPr>
          <p:cNvPr id="20" name="Rounded Rectangle 19"/>
          <p:cNvSpPr/>
          <p:nvPr/>
        </p:nvSpPr>
        <p:spPr>
          <a:xfrm>
            <a:off x="11430000" y="2395728"/>
            <a:ext cx="6080760" cy="4160520"/>
          </a:xfrm>
          <a:prstGeom prst="roundRect">
            <a:avLst>
              <a:gd name="adj" fmla="val 3956"/>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1704320" y="2578608"/>
            <a:ext cx="5577840" cy="411480"/>
          </a:xfrm>
          <a:prstGeom prst="rect">
            <a:avLst/>
          </a:prstGeom>
          <a:noFill/>
        </p:spPr>
        <p:txBody>
          <a:bodyPr wrap="square" lIns="0" rIns="0" tIns="0" bIns="0" anchor="t">
            <a:spAutoFit/>
          </a:bodyPr>
          <a:lstStyle/>
          <a:p>
            <a:pPr algn="l">
              <a:lnSpc>
                <a:spcPct val="112000"/>
              </a:lnSpc>
              <a:spcAft>
                <a:spcPts val="400"/>
              </a:spcAft>
            </a:pPr>
            <a:r>
              <a:rPr sz="1900" b="1">
                <a:solidFill>
                  <a:srgbClr val="153866"/>
                </a:solidFill>
                <a:latin typeface="Aptos Bold"/>
              </a:rPr>
              <a:t>Sai số so với nhãn</a:t>
            </a:r>
          </a:p>
        </p:txBody>
      </p:sp>
      <p:sp>
        <p:nvSpPr>
          <p:cNvPr id="22" name="TextBox 21"/>
          <p:cNvSpPr txBox="1"/>
          <p:nvPr/>
        </p:nvSpPr>
        <p:spPr>
          <a:xfrm>
            <a:off x="13898880" y="3127248"/>
            <a:ext cx="1645920" cy="365760"/>
          </a:xfrm>
          <a:prstGeom prst="rect">
            <a:avLst/>
          </a:prstGeom>
          <a:noFill/>
        </p:spPr>
        <p:txBody>
          <a:bodyPr wrap="square" lIns="0" rIns="0" tIns="0" bIns="0" anchor="t">
            <a:spAutoFit/>
          </a:bodyPr>
          <a:lstStyle/>
          <a:p>
            <a:pPr algn="ctr">
              <a:lnSpc>
                <a:spcPct val="112000"/>
              </a:lnSpc>
              <a:spcAft>
                <a:spcPts val="400"/>
              </a:spcAft>
            </a:pPr>
            <a:r>
              <a:rPr sz="1600" b="1">
                <a:solidFill>
                  <a:srgbClr val="586777"/>
                </a:solidFill>
                <a:latin typeface="Aptos Bold"/>
              </a:rPr>
              <a:t>V001</a:t>
            </a:r>
          </a:p>
        </p:txBody>
      </p:sp>
      <p:sp>
        <p:nvSpPr>
          <p:cNvPr id="23" name="TextBox 22"/>
          <p:cNvSpPr txBox="1"/>
          <p:nvPr/>
        </p:nvSpPr>
        <p:spPr>
          <a:xfrm>
            <a:off x="15727680" y="3127248"/>
            <a:ext cx="1645920" cy="365760"/>
          </a:xfrm>
          <a:prstGeom prst="rect">
            <a:avLst/>
          </a:prstGeom>
          <a:noFill/>
        </p:spPr>
        <p:txBody>
          <a:bodyPr wrap="square" lIns="0" rIns="0" tIns="0" bIns="0" anchor="t">
            <a:spAutoFit/>
          </a:bodyPr>
          <a:lstStyle/>
          <a:p>
            <a:pPr algn="ctr">
              <a:lnSpc>
                <a:spcPct val="112000"/>
              </a:lnSpc>
              <a:spcAft>
                <a:spcPts val="400"/>
              </a:spcAft>
            </a:pPr>
            <a:r>
              <a:rPr sz="1600" b="1">
                <a:solidFill>
                  <a:srgbClr val="586777"/>
                </a:solidFill>
                <a:latin typeface="Aptos Bold"/>
              </a:rPr>
              <a:t>V002</a:t>
            </a:r>
          </a:p>
        </p:txBody>
      </p:sp>
      <p:sp>
        <p:nvSpPr>
          <p:cNvPr id="24" name="TextBox 23"/>
          <p:cNvSpPr txBox="1"/>
          <p:nvPr/>
        </p:nvSpPr>
        <p:spPr>
          <a:xfrm>
            <a:off x="11704320" y="3721608"/>
            <a:ext cx="2194560" cy="457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Sai số cycle time</a:t>
            </a:r>
          </a:p>
        </p:txBody>
      </p:sp>
      <p:sp>
        <p:nvSpPr>
          <p:cNvPr id="25" name="TextBox 24"/>
          <p:cNvSpPr txBox="1"/>
          <p:nvPr/>
        </p:nvSpPr>
        <p:spPr>
          <a:xfrm>
            <a:off x="13898880" y="36118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0.6 s</a:t>
            </a:r>
          </a:p>
        </p:txBody>
      </p:sp>
      <p:sp>
        <p:nvSpPr>
          <p:cNvPr id="26" name="TextBox 25"/>
          <p:cNvSpPr txBox="1"/>
          <p:nvPr/>
        </p:nvSpPr>
        <p:spPr>
          <a:xfrm>
            <a:off x="15727680" y="36118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2.27 s</a:t>
            </a:r>
          </a:p>
        </p:txBody>
      </p:sp>
      <p:sp>
        <p:nvSpPr>
          <p:cNvPr id="27" name="TextBox 26"/>
          <p:cNvSpPr txBox="1"/>
          <p:nvPr/>
        </p:nvSpPr>
        <p:spPr>
          <a:xfrm>
            <a:off x="11704320" y="4636008"/>
            <a:ext cx="2194560" cy="457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F1@IoU0.5 bước</a:t>
            </a:r>
          </a:p>
        </p:txBody>
      </p:sp>
      <p:sp>
        <p:nvSpPr>
          <p:cNvPr id="28" name="TextBox 27"/>
          <p:cNvSpPr txBox="1"/>
          <p:nvPr/>
        </p:nvSpPr>
        <p:spPr>
          <a:xfrm>
            <a:off x="13898880" y="45262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0.75</a:t>
            </a:r>
          </a:p>
        </p:txBody>
      </p:sp>
      <p:sp>
        <p:nvSpPr>
          <p:cNvPr id="29" name="TextBox 28"/>
          <p:cNvSpPr txBox="1"/>
          <p:nvPr/>
        </p:nvSpPr>
        <p:spPr>
          <a:xfrm>
            <a:off x="15727680" y="45262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0.714</a:t>
            </a:r>
          </a:p>
        </p:txBody>
      </p:sp>
      <p:sp>
        <p:nvSpPr>
          <p:cNvPr id="30" name="TextBox 29"/>
          <p:cNvSpPr txBox="1"/>
          <p:nvPr/>
        </p:nvSpPr>
        <p:spPr>
          <a:xfrm>
            <a:off x="11704320" y="5550408"/>
            <a:ext cx="2194560" cy="45720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MAE thời lượng bước</a:t>
            </a:r>
          </a:p>
        </p:txBody>
      </p:sp>
      <p:sp>
        <p:nvSpPr>
          <p:cNvPr id="31" name="TextBox 30"/>
          <p:cNvSpPr txBox="1"/>
          <p:nvPr/>
        </p:nvSpPr>
        <p:spPr>
          <a:xfrm>
            <a:off x="13898880" y="54406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0.62 s</a:t>
            </a:r>
          </a:p>
        </p:txBody>
      </p:sp>
      <p:sp>
        <p:nvSpPr>
          <p:cNvPr id="32" name="TextBox 31"/>
          <p:cNvSpPr txBox="1"/>
          <p:nvPr/>
        </p:nvSpPr>
        <p:spPr>
          <a:xfrm>
            <a:off x="15727680" y="5440680"/>
            <a:ext cx="1645920" cy="548640"/>
          </a:xfrm>
          <a:prstGeom prst="rect">
            <a:avLst/>
          </a:prstGeom>
          <a:noFill/>
        </p:spPr>
        <p:txBody>
          <a:bodyPr wrap="square" lIns="0" rIns="0" tIns="0" bIns="0" anchor="t">
            <a:spAutoFit/>
          </a:bodyPr>
          <a:lstStyle/>
          <a:p>
            <a:pPr algn="ctr">
              <a:lnSpc>
                <a:spcPct val="112000"/>
              </a:lnSpc>
              <a:spcAft>
                <a:spcPts val="400"/>
              </a:spcAft>
            </a:pPr>
            <a:r>
              <a:rPr sz="2700" b="1">
                <a:solidFill>
                  <a:srgbClr val="1265A8"/>
                </a:solidFill>
                <a:latin typeface="Aptos Bold"/>
              </a:rPr>
              <a:t>0.92 s</a:t>
            </a:r>
          </a:p>
        </p:txBody>
      </p:sp>
      <p:sp>
        <p:nvSpPr>
          <p:cNvPr id="33" name="Rounded Rectangle 32"/>
          <p:cNvSpPr/>
          <p:nvPr/>
        </p:nvSpPr>
        <p:spPr>
          <a:xfrm>
            <a:off x="11430000" y="6739128"/>
            <a:ext cx="6080760" cy="1965960"/>
          </a:xfrm>
          <a:prstGeom prst="roundRect">
            <a:avLst>
              <a:gd name="adj" fmla="val 8372"/>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704320" y="6903720"/>
            <a:ext cx="5577840" cy="1737360"/>
          </a:xfrm>
          <a:prstGeom prst="rect">
            <a:avLst/>
          </a:prstGeom>
          <a:noFill/>
        </p:spPr>
        <p:txBody>
          <a:bodyPr wrap="square" lIns="0" rIns="0" tIns="0" bIns="0" anchor="t">
            <a:spAutoFit/>
          </a:bodyPr>
          <a:lstStyle/>
          <a:p>
            <a:pPr algn="l">
              <a:lnSpc>
                <a:spcPct val="112000"/>
              </a:lnSpc>
              <a:spcAft>
                <a:spcPts val="600"/>
              </a:spcAft>
            </a:pPr>
            <a:r>
              <a:rPr sz="1450" b="1">
                <a:solidFill>
                  <a:srgbClr val="1F2D3D"/>
                </a:solidFill>
                <a:latin typeface="Aptos Bold"/>
              </a:rPr>
              <a:t>Giới hạn hiện tại:</a:t>
            </a:r>
            <a:r>
              <a:rPr sz="1450" b="0">
                <a:solidFill>
                  <a:srgbClr val="1F2D3D"/>
                </a:solidFill>
                <a:latin typeface="Aptos"/>
              </a:rPr>
              <a:t> bước 9 không có khay riêng → gộp vào “chưa gán” (xám).</a:t>
            </a:r>
          </a:p>
          <a:p>
            <a:pPr algn="l">
              <a:lnSpc>
                <a:spcPct val="112000"/>
              </a:lnSpc>
              <a:spcAft>
                <a:spcPts val="600"/>
              </a:spcAft>
            </a:pPr>
            <a:r>
              <a:rPr sz="1450" b="0">
                <a:solidFill>
                  <a:srgbClr val="1F2D3D"/>
                </a:solidFill>
                <a:latin typeface="Aptos"/>
              </a:rPr>
              <a:t>V002 chưa bắt được bước 3.2 và 5 — hệ thống báo thiếu bước thay vì đoán.</a:t>
            </a:r>
          </a:p>
          <a:p>
            <a:pPr algn="l">
              <a:lnSpc>
                <a:spcPct val="112000"/>
              </a:lnSpc>
              <a:spcAft>
                <a:spcPts val="600"/>
              </a:spcAft>
            </a:pPr>
            <a:r>
              <a:rPr sz="1450" b="0">
                <a:solidFill>
                  <a:srgbClr val="1F2D3D"/>
                </a:solidFill>
                <a:latin typeface="Aptos"/>
              </a:rPr>
              <a:t>Precision 0.80 / 0.91 · recall 0.71 / 0.59 (V001 / V002).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3M</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Rule bước chậm (median + 2·MAD) tự kích hoạt khi có ≥ 3 trial.</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MUDA · MURA · MURI</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Yamazumi theo bước, biến động giữa hai lần lắp và sàng lọc tư thế cổ tay — số do pipeline tính.</a:t>
            </a:r>
          </a:p>
        </p:txBody>
      </p:sp>
      <p:pic>
        <p:nvPicPr>
          <p:cNvPr id="18" name="Picture 17" descr="yamazumi.png"/>
          <p:cNvPicPr>
            <a:picLocks noChangeAspect="1"/>
          </p:cNvPicPr>
          <p:nvPr/>
        </p:nvPicPr>
        <p:blipFill>
          <a:blip r:embed="rId5"/>
          <a:stretch>
            <a:fillRect/>
          </a:stretch>
        </p:blipFill>
        <p:spPr>
          <a:xfrm>
            <a:off x="822960" y="2415322"/>
            <a:ext cx="5852160" cy="6270171"/>
          </a:xfrm>
          <a:prstGeom prst="rect">
            <a:avLst/>
          </a:prstGeom>
          <a:ln w="12700">
            <a:solidFill>
              <a:srgbClr val="DCE6EF"/>
            </a:solidFill>
          </a:ln>
        </p:spPr>
      </p:pic>
      <p:sp>
        <p:nvSpPr>
          <p:cNvPr id="19" name="Rounded Rectangle 18"/>
          <p:cNvSpPr/>
          <p:nvPr/>
        </p:nvSpPr>
        <p:spPr>
          <a:xfrm>
            <a:off x="7040880" y="2395728"/>
            <a:ext cx="10469880" cy="1965960"/>
          </a:xfrm>
          <a:prstGeom prst="roundRect">
            <a:avLst>
              <a:gd name="adj" fmla="val 837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69480" y="2624328"/>
            <a:ext cx="123444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265A8"/>
                </a:solidFill>
                <a:latin typeface="Aptos Bold"/>
              </a:rPr>
              <a:t>MUDA</a:t>
            </a:r>
          </a:p>
        </p:txBody>
      </p:sp>
      <p:sp>
        <p:nvSpPr>
          <p:cNvPr id="21" name="TextBox 20"/>
          <p:cNvSpPr txBox="1"/>
          <p:nvPr/>
        </p:nvSpPr>
        <p:spPr>
          <a:xfrm>
            <a:off x="8686800" y="2596896"/>
            <a:ext cx="8595360" cy="411480"/>
          </a:xfrm>
          <a:prstGeom prst="rect">
            <a:avLst/>
          </a:prstGeom>
          <a:noFill/>
        </p:spPr>
        <p:txBody>
          <a:bodyPr wrap="square" lIns="0" rIns="0" tIns="0" bIns="0" anchor="t">
            <a:spAutoFit/>
          </a:bodyPr>
          <a:lstStyle/>
          <a:p>
            <a:pPr algn="l">
              <a:lnSpc>
                <a:spcPct val="112000"/>
              </a:lnSpc>
              <a:spcAft>
                <a:spcPts val="400"/>
              </a:spcAft>
            </a:pPr>
            <a:r>
              <a:rPr sz="1800" b="1">
                <a:solidFill>
                  <a:srgbClr val="153866"/>
                </a:solidFill>
                <a:latin typeface="Aptos Bold"/>
              </a:rPr>
              <a:t>Lãng phí trong chu kỳ</a:t>
            </a:r>
          </a:p>
        </p:txBody>
      </p:sp>
      <p:sp>
        <p:nvSpPr>
          <p:cNvPr id="22" name="TextBox 21"/>
          <p:cNvSpPr txBox="1"/>
          <p:nvPr/>
        </p:nvSpPr>
        <p:spPr>
          <a:xfrm>
            <a:off x="7269480" y="3172968"/>
            <a:ext cx="10012680" cy="1143000"/>
          </a:xfrm>
          <a:prstGeom prst="rect">
            <a:avLst/>
          </a:prstGeom>
          <a:noFill/>
        </p:spPr>
        <p:txBody>
          <a:bodyPr wrap="square" lIns="0" rIns="0" tIns="0" bIns="0" anchor="t">
            <a:spAutoFit/>
          </a:bodyPr>
          <a:lstStyle/>
          <a:p>
            <a:pPr algn="l" marL="228600" indent="-228600">
              <a:lnSpc>
                <a:spcPct val="112000"/>
              </a:lnSpc>
              <a:spcAft>
                <a:spcPts val="300"/>
              </a:spcAft>
              <a:buFont typeface="Arial"/>
              <a:buChar char="•"/>
            </a:pPr>
            <a:r>
              <a:rPr sz="1500" b="0">
                <a:solidFill>
                  <a:srgbClr val="1F2D3D"/>
                </a:solidFill>
                <a:latin typeface="Aptos"/>
              </a:rPr>
              <a:t>%VA theo nhãn: </a:t>
            </a:r>
            <a:r>
              <a:rPr sz="1500" b="1">
                <a:solidFill>
                  <a:srgbClr val="1F2D3D"/>
                </a:solidFill>
                <a:latin typeface="Aptos Bold"/>
              </a:rPr>
              <a:t>82.1%</a:t>
            </a:r>
            <a:r>
              <a:rPr sz="1500" b="0">
                <a:solidFill>
                  <a:srgbClr val="1F2D3D"/>
                </a:solidFill>
                <a:latin typeface="Aptos"/>
              </a:rPr>
              <a:t> (V001) · </a:t>
            </a:r>
            <a:r>
              <a:rPr sz="1500" b="1">
                <a:solidFill>
                  <a:srgbClr val="1F2D3D"/>
                </a:solidFill>
                <a:latin typeface="Aptos Bold"/>
              </a:rPr>
              <a:t>85.3%</a:t>
            </a:r>
            <a:r>
              <a:rPr sz="1500" b="0">
                <a:solidFill>
                  <a:srgbClr val="1F2D3D"/>
                </a:solidFill>
                <a:latin typeface="Aptos"/>
              </a:rPr>
              <a:t> (V002)</a:t>
            </a:r>
          </a:p>
          <a:p>
            <a:pPr algn="l" marL="228600" indent="-228600">
              <a:lnSpc>
                <a:spcPct val="112000"/>
              </a:lnSpc>
              <a:spcAft>
                <a:spcPts val="300"/>
              </a:spcAft>
              <a:buFont typeface="Arial"/>
              <a:buChar char="•"/>
            </a:pPr>
            <a:r>
              <a:rPr sz="1500" b="1">
                <a:solidFill>
                  <a:srgbClr val="1F2D3D"/>
                </a:solidFill>
                <a:latin typeface="Aptos Bold"/>
              </a:rPr>
              <a:t>15 / 14</a:t>
            </a:r>
            <a:r>
              <a:rPr sz="1500" b="0">
                <a:solidFill>
                  <a:srgbClr val="1F2D3D"/>
                </a:solidFill>
                <a:latin typeface="Aptos"/>
              </a:rPr>
              <a:t> lần lấy linh kiện mỗi chu kỳ; quãng đường cổ tay phải ≈ 13.5k px</a:t>
            </a:r>
          </a:p>
          <a:p>
            <a:pPr algn="l" marL="228600" indent="-228600">
              <a:lnSpc>
                <a:spcPct val="112000"/>
              </a:lnSpc>
              <a:spcAft>
                <a:spcPts val="300"/>
              </a:spcAft>
              <a:buFont typeface="Arial"/>
              <a:buChar char="•"/>
            </a:pPr>
            <a:r>
              <a:rPr sz="1500" b="0">
                <a:solidFill>
                  <a:srgbClr val="1F2D3D"/>
                </a:solidFill>
                <a:latin typeface="Aptos"/>
              </a:rPr>
              <a:t>Phần xám trên Yamazumi = thời gian CV chưa gán được bước</a:t>
            </a:r>
          </a:p>
        </p:txBody>
      </p:sp>
      <p:sp>
        <p:nvSpPr>
          <p:cNvPr id="23" name="Rounded Rectangle 22"/>
          <p:cNvSpPr/>
          <p:nvPr/>
        </p:nvSpPr>
        <p:spPr>
          <a:xfrm>
            <a:off x="7040880" y="4544568"/>
            <a:ext cx="10469880" cy="1965960"/>
          </a:xfrm>
          <a:prstGeom prst="roundRect">
            <a:avLst>
              <a:gd name="adj" fmla="val 837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269480" y="4773168"/>
            <a:ext cx="1234440" cy="384048"/>
          </a:xfrm>
          <a:prstGeom prst="roundRect">
            <a:avLst>
              <a:gd name="adj" fmla="val 50000"/>
            </a:avLst>
          </a:prstGeom>
          <a:solidFill>
            <a:srgbClr val="E9F8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0B96B"/>
                </a:solidFill>
                <a:latin typeface="Aptos Bold"/>
              </a:rPr>
              <a:t>MURA</a:t>
            </a:r>
          </a:p>
        </p:txBody>
      </p:sp>
      <p:sp>
        <p:nvSpPr>
          <p:cNvPr id="25" name="TextBox 24"/>
          <p:cNvSpPr txBox="1"/>
          <p:nvPr/>
        </p:nvSpPr>
        <p:spPr>
          <a:xfrm>
            <a:off x="8686800" y="4745736"/>
            <a:ext cx="8595360" cy="411480"/>
          </a:xfrm>
          <a:prstGeom prst="rect">
            <a:avLst/>
          </a:prstGeom>
          <a:noFill/>
        </p:spPr>
        <p:txBody>
          <a:bodyPr wrap="square" lIns="0" rIns="0" tIns="0" bIns="0" anchor="t">
            <a:spAutoFit/>
          </a:bodyPr>
          <a:lstStyle/>
          <a:p>
            <a:pPr algn="l">
              <a:lnSpc>
                <a:spcPct val="112000"/>
              </a:lnSpc>
              <a:spcAft>
                <a:spcPts val="400"/>
              </a:spcAft>
            </a:pPr>
            <a:r>
              <a:rPr sz="1800" b="1">
                <a:solidFill>
                  <a:srgbClr val="153866"/>
                </a:solidFill>
                <a:latin typeface="Aptos Bold"/>
              </a:rPr>
              <a:t>Biến động giữa hai lần lắp</a:t>
            </a:r>
          </a:p>
        </p:txBody>
      </p:sp>
      <p:sp>
        <p:nvSpPr>
          <p:cNvPr id="26" name="TextBox 25"/>
          <p:cNvSpPr txBox="1"/>
          <p:nvPr/>
        </p:nvSpPr>
        <p:spPr>
          <a:xfrm>
            <a:off x="7269480" y="5321808"/>
            <a:ext cx="10012680" cy="1143000"/>
          </a:xfrm>
          <a:prstGeom prst="rect">
            <a:avLst/>
          </a:prstGeom>
          <a:noFill/>
        </p:spPr>
        <p:txBody>
          <a:bodyPr wrap="square" lIns="0" rIns="0" tIns="0" bIns="0" anchor="t">
            <a:spAutoFit/>
          </a:bodyPr>
          <a:lstStyle/>
          <a:p>
            <a:pPr algn="l" marL="228600" indent="-228600">
              <a:lnSpc>
                <a:spcPct val="112000"/>
              </a:lnSpc>
              <a:spcAft>
                <a:spcPts val="300"/>
              </a:spcAft>
              <a:buFont typeface="Arial"/>
              <a:buChar char="•"/>
            </a:pPr>
            <a:r>
              <a:rPr sz="1500" b="0">
                <a:solidFill>
                  <a:srgbClr val="1F2D3D"/>
                </a:solidFill>
                <a:latin typeface="Aptos"/>
              </a:rPr>
              <a:t>Cycle time theo nhãn </a:t>
            </a:r>
            <a:r>
              <a:rPr sz="1500" b="1">
                <a:solidFill>
                  <a:srgbClr val="1F2D3D"/>
                </a:solidFill>
                <a:latin typeface="Aptos Bold"/>
              </a:rPr>
              <a:t>77.9 s</a:t>
            </a:r>
            <a:r>
              <a:rPr sz="1500" b="0">
                <a:solidFill>
                  <a:srgbClr val="1F2D3D"/>
                </a:solidFill>
                <a:latin typeface="Aptos"/>
              </a:rPr>
              <a:t> vs </a:t>
            </a:r>
            <a:r>
              <a:rPr sz="1500" b="1">
                <a:solidFill>
                  <a:srgbClr val="1F2D3D"/>
                </a:solidFill>
                <a:latin typeface="Aptos Bold"/>
              </a:rPr>
              <a:t>84.3 s</a:t>
            </a:r>
            <a:r>
              <a:rPr sz="1500" b="0">
                <a:solidFill>
                  <a:srgbClr val="1F2D3D"/>
                </a:solidFill>
                <a:latin typeface="Aptos"/>
              </a:rPr>
              <a:t> → CV </a:t>
            </a:r>
            <a:r>
              <a:rPr sz="1500" b="1">
                <a:solidFill>
                  <a:srgbClr val="1F2D3D"/>
                </a:solidFill>
                <a:latin typeface="Aptos Bold"/>
              </a:rPr>
              <a:t>0.056</a:t>
            </a:r>
          </a:p>
          <a:p>
            <a:pPr algn="l" marL="228600" indent="-228600">
              <a:lnSpc>
                <a:spcPct val="112000"/>
              </a:lnSpc>
              <a:spcAft>
                <a:spcPts val="300"/>
              </a:spcAft>
              <a:buFont typeface="Arial"/>
              <a:buChar char="•"/>
            </a:pPr>
            <a:r>
              <a:rPr sz="1500" b="0">
                <a:solidFill>
                  <a:srgbClr val="1F2D3D"/>
                </a:solidFill>
                <a:latin typeface="Aptos"/>
              </a:rPr>
              <a:t>Bước biến động nhất (CV dự đoán): </a:t>
            </a:r>
            <a:r>
              <a:rPr sz="1500" b="1">
                <a:solidFill>
                  <a:srgbClr val="1F2D3D"/>
                </a:solidFill>
                <a:latin typeface="Aptos Bold"/>
              </a:rPr>
              <a:t>B10 Cover CV 0.28</a:t>
            </a:r>
            <a:r>
              <a:rPr sz="1500" b="0">
                <a:solidFill>
                  <a:srgbClr val="1F2D3D"/>
                </a:solidFill>
                <a:latin typeface="Aptos"/>
              </a:rPr>
              <a:t>, </a:t>
            </a:r>
            <a:r>
              <a:rPr sz="1500" b="1">
                <a:solidFill>
                  <a:srgbClr val="1F2D3D"/>
                </a:solidFill>
                <a:latin typeface="Aptos Bold"/>
              </a:rPr>
              <a:t>B12 siết vít CV 0.26</a:t>
            </a:r>
          </a:p>
        </p:txBody>
      </p:sp>
      <p:sp>
        <p:nvSpPr>
          <p:cNvPr id="27" name="Rounded Rectangle 26"/>
          <p:cNvSpPr/>
          <p:nvPr/>
        </p:nvSpPr>
        <p:spPr>
          <a:xfrm>
            <a:off x="7040880" y="6693408"/>
            <a:ext cx="10469880" cy="1965960"/>
          </a:xfrm>
          <a:prstGeom prst="roundRect">
            <a:avLst>
              <a:gd name="adj" fmla="val 8372"/>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269480" y="6922008"/>
            <a:ext cx="123444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153866"/>
                </a:solidFill>
                <a:latin typeface="Aptos Bold"/>
              </a:rPr>
              <a:t>MURI</a:t>
            </a:r>
          </a:p>
        </p:txBody>
      </p:sp>
      <p:sp>
        <p:nvSpPr>
          <p:cNvPr id="29" name="TextBox 28"/>
          <p:cNvSpPr txBox="1"/>
          <p:nvPr/>
        </p:nvSpPr>
        <p:spPr>
          <a:xfrm>
            <a:off x="8686800" y="6894576"/>
            <a:ext cx="8595360" cy="411480"/>
          </a:xfrm>
          <a:prstGeom prst="rect">
            <a:avLst/>
          </a:prstGeom>
          <a:noFill/>
        </p:spPr>
        <p:txBody>
          <a:bodyPr wrap="square" lIns="0" rIns="0" tIns="0" bIns="0" anchor="t">
            <a:spAutoFit/>
          </a:bodyPr>
          <a:lstStyle/>
          <a:p>
            <a:pPr algn="l">
              <a:lnSpc>
                <a:spcPct val="112000"/>
              </a:lnSpc>
              <a:spcAft>
                <a:spcPts val="400"/>
              </a:spcAft>
            </a:pPr>
            <a:r>
              <a:rPr sz="1800" b="1">
                <a:solidFill>
                  <a:srgbClr val="153866"/>
                </a:solidFill>
                <a:latin typeface="Aptos Bold"/>
              </a:rPr>
              <a:t>Sàng lọc tư thế cổ tay (2D)</a:t>
            </a:r>
          </a:p>
        </p:txBody>
      </p:sp>
      <p:sp>
        <p:nvSpPr>
          <p:cNvPr id="30" name="TextBox 29"/>
          <p:cNvSpPr txBox="1"/>
          <p:nvPr/>
        </p:nvSpPr>
        <p:spPr>
          <a:xfrm>
            <a:off x="7269480" y="7470648"/>
            <a:ext cx="10012680" cy="1143000"/>
          </a:xfrm>
          <a:prstGeom prst="rect">
            <a:avLst/>
          </a:prstGeom>
          <a:noFill/>
        </p:spPr>
        <p:txBody>
          <a:bodyPr wrap="square" lIns="0" rIns="0" tIns="0" bIns="0" anchor="t">
            <a:spAutoFit/>
          </a:bodyPr>
          <a:lstStyle/>
          <a:p>
            <a:pPr algn="l" marL="228600" indent="-228600">
              <a:lnSpc>
                <a:spcPct val="112000"/>
              </a:lnSpc>
              <a:spcAft>
                <a:spcPts val="300"/>
              </a:spcAft>
              <a:buFont typeface="Arial"/>
              <a:buChar char="•"/>
            </a:pPr>
            <a:r>
              <a:rPr sz="1500" b="0">
                <a:solidFill>
                  <a:srgbClr val="1F2D3D"/>
                </a:solidFill>
                <a:latin typeface="Aptos"/>
              </a:rPr>
              <a:t>Cổ tay phải lệch &gt; 30° trong </a:t>
            </a:r>
            <a:r>
              <a:rPr sz="1500" b="1">
                <a:solidFill>
                  <a:srgbClr val="1F2D3D"/>
                </a:solidFill>
                <a:latin typeface="Aptos Bold"/>
              </a:rPr>
              <a:t>11.6% / 15.5%</a:t>
            </a:r>
            <a:r>
              <a:rPr sz="1500" b="0">
                <a:solidFill>
                  <a:srgbClr val="1F2D3D"/>
                </a:solidFill>
                <a:latin typeface="Aptos"/>
              </a:rPr>
              <a:t> thời gian (độ phủ 88–91%)</a:t>
            </a:r>
          </a:p>
          <a:p>
            <a:pPr algn="l" marL="228600" indent="-228600">
              <a:lnSpc>
                <a:spcPct val="112000"/>
              </a:lnSpc>
              <a:spcAft>
                <a:spcPts val="300"/>
              </a:spcAft>
              <a:buFont typeface="Arial"/>
              <a:buChar char="•"/>
            </a:pPr>
            <a:r>
              <a:rPr sz="1500" b="0">
                <a:solidFill>
                  <a:srgbClr val="1F2D3D"/>
                </a:solidFill>
                <a:latin typeface="Aptos"/>
              </a:rPr>
              <a:t>Tay trái 23.1% nhưng độ phủ chỉ 27% → chỉ mang tính sàng lọc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HUMAN-IN-THE-LOOP</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Mỗi finding kèm mốc thời gian + ảnh bằng chứng; kỹ sư IE duyệt hoặc bác bỏ.</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FINDINGS &amp; KAIZEN COPILOT</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Rule tìm vấn đề và xếp hạng theo ảnh hưởng; LLM giải thích nhưng không được tạo số.</a:t>
            </a:r>
          </a:p>
        </p:txBody>
      </p:sp>
      <p:pic>
        <p:nvPicPr>
          <p:cNvPr id="18" name="Picture 17" descr="evidence_F01.png"/>
          <p:cNvPicPr>
            <a:picLocks noChangeAspect="1"/>
          </p:cNvPicPr>
          <p:nvPr/>
        </p:nvPicPr>
        <p:blipFill>
          <a:blip r:embed="rId5"/>
          <a:stretch>
            <a:fillRect/>
          </a:stretch>
        </p:blipFill>
        <p:spPr>
          <a:xfrm>
            <a:off x="822960" y="2407158"/>
            <a:ext cx="7589520" cy="5692140"/>
          </a:xfrm>
          <a:prstGeom prst="rect">
            <a:avLst/>
          </a:prstGeom>
          <a:ln w="12700">
            <a:solidFill>
              <a:srgbClr val="DCE6EF"/>
            </a:solidFill>
          </a:ln>
        </p:spPr>
      </p:pic>
      <p:sp>
        <p:nvSpPr>
          <p:cNvPr id="19" name="TextBox 18"/>
          <p:cNvSpPr txBox="1"/>
          <p:nvPr/>
        </p:nvSpPr>
        <p:spPr>
          <a:xfrm>
            <a:off x="822960" y="8183879"/>
            <a:ext cx="7589520" cy="457200"/>
          </a:xfrm>
          <a:prstGeom prst="rect">
            <a:avLst/>
          </a:prstGeom>
          <a:noFill/>
        </p:spPr>
        <p:txBody>
          <a:bodyPr wrap="square" lIns="0" rIns="0" tIns="0" bIns="0" anchor="t">
            <a:spAutoFit/>
          </a:bodyPr>
          <a:lstStyle/>
          <a:p>
            <a:pPr algn="l">
              <a:lnSpc>
                <a:spcPct val="112000"/>
              </a:lnSpc>
              <a:spcAft>
                <a:spcPts val="400"/>
              </a:spcAft>
            </a:pPr>
            <a:r>
              <a:rPr sz="1300" b="0">
                <a:solidFill>
                  <a:srgbClr val="586777"/>
                </a:solidFill>
                <a:latin typeface="Aptos"/>
              </a:rPr>
              <a:t>F01 · U001_V002 · t = 62.6 s · bước 11: tay phải ở khay vít/lục giác (bằng chứng do 08_report sinh).</a:t>
            </a:r>
          </a:p>
        </p:txBody>
      </p:sp>
      <p:sp>
        <p:nvSpPr>
          <p:cNvPr id="20" name="Rounded Rectangle 19"/>
          <p:cNvSpPr/>
          <p:nvPr/>
        </p:nvSpPr>
        <p:spPr>
          <a:xfrm>
            <a:off x="8778240" y="2395728"/>
            <a:ext cx="8732520" cy="2651760"/>
          </a:xfrm>
          <a:prstGeom prst="roundRect">
            <a:avLst>
              <a:gd name="adj" fmla="val 6206"/>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2560320"/>
            <a:ext cx="8229600" cy="411480"/>
          </a:xfrm>
          <a:prstGeom prst="rect">
            <a:avLst/>
          </a:prstGeom>
          <a:noFill/>
        </p:spPr>
        <p:txBody>
          <a:bodyPr wrap="square" lIns="0" rIns="0" tIns="0" bIns="0" anchor="t">
            <a:spAutoFit/>
          </a:bodyPr>
          <a:lstStyle/>
          <a:p>
            <a:pPr algn="l">
              <a:lnSpc>
                <a:spcPct val="112000"/>
              </a:lnSpc>
              <a:spcAft>
                <a:spcPts val="400"/>
              </a:spcAft>
            </a:pPr>
            <a:r>
              <a:rPr sz="1800" b="1">
                <a:solidFill>
                  <a:srgbClr val="153866"/>
                </a:solidFill>
                <a:latin typeface="Aptos Bold"/>
              </a:rPr>
              <a:t>3 findings của run (xếp hạng)</a:t>
            </a:r>
          </a:p>
        </p:txBody>
      </p:sp>
      <p:sp>
        <p:nvSpPr>
          <p:cNvPr id="22" name="Rounded Rectangle 21"/>
          <p:cNvSpPr/>
          <p:nvPr/>
        </p:nvSpPr>
        <p:spPr>
          <a:xfrm>
            <a:off x="9052560" y="3108960"/>
            <a:ext cx="777240" cy="384048"/>
          </a:xfrm>
          <a:prstGeom prst="roundRect">
            <a:avLst>
              <a:gd name="adj" fmla="val 50000"/>
            </a:avLst>
          </a:prstGeom>
          <a:solidFill>
            <a:srgbClr val="E349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ptos Bold"/>
              </a:rPr>
              <a:t>F01</a:t>
            </a:r>
          </a:p>
        </p:txBody>
      </p:sp>
      <p:sp>
        <p:nvSpPr>
          <p:cNvPr id="23" name="Rounded Rectangle 22"/>
          <p:cNvSpPr/>
          <p:nvPr/>
        </p:nvSpPr>
        <p:spPr>
          <a:xfrm>
            <a:off x="9921240" y="3108960"/>
            <a:ext cx="64008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R2</a:t>
            </a:r>
          </a:p>
        </p:txBody>
      </p:sp>
      <p:sp>
        <p:nvSpPr>
          <p:cNvPr id="24" name="TextBox 23"/>
          <p:cNvSpPr txBox="1"/>
          <p:nvPr/>
        </p:nvSpPr>
        <p:spPr>
          <a:xfrm>
            <a:off x="10744200" y="3154679"/>
            <a:ext cx="6583680" cy="41148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Lấy dư ở khay vít/lục giác: </a:t>
            </a:r>
            <a:r>
              <a:rPr sz="1500" b="1">
                <a:solidFill>
                  <a:srgbClr val="1F2D3D"/>
                </a:solidFill>
                <a:latin typeface="Aptos Bold"/>
              </a:rPr>
              <a:t>4 lần</a:t>
            </a:r>
            <a:r>
              <a:rPr sz="1500" b="0">
                <a:solidFill>
                  <a:srgbClr val="1F2D3D"/>
                </a:solidFill>
                <a:latin typeface="Aptos"/>
              </a:rPr>
              <a:t>, SOP cần 3 (≈ 0.84 s/chu kỳ)</a:t>
            </a:r>
          </a:p>
        </p:txBody>
      </p:sp>
      <p:sp>
        <p:nvSpPr>
          <p:cNvPr id="25" name="Rounded Rectangle 24"/>
          <p:cNvSpPr/>
          <p:nvPr/>
        </p:nvSpPr>
        <p:spPr>
          <a:xfrm>
            <a:off x="9052560" y="3730752"/>
            <a:ext cx="777240" cy="384048"/>
          </a:xfrm>
          <a:prstGeom prst="roundRect">
            <a:avLst>
              <a:gd name="adj" fmla="val 50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ptos Bold"/>
              </a:rPr>
              <a:t>F02</a:t>
            </a:r>
          </a:p>
        </p:txBody>
      </p:sp>
      <p:sp>
        <p:nvSpPr>
          <p:cNvPr id="26" name="Rounded Rectangle 25"/>
          <p:cNvSpPr/>
          <p:nvPr/>
        </p:nvSpPr>
        <p:spPr>
          <a:xfrm>
            <a:off x="9921240" y="3730752"/>
            <a:ext cx="64008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R4</a:t>
            </a:r>
          </a:p>
        </p:txBody>
      </p:sp>
      <p:sp>
        <p:nvSpPr>
          <p:cNvPr id="27" name="TextBox 26"/>
          <p:cNvSpPr txBox="1"/>
          <p:nvPr/>
        </p:nvSpPr>
        <p:spPr>
          <a:xfrm>
            <a:off x="10744200" y="3776472"/>
            <a:ext cx="6583680" cy="41148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V002 thiếu bước 3.2 và 5 — giới hạn CV, độ tin cậy thấp</a:t>
            </a:r>
          </a:p>
        </p:txBody>
      </p:sp>
      <p:sp>
        <p:nvSpPr>
          <p:cNvPr id="28" name="Rounded Rectangle 27"/>
          <p:cNvSpPr/>
          <p:nvPr/>
        </p:nvSpPr>
        <p:spPr>
          <a:xfrm>
            <a:off x="9052560" y="4352544"/>
            <a:ext cx="777240" cy="384048"/>
          </a:xfrm>
          <a:prstGeom prst="roundRect">
            <a:avLst>
              <a:gd name="adj" fmla="val 50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ptos Bold"/>
              </a:rPr>
              <a:t>F03</a:t>
            </a:r>
          </a:p>
        </p:txBody>
      </p:sp>
      <p:sp>
        <p:nvSpPr>
          <p:cNvPr id="29" name="Rounded Rectangle 28"/>
          <p:cNvSpPr/>
          <p:nvPr/>
        </p:nvSpPr>
        <p:spPr>
          <a:xfrm>
            <a:off x="9921240" y="4352544"/>
            <a:ext cx="640080" cy="384048"/>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R7</a:t>
            </a:r>
          </a:p>
        </p:txBody>
      </p:sp>
      <p:sp>
        <p:nvSpPr>
          <p:cNvPr id="30" name="TextBox 29"/>
          <p:cNvSpPr txBox="1"/>
          <p:nvPr/>
        </p:nvSpPr>
        <p:spPr>
          <a:xfrm>
            <a:off x="10744200" y="4398264"/>
            <a:ext cx="6583680" cy="411480"/>
          </a:xfrm>
          <a:prstGeom prst="rect">
            <a:avLst/>
          </a:prstGeom>
          <a:noFill/>
        </p:spPr>
        <p:txBody>
          <a:bodyPr wrap="square" lIns="0" rIns="0" tIns="0" bIns="0" anchor="t">
            <a:spAutoFit/>
          </a:bodyPr>
          <a:lstStyle/>
          <a:p>
            <a:pPr algn="l">
              <a:lnSpc>
                <a:spcPct val="112000"/>
              </a:lnSpc>
              <a:spcAft>
                <a:spcPts val="400"/>
              </a:spcAft>
            </a:pPr>
            <a:r>
              <a:rPr sz="1500" b="0">
                <a:solidFill>
                  <a:srgbClr val="1F2D3D"/>
                </a:solidFill>
                <a:latin typeface="Aptos"/>
              </a:rPr>
              <a:t>Cổ tay trái lệch &gt; 30° trong </a:t>
            </a:r>
            <a:r>
              <a:rPr sz="1500" b="1">
                <a:solidFill>
                  <a:srgbClr val="1F2D3D"/>
                </a:solidFill>
                <a:latin typeface="Aptos Bold"/>
              </a:rPr>
              <a:t>23.1%</a:t>
            </a:r>
            <a:r>
              <a:rPr sz="1500" b="0">
                <a:solidFill>
                  <a:srgbClr val="1F2D3D"/>
                </a:solidFill>
                <a:latin typeface="Aptos"/>
              </a:rPr>
              <a:t> thời gian — sàng lọc 2D</a:t>
            </a:r>
          </a:p>
        </p:txBody>
      </p:sp>
      <p:sp>
        <p:nvSpPr>
          <p:cNvPr id="31" name="Rounded Rectangle 30"/>
          <p:cNvSpPr/>
          <p:nvPr/>
        </p:nvSpPr>
        <p:spPr>
          <a:xfrm>
            <a:off x="8778240" y="5230368"/>
            <a:ext cx="8732520" cy="3429000"/>
          </a:xfrm>
          <a:prstGeom prst="roundRect">
            <a:avLst>
              <a:gd name="adj" fmla="val 48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0" y="5394960"/>
            <a:ext cx="8229600" cy="411480"/>
          </a:xfrm>
          <a:prstGeom prst="rect">
            <a:avLst/>
          </a:prstGeom>
          <a:noFill/>
        </p:spPr>
        <p:txBody>
          <a:bodyPr wrap="square" lIns="0" rIns="0" tIns="0" bIns="0" anchor="t">
            <a:spAutoFit/>
          </a:bodyPr>
          <a:lstStyle/>
          <a:p>
            <a:pPr algn="l">
              <a:lnSpc>
                <a:spcPct val="112000"/>
              </a:lnSpc>
              <a:spcAft>
                <a:spcPts val="400"/>
              </a:spcAft>
            </a:pPr>
            <a:r>
              <a:rPr sz="1700" b="1">
                <a:solidFill>
                  <a:srgbClr val="153866"/>
                </a:solidFill>
                <a:latin typeface="Aptos Bold"/>
              </a:rPr>
              <a:t>Giải thích thật — Gemini 3.8 Flash (finding cổ tay)</a:t>
            </a:r>
          </a:p>
        </p:txBody>
      </p:sp>
      <p:sp>
        <p:nvSpPr>
          <p:cNvPr id="33" name="TextBox 32"/>
          <p:cNvSpPr txBox="1"/>
          <p:nvPr/>
        </p:nvSpPr>
        <p:spPr>
          <a:xfrm>
            <a:off x="9052560" y="5852160"/>
            <a:ext cx="8229600" cy="1554480"/>
          </a:xfrm>
          <a:prstGeom prst="rect">
            <a:avLst/>
          </a:prstGeom>
          <a:noFill/>
        </p:spPr>
        <p:txBody>
          <a:bodyPr wrap="square" lIns="0" rIns="0" tIns="0" bIns="0" anchor="t">
            <a:spAutoFit/>
          </a:bodyPr>
          <a:lstStyle/>
          <a:p>
            <a:pPr algn="l">
              <a:lnSpc>
                <a:spcPct val="112000"/>
              </a:lnSpc>
              <a:spcAft>
                <a:spcPts val="400"/>
              </a:spcAft>
            </a:pPr>
            <a:r>
              <a:rPr sz="1400" b="0">
                <a:solidFill>
                  <a:srgbClr val="1F2D3D"/>
                </a:solidFill>
                <a:latin typeface="Aptos"/>
              </a:rPr>
              <a:t>“Thời gian góc cổ tay left lệch &gt; 30° chiếm 23.1%, vượt ngưỡng 20.0%… góc lệch P90 là 67.4°.”</a:t>
            </a:r>
          </a:p>
          <a:p>
            <a:pPr algn="l">
              <a:lnSpc>
                <a:spcPct val="112000"/>
              </a:lnSpc>
              <a:spcAft>
                <a:spcPts val="400"/>
              </a:spcAft>
            </a:pPr>
            <a:r>
              <a:rPr sz="1400" b="0">
                <a:solidFill>
                  <a:srgbClr val="1F2D3D"/>
                </a:solidFill>
                <a:latin typeface="Aptos"/>
              </a:rPr>
              <a:t>“Theo ECRS (Rearrange/Simplify), xem xét sắp xếp lại vị trí hoặc nghiêng khay linh kiện… kỹ sư IE cần quan sát video để xác nhận.”</a:t>
            </a:r>
          </a:p>
        </p:txBody>
      </p:sp>
      <p:sp>
        <p:nvSpPr>
          <p:cNvPr id="34" name="Rounded Rectangle 33"/>
          <p:cNvSpPr/>
          <p:nvPr/>
        </p:nvSpPr>
        <p:spPr>
          <a:xfrm>
            <a:off x="9052560" y="7543800"/>
            <a:ext cx="1005840"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KB-13</a:t>
            </a:r>
          </a:p>
        </p:txBody>
      </p:sp>
      <p:sp>
        <p:nvSpPr>
          <p:cNvPr id="35" name="Rounded Rectangle 34"/>
          <p:cNvSpPr/>
          <p:nvPr/>
        </p:nvSpPr>
        <p:spPr>
          <a:xfrm>
            <a:off x="10149840" y="7543800"/>
            <a:ext cx="1005840" cy="36576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KB-01</a:t>
            </a:r>
          </a:p>
        </p:txBody>
      </p:sp>
      <p:sp>
        <p:nvSpPr>
          <p:cNvPr id="36" name="Rounded Rectangle 35"/>
          <p:cNvSpPr/>
          <p:nvPr/>
        </p:nvSpPr>
        <p:spPr>
          <a:xfrm>
            <a:off x="11338560" y="7543800"/>
            <a:ext cx="3200400" cy="365760"/>
          </a:xfrm>
          <a:prstGeom prst="roundRect">
            <a:avLst>
              <a:gd name="adj" fmla="val 50000"/>
            </a:avLst>
          </a:prstGeom>
          <a:solidFill>
            <a:srgbClr val="E9F8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00B96B"/>
                </a:solidFill>
                <a:latin typeface="Aptos Bold"/>
              </a:rPr>
              <a:t>✓ Validator: đạt ngay lần 1</a:t>
            </a:r>
          </a:p>
        </p:txBody>
      </p:sp>
      <p:sp>
        <p:nvSpPr>
          <p:cNvPr id="37" name="TextBox 36"/>
          <p:cNvSpPr txBox="1"/>
          <p:nvPr/>
        </p:nvSpPr>
        <p:spPr>
          <a:xfrm>
            <a:off x="9052560" y="8046720"/>
            <a:ext cx="8229600" cy="548640"/>
          </a:xfrm>
          <a:prstGeom prst="rect">
            <a:avLst/>
          </a:prstGeom>
          <a:noFill/>
        </p:spPr>
        <p:txBody>
          <a:bodyPr wrap="square" lIns="0" rIns="0" tIns="0" bIns="0" anchor="t">
            <a:spAutoFit/>
          </a:bodyPr>
          <a:lstStyle/>
          <a:p>
            <a:pPr algn="l">
              <a:lnSpc>
                <a:spcPct val="112000"/>
              </a:lnSpc>
              <a:spcAft>
                <a:spcPts val="400"/>
              </a:spcAft>
            </a:pPr>
            <a:r>
              <a:rPr sz="1300" b="0">
                <a:solidFill>
                  <a:srgbClr val="586777"/>
                </a:solidFill>
                <a:latin typeface="Aptos"/>
              </a:rPr>
              <a:t>Validator đã bắt lỗi thật (“phân vị 90” → vá whitelist) và chặn số bịa như “tiết kiệm 8.2 s” bằng retry có phản hồi.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980713"/>
            <a:ext cx="18288000" cy="1306287"/>
            <a:chOff x="0" y="0"/>
            <a:chExt cx="24384000" cy="1741716"/>
          </a:xfrm>
        </p:grpSpPr>
        <p:sp>
          <p:nvSpPr>
            <p:cNvPr name="Freeform 7" id="7" descr="A blue and green rectangle with a circle and lines  AI-generated content may be incorrect."/>
            <p:cNvSpPr/>
            <p:nvPr/>
          </p:nvSpPr>
          <p:spPr>
            <a:xfrm flipH="false" flipV="false" rot="0">
              <a:off x="0" y="0"/>
              <a:ext cx="24384000" cy="1741678"/>
            </a:xfrm>
            <a:custGeom>
              <a:avLst/>
              <a:gdLst/>
              <a:ahLst/>
              <a:cxnLst/>
              <a:rect r="r" b="b" t="t" l="l"/>
              <a:pathLst>
                <a:path h="1741678" w="24384000">
                  <a:moveTo>
                    <a:pt x="0" y="0"/>
                  </a:moveTo>
                  <a:lnTo>
                    <a:pt x="24384000" y="0"/>
                  </a:lnTo>
                  <a:lnTo>
                    <a:pt x="24384000" y="1741678"/>
                  </a:lnTo>
                  <a:lnTo>
                    <a:pt x="0" y="1741678"/>
                  </a:lnTo>
                  <a:lnTo>
                    <a:pt x="0" y="0"/>
                  </a:lnTo>
                  <a:close/>
                </a:path>
              </a:pathLst>
            </a:custGeom>
            <a:blipFill>
              <a:blip r:embed="rId3"/>
              <a:stretch>
                <a:fillRect l="0" t="-306176" r="0" b="-527175"/>
              </a:stretch>
            </a:blipFill>
          </p:spPr>
        </p:sp>
      </p:grpSp>
      <p:grpSp>
        <p:nvGrpSpPr>
          <p:cNvPr name="Group 8" id="8"/>
          <p:cNvGrpSpPr/>
          <p:nvPr/>
        </p:nvGrpSpPr>
        <p:grpSpPr>
          <a:xfrm rot="0">
            <a:off x="252565" y="9209151"/>
            <a:ext cx="87630" cy="896874"/>
            <a:chOff x="0" y="0"/>
            <a:chExt cx="116840" cy="1195832"/>
          </a:xfrm>
        </p:grpSpPr>
        <p:sp>
          <p:nvSpPr>
            <p:cNvPr name="Freeform 9" id="9"/>
            <p:cNvSpPr/>
            <p:nvPr/>
          </p:nvSpPr>
          <p:spPr>
            <a:xfrm flipH="false" flipV="false" rot="0">
              <a:off x="0" y="0"/>
              <a:ext cx="116840" cy="1195832"/>
            </a:xfrm>
            <a:custGeom>
              <a:avLst/>
              <a:gdLst/>
              <a:ahLst/>
              <a:cxnLst/>
              <a:rect r="r" b="b" t="t" l="l"/>
              <a:pathLst>
                <a:path h="1195832" w="116840">
                  <a:moveTo>
                    <a:pt x="0" y="0"/>
                  </a:moveTo>
                  <a:lnTo>
                    <a:pt x="116840" y="0"/>
                  </a:lnTo>
                  <a:lnTo>
                    <a:pt x="116840" y="1195832"/>
                  </a:lnTo>
                  <a:lnTo>
                    <a:pt x="0" y="1195832"/>
                  </a:lnTo>
                  <a:close/>
                </a:path>
              </a:pathLst>
            </a:custGeom>
            <a:solidFill>
              <a:srgbClr val="30D158"/>
            </a:solidFill>
            <a:ln w="19050" cap="sq">
              <a:solidFill>
                <a:srgbClr val="30D158"/>
              </a:solidFill>
              <a:prstDash val="solid"/>
              <a:miter/>
            </a:ln>
          </p:spPr>
        </p:sp>
      </p:grpSp>
      <p:grpSp>
        <p:nvGrpSpPr>
          <p:cNvPr name="Group 10" id="10"/>
          <p:cNvGrpSpPr/>
          <p:nvPr/>
        </p:nvGrpSpPr>
        <p:grpSpPr>
          <a:xfrm rot="0">
            <a:off x="495262" y="9342120"/>
            <a:ext cx="15019020" cy="342900"/>
            <a:chOff x="0" y="0"/>
            <a:chExt cx="20025360" cy="457200"/>
          </a:xfrm>
        </p:grpSpPr>
        <p:sp>
          <p:nvSpPr>
            <p:cNvPr name="Freeform 11" id="11"/>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2" id="12"/>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DEMO</a:t>
              </a:r>
            </a:p>
          </p:txBody>
        </p:sp>
      </p:grpSp>
      <p:grpSp>
        <p:nvGrpSpPr>
          <p:cNvPr name="Group 13" id="13"/>
          <p:cNvGrpSpPr/>
          <p:nvPr/>
        </p:nvGrpSpPr>
        <p:grpSpPr>
          <a:xfrm rot="0">
            <a:off x="495262" y="9822180"/>
            <a:ext cx="15019020" cy="164592"/>
            <a:chOff x="0" y="0"/>
            <a:chExt cx="20025360" cy="219456"/>
          </a:xfrm>
        </p:grpSpPr>
        <p:sp>
          <p:nvSpPr>
            <p:cNvPr name="Freeform 14" id="14"/>
            <p:cNvSpPr/>
            <p:nvPr/>
          </p:nvSpPr>
          <p:spPr>
            <a:xfrm flipH="false" flipV="false" rot="0">
              <a:off x="0" y="0"/>
              <a:ext cx="20025361" cy="219456"/>
            </a:xfrm>
            <a:custGeom>
              <a:avLst/>
              <a:gdLst/>
              <a:ahLst/>
              <a:cxnLst/>
              <a:rect r="r" b="b" t="t" l="l"/>
              <a:pathLst>
                <a:path h="219456" w="20025361">
                  <a:moveTo>
                    <a:pt x="0" y="0"/>
                  </a:moveTo>
                  <a:lnTo>
                    <a:pt x="20025361" y="0"/>
                  </a:lnTo>
                  <a:lnTo>
                    <a:pt x="20025361" y="219456"/>
                  </a:lnTo>
                  <a:lnTo>
                    <a:pt x="0" y="219456"/>
                  </a:lnTo>
                  <a:close/>
                </a:path>
              </a:pathLst>
            </a:custGeom>
            <a:blipFill>
              <a:blip r:embed="rId4">
                <a:alphaModFix amt="0"/>
              </a:blip>
              <a:stretch>
                <a:fillRect l="0" t="-1728009" r="0" b="-1728009"/>
              </a:stretch>
            </a:blipFill>
          </p:spPr>
          <p:txBody>
            <a:bodyPr/>
            <a:p/>
          </p:txBody>
        </p:sp>
        <p:sp>
          <p:nvSpPr>
            <p:cNvPr name="TextBox 15" id="15"/>
            <p:cNvSpPr txBox="true"/>
            <p:nvPr/>
          </p:nvSpPr>
          <p:spPr>
            <a:xfrm>
              <a:off x="0" y="-9525"/>
              <a:ext cx="20025360" cy="228981"/>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Video overlay H.264 phát ngay trên trình duyệt.</a:t>
              </a:r>
            </a:p>
          </p:txBody>
        </p:sp>
      </p:grpSp>
      <p:sp>
        <p:nvSpPr>
          <p:cNvPr name="TextBox 16" id="16"/>
          <p:cNvSpPr txBox="true"/>
          <p:nvPr/>
        </p:nvSpPr>
        <p:spPr>
          <a:xfrm rot="0">
            <a:off x="4480560" y="463810"/>
            <a:ext cx="13167360" cy="1236964"/>
          </a:xfrm>
          <a:prstGeom prst="rect">
            <a:avLst/>
          </a:prstGeom>
        </p:spPr>
        <p:txBody>
          <a:bodyPr anchor="t" rtlCol="false" tIns="0" lIns="0" bIns="0" rIns="0">
            <a:spAutoFit/>
          </a:bodyPr>
          <a:lstStyle/>
          <a:p>
            <a:pPr algn="r">
              <a:lnSpc>
                <a:spcPts val="4536"/>
              </a:lnSpc>
            </a:pPr>
            <a:r>
              <a:rPr lang="en-US" sz="4200" b="true">
                <a:solidFill>
                  <a:srgbClr val="FFFFFF"/>
                </a:solidFill>
                <a:latin typeface="Aptos Bold"/>
                <a:ea typeface="Aptos Bold"/>
                <a:cs typeface="Aptos Bold"/>
                <a:sym typeface="Aptos Bold"/>
              </a:rPr>
              <a:t>DASHBOARD DEMO</a:t>
            </a:r>
          </a:p>
        </p:txBody>
      </p:sp>
      <p:sp>
        <p:nvSpPr>
          <p:cNvPr name="TextBox 17" id="17"/>
          <p:cNvSpPr txBox="true"/>
          <p:nvPr/>
        </p:nvSpPr>
        <p:spPr>
          <a:xfrm rot="0">
            <a:off x="804672" y="1856232"/>
            <a:ext cx="16646652" cy="512064"/>
          </a:xfrm>
          <a:prstGeom prst="rect">
            <a:avLst/>
          </a:prstGeom>
        </p:spPr>
        <p:txBody>
          <a:bodyPr anchor="t" rtlCol="false" tIns="0" lIns="0" bIns="0" rIns="0">
            <a:spAutoFit/>
          </a:bodyPr>
          <a:lstStyle/>
          <a:p>
            <a:pPr algn="l">
              <a:lnSpc>
                <a:spcPts val="2879"/>
              </a:lnSpc>
            </a:pPr>
            <a:r>
              <a:rPr lang="en-US" sz="2400">
                <a:solidFill>
                  <a:srgbClr val="586777"/>
                </a:solidFill>
                <a:latin typeface="Aptos"/>
                <a:ea typeface="Aptos"/>
                <a:cs typeface="Aptos"/>
                <a:sym typeface="Aptos"/>
              </a:rPr>
              <a:t>Streamlit 8 tab, chỉ đọc kết quả của run — mở thẳng một run bằng đường link ?run=&lt;run_id&gt;.</a:t>
            </a:r>
          </a:p>
        </p:txBody>
      </p:sp>
      <p:pic>
        <p:nvPicPr>
          <p:cNvPr id="18" name="Picture 17" descr="ui_video_compare.png"/>
          <p:cNvPicPr>
            <a:picLocks noChangeAspect="1"/>
          </p:cNvPicPr>
          <p:nvPr/>
        </p:nvPicPr>
        <p:blipFill>
          <a:blip r:embed="rId5"/>
          <a:stretch>
            <a:fillRect/>
          </a:stretch>
        </p:blipFill>
        <p:spPr>
          <a:xfrm>
            <a:off x="824718" y="2395728"/>
            <a:ext cx="7037363" cy="6309360"/>
          </a:xfrm>
          <a:prstGeom prst="rect">
            <a:avLst/>
          </a:prstGeom>
          <a:ln w="12700">
            <a:solidFill>
              <a:srgbClr val="DCE6EF"/>
            </a:solidFill>
          </a:ln>
        </p:spPr>
      </p:pic>
      <p:pic>
        <p:nvPicPr>
          <p:cNvPr id="19" name="Picture 18" descr="ui_timeline.png"/>
          <p:cNvPicPr>
            <a:picLocks noChangeAspect="1"/>
          </p:cNvPicPr>
          <p:nvPr/>
        </p:nvPicPr>
        <p:blipFill>
          <a:blip r:embed="rId6"/>
          <a:stretch>
            <a:fillRect/>
          </a:stretch>
        </p:blipFill>
        <p:spPr>
          <a:xfrm>
            <a:off x="8193210" y="2395728"/>
            <a:ext cx="9308218" cy="3931920"/>
          </a:xfrm>
          <a:prstGeom prst="rect">
            <a:avLst/>
          </a:prstGeom>
          <a:ln w="12700">
            <a:solidFill>
              <a:srgbClr val="DCE6EF"/>
            </a:solidFill>
          </a:ln>
        </p:spPr>
      </p:pic>
      <p:sp>
        <p:nvSpPr>
          <p:cNvPr id="20" name="Rounded Rectangle 19"/>
          <p:cNvSpPr/>
          <p:nvPr/>
        </p:nvSpPr>
        <p:spPr>
          <a:xfrm>
            <a:off x="8183879" y="6510528"/>
            <a:ext cx="9326880" cy="2194560"/>
          </a:xfrm>
          <a:prstGeom prst="roundRect">
            <a:avLst>
              <a:gd name="adj" fmla="val 7500"/>
            </a:avLst>
          </a:prstGeom>
          <a:solidFill>
            <a:srgbClr val="F7F9FB"/>
          </a:solidFill>
          <a:ln w="15240">
            <a:solidFill>
              <a:srgbClr val="DCE6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58200" y="6675120"/>
            <a:ext cx="8778240" cy="411480"/>
          </a:xfrm>
          <a:prstGeom prst="rect">
            <a:avLst/>
          </a:prstGeom>
          <a:noFill/>
        </p:spPr>
        <p:txBody>
          <a:bodyPr wrap="square" lIns="0" rIns="0" tIns="0" bIns="0" anchor="t">
            <a:spAutoFit/>
          </a:bodyPr>
          <a:lstStyle/>
          <a:p>
            <a:pPr algn="l">
              <a:lnSpc>
                <a:spcPct val="112000"/>
              </a:lnSpc>
              <a:spcAft>
                <a:spcPts val="400"/>
              </a:spcAft>
            </a:pPr>
            <a:r>
              <a:rPr sz="1800" b="1">
                <a:solidFill>
                  <a:srgbClr val="153866"/>
                </a:solidFill>
                <a:latin typeface="Aptos Bold"/>
              </a:rPr>
              <a:t>8 tab cho kỹ sư IE</a:t>
            </a:r>
          </a:p>
        </p:txBody>
      </p:sp>
      <p:sp>
        <p:nvSpPr>
          <p:cNvPr id="22" name="Rounded Rectangle 21"/>
          <p:cNvSpPr/>
          <p:nvPr/>
        </p:nvSpPr>
        <p:spPr>
          <a:xfrm>
            <a:off x="8458200" y="7205472"/>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Tổng quan</a:t>
            </a:r>
          </a:p>
        </p:txBody>
      </p:sp>
      <p:sp>
        <p:nvSpPr>
          <p:cNvPr id="23" name="Rounded Rectangle 22"/>
          <p:cNvSpPr/>
          <p:nvPr/>
        </p:nvSpPr>
        <p:spPr>
          <a:xfrm>
            <a:off x="10671048" y="7205472"/>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Video &amp; Timeline</a:t>
            </a:r>
          </a:p>
        </p:txBody>
      </p:sp>
      <p:sp>
        <p:nvSpPr>
          <p:cNvPr id="24" name="Rounded Rectangle 23"/>
          <p:cNvSpPr/>
          <p:nvPr/>
        </p:nvSpPr>
        <p:spPr>
          <a:xfrm>
            <a:off x="12883896" y="7205472"/>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So sánh video</a:t>
            </a:r>
          </a:p>
        </p:txBody>
      </p:sp>
      <p:sp>
        <p:nvSpPr>
          <p:cNvPr id="25" name="Rounded Rectangle 24"/>
          <p:cNvSpPr/>
          <p:nvPr/>
        </p:nvSpPr>
        <p:spPr>
          <a:xfrm>
            <a:off x="15096743" y="7205472"/>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Muda</a:t>
            </a:r>
          </a:p>
        </p:txBody>
      </p:sp>
      <p:sp>
        <p:nvSpPr>
          <p:cNvPr id="26" name="Rounded Rectangle 25"/>
          <p:cNvSpPr/>
          <p:nvPr/>
        </p:nvSpPr>
        <p:spPr>
          <a:xfrm>
            <a:off x="8458200" y="7772400"/>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Mura &amp; Muri</a:t>
            </a:r>
          </a:p>
        </p:txBody>
      </p:sp>
      <p:sp>
        <p:nvSpPr>
          <p:cNvPr id="27" name="Rounded Rectangle 26"/>
          <p:cNvSpPr/>
          <p:nvPr/>
        </p:nvSpPr>
        <p:spPr>
          <a:xfrm>
            <a:off x="10671048" y="7772400"/>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Findings &amp; Copilot</a:t>
            </a:r>
          </a:p>
        </p:txBody>
      </p:sp>
      <p:sp>
        <p:nvSpPr>
          <p:cNvPr id="28" name="Rounded Rectangle 27"/>
          <p:cNvSpPr/>
          <p:nvPr/>
        </p:nvSpPr>
        <p:spPr>
          <a:xfrm>
            <a:off x="12883896" y="7772400"/>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So sánh run</a:t>
            </a:r>
          </a:p>
        </p:txBody>
      </p:sp>
      <p:sp>
        <p:nvSpPr>
          <p:cNvPr id="29" name="Rounded Rectangle 28"/>
          <p:cNvSpPr/>
          <p:nvPr/>
        </p:nvSpPr>
        <p:spPr>
          <a:xfrm>
            <a:off x="15096743" y="7772400"/>
            <a:ext cx="2084831" cy="420624"/>
          </a:xfrm>
          <a:prstGeom prst="roundRect">
            <a:avLst>
              <a:gd name="adj" fmla="val 50000"/>
            </a:avLst>
          </a:prstGeom>
          <a:solidFill>
            <a:srgbClr val="EAF3F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1265A8"/>
                </a:solidFill>
                <a:latin typeface="Aptos Bold"/>
              </a:rPr>
              <a:t>Chạy pipeline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grpSp>
        <p:nvGrpSpPr>
          <p:cNvPr name="Group 6" id="6"/>
          <p:cNvGrpSpPr/>
          <p:nvPr/>
        </p:nvGrpSpPr>
        <p:grpSpPr>
          <a:xfrm rot="0">
            <a:off x="0" y="8749389"/>
            <a:ext cx="18288000" cy="1537611"/>
            <a:chOff x="0" y="0"/>
            <a:chExt cx="24384000" cy="2050148"/>
          </a:xfrm>
        </p:grpSpPr>
        <p:sp>
          <p:nvSpPr>
            <p:cNvPr name="Freeform 7" id="7" descr="A blue and green rectangle with a circle and lines  AI-generated content may be incorrect."/>
            <p:cNvSpPr/>
            <p:nvPr/>
          </p:nvSpPr>
          <p:spPr>
            <a:xfrm flipH="false" flipV="false" rot="0">
              <a:off x="0" y="0"/>
              <a:ext cx="24384000" cy="2050161"/>
            </a:xfrm>
            <a:custGeom>
              <a:avLst/>
              <a:gdLst/>
              <a:ahLst/>
              <a:cxnLst/>
              <a:rect r="r" b="b" t="t" l="l"/>
              <a:pathLst>
                <a:path h="2050161" w="24384000">
                  <a:moveTo>
                    <a:pt x="0" y="0"/>
                  </a:moveTo>
                  <a:lnTo>
                    <a:pt x="24384000" y="0"/>
                  </a:lnTo>
                  <a:lnTo>
                    <a:pt x="24384000" y="2050161"/>
                  </a:lnTo>
                  <a:lnTo>
                    <a:pt x="0" y="2050161"/>
                  </a:lnTo>
                  <a:lnTo>
                    <a:pt x="0" y="0"/>
                  </a:lnTo>
                  <a:close/>
                </a:path>
              </a:pathLst>
            </a:custGeom>
            <a:blipFill>
              <a:blip r:embed="rId3"/>
              <a:stretch>
                <a:fillRect l="0" t="-260107" r="0" b="-432806"/>
              </a:stretch>
            </a:blipFill>
          </p:spPr>
        </p:sp>
      </p:grpSp>
      <p:sp>
        <p:nvSpPr>
          <p:cNvPr name="TextBox 8" id="8"/>
          <p:cNvSpPr txBox="true"/>
          <p:nvPr/>
        </p:nvSpPr>
        <p:spPr>
          <a:xfrm rot="0">
            <a:off x="8958139" y="431149"/>
            <a:ext cx="15590520" cy="1868329"/>
          </a:xfrm>
          <a:prstGeom prst="rect">
            <a:avLst/>
          </a:prstGeom>
        </p:spPr>
        <p:txBody>
          <a:bodyPr anchor="t" rtlCol="false" tIns="0" lIns="0" bIns="0" rIns="0">
            <a:spAutoFit/>
          </a:bodyPr>
          <a:lstStyle/>
          <a:p>
            <a:pPr algn="l">
              <a:lnSpc>
                <a:spcPts val="5832"/>
              </a:lnSpc>
            </a:pPr>
            <a:r>
              <a:rPr lang="en-US" sz="5400" b="true">
                <a:solidFill>
                  <a:srgbClr val="FFFFFF"/>
                </a:solidFill>
                <a:latin typeface="Times New Roman Bold"/>
                <a:ea typeface="Times New Roman Bold"/>
                <a:cs typeface="Times New Roman Bold"/>
                <a:sym typeface="Times New Roman Bold"/>
              </a:rPr>
              <a:t>Hiệu quả mang lại</a:t>
            </a:r>
          </a:p>
        </p:txBody>
      </p:sp>
      <p:grpSp>
        <p:nvGrpSpPr>
          <p:cNvPr name="Group 9" id="9"/>
          <p:cNvGrpSpPr/>
          <p:nvPr/>
        </p:nvGrpSpPr>
        <p:grpSpPr>
          <a:xfrm rot="0">
            <a:off x="456838" y="8840467"/>
            <a:ext cx="87630" cy="1251956"/>
            <a:chOff x="0" y="0"/>
            <a:chExt cx="116840" cy="1669275"/>
          </a:xfrm>
        </p:grpSpPr>
        <p:sp>
          <p:nvSpPr>
            <p:cNvPr name="Freeform 10" id="10"/>
            <p:cNvSpPr/>
            <p:nvPr/>
          </p:nvSpPr>
          <p:spPr>
            <a:xfrm flipH="false" flipV="false" rot="0">
              <a:off x="0" y="0"/>
              <a:ext cx="116840" cy="1669288"/>
            </a:xfrm>
            <a:custGeom>
              <a:avLst/>
              <a:gdLst/>
              <a:ahLst/>
              <a:cxnLst/>
              <a:rect r="r" b="b" t="t" l="l"/>
              <a:pathLst>
                <a:path h="1669288" w="116840">
                  <a:moveTo>
                    <a:pt x="0" y="0"/>
                  </a:moveTo>
                  <a:lnTo>
                    <a:pt x="116840" y="0"/>
                  </a:lnTo>
                  <a:lnTo>
                    <a:pt x="116840" y="1669288"/>
                  </a:lnTo>
                  <a:lnTo>
                    <a:pt x="0" y="1669288"/>
                  </a:lnTo>
                  <a:close/>
                </a:path>
              </a:pathLst>
            </a:custGeom>
            <a:solidFill>
              <a:srgbClr val="30D158"/>
            </a:solidFill>
            <a:ln w="19050" cap="sq">
              <a:solidFill>
                <a:srgbClr val="30D158"/>
              </a:solidFill>
              <a:prstDash val="solid"/>
              <a:miter/>
            </a:ln>
          </p:spPr>
        </p:sp>
      </p:grpSp>
      <p:grpSp>
        <p:nvGrpSpPr>
          <p:cNvPr name="Group 11" id="11"/>
          <p:cNvGrpSpPr/>
          <p:nvPr/>
        </p:nvGrpSpPr>
        <p:grpSpPr>
          <a:xfrm rot="0">
            <a:off x="699535" y="8849992"/>
            <a:ext cx="15019020" cy="342900"/>
            <a:chOff x="0" y="0"/>
            <a:chExt cx="20025360" cy="457200"/>
          </a:xfrm>
        </p:grpSpPr>
        <p:sp>
          <p:nvSpPr>
            <p:cNvPr name="Freeform 12" id="12"/>
            <p:cNvSpPr/>
            <p:nvPr/>
          </p:nvSpPr>
          <p:spPr>
            <a:xfrm flipH="false" flipV="false" rot="0">
              <a:off x="0" y="0"/>
              <a:ext cx="20025361" cy="457200"/>
            </a:xfrm>
            <a:custGeom>
              <a:avLst/>
              <a:gdLst/>
              <a:ahLst/>
              <a:cxnLst/>
              <a:rect r="r" b="b" t="t" l="l"/>
              <a:pathLst>
                <a:path h="457200" w="20025361">
                  <a:moveTo>
                    <a:pt x="0" y="0"/>
                  </a:moveTo>
                  <a:lnTo>
                    <a:pt x="20025361" y="0"/>
                  </a:lnTo>
                  <a:lnTo>
                    <a:pt x="20025361" y="457200"/>
                  </a:lnTo>
                  <a:lnTo>
                    <a:pt x="0" y="457200"/>
                  </a:lnTo>
                  <a:close/>
                </a:path>
              </a:pathLst>
            </a:custGeom>
            <a:blipFill>
              <a:blip r:embed="rId4">
                <a:alphaModFix amt="0"/>
              </a:blip>
              <a:stretch>
                <a:fillRect l="0" t="-803444" r="0" b="-803444"/>
              </a:stretch>
            </a:blipFill>
          </p:spPr>
          <p:txBody>
            <a:bodyPr/>
            <a:p/>
          </p:txBody>
        </p:sp>
        <p:sp>
          <p:nvSpPr>
            <p:cNvPr name="TextBox 13" id="13"/>
            <p:cNvSpPr txBox="true"/>
            <p:nvPr/>
          </p:nvSpPr>
          <p:spPr>
            <a:xfrm>
              <a:off x="0" y="0"/>
              <a:ext cx="20025360" cy="457200"/>
            </a:xfrm>
            <a:prstGeom prst="rect">
              <a:avLst/>
            </a:prstGeom>
          </p:spPr>
          <p:txBody>
            <a:bodyPr anchor="ctr" rtlCol="false" tIns="0" lIns="0" bIns="0" rIns="0"/>
            <a:lstStyle/>
            <a:p>
              <a:pPr algn="l">
                <a:lnSpc>
                  <a:spcPts val="1800"/>
                </a:lnSpc>
              </a:pPr>
              <a:r>
                <a:rPr lang="en-US" sz="1500" b="true">
                  <a:solidFill>
                    <a:srgbClr val="FFFFFF"/>
                  </a:solidFill>
                  <a:latin typeface="Aptos Bold"/>
                  <a:ea typeface="Aptos Bold"/>
                  <a:cs typeface="Aptos Bold"/>
                  <a:sym typeface="Aptos Bold"/>
                </a:rPr>
                <a:t>KẾT QUẢ ĐO TRÊN HA4M</a:t>
              </a:r>
            </a:p>
          </p:txBody>
        </p:sp>
      </p:grpSp>
      <p:grpSp>
        <p:nvGrpSpPr>
          <p:cNvPr name="Group 14" id="14"/>
          <p:cNvGrpSpPr/>
          <p:nvPr/>
        </p:nvGrpSpPr>
        <p:grpSpPr>
          <a:xfrm rot="0">
            <a:off x="699535" y="9452515"/>
            <a:ext cx="15019020" cy="259671"/>
            <a:chOff x="0" y="0"/>
            <a:chExt cx="20025360" cy="346227"/>
          </a:xfrm>
        </p:grpSpPr>
        <p:sp>
          <p:nvSpPr>
            <p:cNvPr name="Freeform 15" id="15"/>
            <p:cNvSpPr/>
            <p:nvPr/>
          </p:nvSpPr>
          <p:spPr>
            <a:xfrm flipH="false" flipV="false" rot="0">
              <a:off x="0" y="0"/>
              <a:ext cx="20025361" cy="346232"/>
            </a:xfrm>
            <a:custGeom>
              <a:avLst/>
              <a:gdLst/>
              <a:ahLst/>
              <a:cxnLst/>
              <a:rect r="r" b="b" t="t" l="l"/>
              <a:pathLst>
                <a:path h="346232" w="20025361">
                  <a:moveTo>
                    <a:pt x="0" y="0"/>
                  </a:moveTo>
                  <a:lnTo>
                    <a:pt x="20025361" y="0"/>
                  </a:lnTo>
                  <a:lnTo>
                    <a:pt x="20025361" y="346232"/>
                  </a:lnTo>
                  <a:lnTo>
                    <a:pt x="0" y="346232"/>
                  </a:lnTo>
                  <a:close/>
                </a:path>
              </a:pathLst>
            </a:custGeom>
            <a:blipFill>
              <a:blip r:embed="rId4">
                <a:alphaModFix amt="0"/>
              </a:blip>
              <a:stretch>
                <a:fillRect l="0" t="-1076975" r="0" b="-1076974"/>
              </a:stretch>
            </a:blipFill>
          </p:spPr>
          <p:txBody>
            <a:bodyPr/>
            <a:p/>
          </p:txBody>
        </p:sp>
        <p:sp>
          <p:nvSpPr>
            <p:cNvPr name="TextBox 16" id="16"/>
            <p:cNvSpPr txBox="true"/>
            <p:nvPr/>
          </p:nvSpPr>
          <p:spPr>
            <a:xfrm>
              <a:off x="0" y="-9525"/>
              <a:ext cx="20025360" cy="355752"/>
            </a:xfrm>
            <a:prstGeom prst="rect">
              <a:avLst/>
            </a:prstGeom>
          </p:spPr>
          <p:txBody>
            <a:bodyPr anchor="ctr" rtlCol="false" tIns="0" lIns="0" bIns="0" rIns="0"/>
            <a:lstStyle/>
            <a:p>
              <a:pPr algn="l">
                <a:lnSpc>
                  <a:spcPts val="1530"/>
                </a:lnSpc>
              </a:pPr>
              <a:r>
                <a:rPr lang="en-US" sz="1275">
                  <a:solidFill>
                    <a:srgbClr val="FFFFFF"/>
                  </a:solidFill>
                  <a:latin typeface="Aptos"/>
                  <a:ea typeface="Aptos"/>
                  <a:cs typeface="Aptos"/>
                  <a:sym typeface="Aptos"/>
                </a:rPr>
                <a:t>Bốn số liệu trên đo thật trên HA4M U001 (V001, V002), baseline rule-based; hiệu quả vận hành tại DENSO là ước tính, cần pilot xác nhận.</a:t>
              </a:r>
            </a:p>
          </p:txBody>
        </p:sp>
      </p:grpSp>
      <p:grpSp>
        <p:nvGrpSpPr>
          <p:cNvPr name="Group 17" id="17"/>
          <p:cNvGrpSpPr/>
          <p:nvPr/>
        </p:nvGrpSpPr>
        <p:grpSpPr>
          <a:xfrm rot="0">
            <a:off x="650748" y="2077212"/>
            <a:ext cx="4047744" cy="2827020"/>
            <a:chOff x="0" y="0"/>
            <a:chExt cx="5396992" cy="3769360"/>
          </a:xfrm>
        </p:grpSpPr>
        <p:sp>
          <p:nvSpPr>
            <p:cNvPr name="Freeform 18" id="18"/>
            <p:cNvSpPr/>
            <p:nvPr/>
          </p:nvSpPr>
          <p:spPr>
            <a:xfrm flipH="false" flipV="false" rot="0">
              <a:off x="0" y="0"/>
              <a:ext cx="5396992" cy="3769360"/>
            </a:xfrm>
            <a:custGeom>
              <a:avLst/>
              <a:gdLst/>
              <a:ahLst/>
              <a:cxnLst/>
              <a:rect r="r" b="b" t="t" l="l"/>
              <a:pathLst>
                <a:path h="3769360" w="5396992">
                  <a:moveTo>
                    <a:pt x="0" y="628269"/>
                  </a:moveTo>
                  <a:cubicBezTo>
                    <a:pt x="0" y="281305"/>
                    <a:pt x="281305" y="0"/>
                    <a:pt x="628269" y="0"/>
                  </a:cubicBezTo>
                  <a:lnTo>
                    <a:pt x="4768723" y="0"/>
                  </a:lnTo>
                  <a:cubicBezTo>
                    <a:pt x="5115687" y="0"/>
                    <a:pt x="5396992" y="281305"/>
                    <a:pt x="5396992" y="628269"/>
                  </a:cubicBezTo>
                  <a:lnTo>
                    <a:pt x="5396992" y="3141091"/>
                  </a:lnTo>
                  <a:cubicBezTo>
                    <a:pt x="5396992" y="3488055"/>
                    <a:pt x="5115687" y="3769360"/>
                    <a:pt x="4768723" y="3769360"/>
                  </a:cubicBezTo>
                  <a:lnTo>
                    <a:pt x="628269" y="3769360"/>
                  </a:lnTo>
                  <a:cubicBezTo>
                    <a:pt x="281305" y="3769360"/>
                    <a:pt x="0" y="3488055"/>
                    <a:pt x="0" y="3141091"/>
                  </a:cubicBezTo>
                  <a:close/>
                </a:path>
              </a:pathLst>
            </a:custGeom>
            <a:solidFill>
              <a:srgbClr val="F3F7FB"/>
            </a:solidFill>
            <a:ln w="15240" cap="sq">
              <a:solidFill>
                <a:srgbClr val="DCE6EF"/>
              </a:solidFill>
              <a:prstDash val="solid"/>
              <a:miter/>
            </a:ln>
          </p:spPr>
        </p:sp>
      </p:grpSp>
      <p:grpSp>
        <p:nvGrpSpPr>
          <p:cNvPr name="Group 19" id="19"/>
          <p:cNvGrpSpPr/>
          <p:nvPr/>
        </p:nvGrpSpPr>
        <p:grpSpPr>
          <a:xfrm rot="0">
            <a:off x="864108" y="2359152"/>
            <a:ext cx="3621024" cy="795528"/>
            <a:chOff x="0" y="0"/>
            <a:chExt cx="4828032" cy="1060704"/>
          </a:xfrm>
        </p:grpSpPr>
        <p:sp>
          <p:nvSpPr>
            <p:cNvPr name="Freeform 20" id="20"/>
            <p:cNvSpPr/>
            <p:nvPr/>
          </p:nvSpPr>
          <p:spPr>
            <a:xfrm flipH="false" flipV="false" rot="0">
              <a:off x="0" y="0"/>
              <a:ext cx="4828032" cy="1060704"/>
            </a:xfrm>
            <a:custGeom>
              <a:avLst/>
              <a:gdLst/>
              <a:ahLst/>
              <a:cxnLst/>
              <a:rect r="r" b="b" t="t" l="l"/>
              <a:pathLst>
                <a:path h="1060704" w="4828032">
                  <a:moveTo>
                    <a:pt x="0" y="0"/>
                  </a:moveTo>
                  <a:lnTo>
                    <a:pt x="4828032" y="0"/>
                  </a:lnTo>
                  <a:lnTo>
                    <a:pt x="4828032" y="1060704"/>
                  </a:lnTo>
                  <a:lnTo>
                    <a:pt x="0" y="1060704"/>
                  </a:lnTo>
                  <a:close/>
                </a:path>
              </a:pathLst>
            </a:custGeom>
            <a:blipFill>
              <a:blip r:embed="rId4">
                <a:alphaModFix amt="0"/>
              </a:blip>
              <a:stretch>
                <a:fillRect l="0" t="-38690" r="0" b="-38690"/>
              </a:stretch>
            </a:blipFill>
          </p:spPr>
          <p:txBody>
            <a:bodyPr/>
            <a:p/>
          </p:txBody>
        </p:sp>
        <p:sp>
          <p:nvSpPr>
            <p:cNvPr name="TextBox 21" id="21"/>
            <p:cNvSpPr txBox="true"/>
            <p:nvPr/>
          </p:nvSpPr>
          <p:spPr>
            <a:xfrm>
              <a:off x="0" y="0"/>
              <a:ext cx="4828032" cy="1060704"/>
            </a:xfrm>
            <a:prstGeom prst="rect">
              <a:avLst/>
            </a:prstGeom>
          </p:spPr>
          <p:txBody>
            <a:bodyPr anchor="ctr" rtlCol="false" tIns="0" lIns="0" bIns="0" rIns="0"/>
            <a:lstStyle/>
            <a:p>
              <a:pPr algn="ctr">
                <a:lnSpc>
                  <a:spcPts val="5040"/>
                </a:lnSpc>
              </a:pPr>
              <a:r>
                <a:rPr lang="en-US" sz="4200" b="true">
                  <a:solidFill>
                    <a:srgbClr val="1265A8"/>
                  </a:solidFill>
                  <a:latin typeface="Aptos Bold"/>
                  <a:ea typeface="Aptos Bold"/>
                  <a:cs typeface="Aptos Bold"/>
                  <a:sym typeface="Aptos Bold"/>
                </a:rPr>
                <a:t>0.6 s</a:t>
              </a:r>
            </a:p>
          </p:txBody>
        </p:sp>
      </p:grpSp>
      <p:sp>
        <p:nvSpPr>
          <p:cNvPr name="TextBox 22" id="22"/>
          <p:cNvSpPr txBox="true"/>
          <p:nvPr/>
        </p:nvSpPr>
        <p:spPr>
          <a:xfrm rot="0">
            <a:off x="859536" y="3241548"/>
            <a:ext cx="3630168" cy="484632"/>
          </a:xfrm>
          <a:prstGeom prst="rect">
            <a:avLst/>
          </a:prstGeom>
        </p:spPr>
        <p:txBody>
          <a:bodyPr anchor="t" rtlCol="false" tIns="0" lIns="0" bIns="0" rIns="0">
            <a:spAutoFit/>
          </a:bodyPr>
          <a:lstStyle/>
          <a:p>
            <a:pPr algn="ctr">
              <a:lnSpc>
                <a:spcPts val="2447"/>
              </a:lnSpc>
            </a:pPr>
            <a:r>
              <a:rPr lang="en-US" sz="2039" b="true">
                <a:solidFill>
                  <a:srgbClr val="153866"/>
                </a:solidFill>
                <a:latin typeface="Aptos Bold"/>
                <a:ea typeface="Aptos Bold"/>
                <a:cs typeface="Aptos Bold"/>
                <a:sym typeface="Aptos Bold"/>
              </a:rPr>
              <a:t>Sai số cycle time</a:t>
            </a:r>
          </a:p>
        </p:txBody>
      </p:sp>
      <p:sp>
        <p:nvSpPr>
          <p:cNvPr name="TextBox 23" id="23"/>
          <p:cNvSpPr txBox="true"/>
          <p:nvPr/>
        </p:nvSpPr>
        <p:spPr>
          <a:xfrm rot="0">
            <a:off x="914400" y="3872484"/>
            <a:ext cx="3520440" cy="813816"/>
          </a:xfrm>
          <a:prstGeom prst="rect">
            <a:avLst/>
          </a:prstGeom>
        </p:spPr>
        <p:txBody>
          <a:bodyPr anchor="t" rtlCol="false" tIns="0" lIns="0" bIns="0" rIns="0">
            <a:spAutoFit/>
          </a:bodyPr>
          <a:lstStyle/>
          <a:p>
            <a:pPr algn="ctr">
              <a:lnSpc>
                <a:spcPts val="1889"/>
              </a:lnSpc>
            </a:pPr>
            <a:r>
              <a:rPr lang="en-US" sz="1575">
                <a:solidFill>
                  <a:srgbClr val="586777"/>
                </a:solidFill>
                <a:latin typeface="Aptos"/>
                <a:ea typeface="Aptos"/>
                <a:cs typeface="Aptos"/>
                <a:sym typeface="Aptos"/>
              </a:rPr>
              <a:t>V001: 78.5 s dự đoán vs 77.9 s theo nhãn (≈ 0.8%).</a:t>
            </a:r>
          </a:p>
        </p:txBody>
      </p:sp>
      <p:grpSp>
        <p:nvGrpSpPr>
          <p:cNvPr name="Group 24" id="24"/>
          <p:cNvGrpSpPr/>
          <p:nvPr/>
        </p:nvGrpSpPr>
        <p:grpSpPr>
          <a:xfrm rot="0">
            <a:off x="5067300" y="2077212"/>
            <a:ext cx="4047744" cy="2827020"/>
            <a:chOff x="0" y="0"/>
            <a:chExt cx="5396992" cy="3769360"/>
          </a:xfrm>
        </p:grpSpPr>
        <p:sp>
          <p:nvSpPr>
            <p:cNvPr name="Freeform 25" id="25"/>
            <p:cNvSpPr/>
            <p:nvPr/>
          </p:nvSpPr>
          <p:spPr>
            <a:xfrm flipH="false" flipV="false" rot="0">
              <a:off x="0" y="0"/>
              <a:ext cx="5396992" cy="3769360"/>
            </a:xfrm>
            <a:custGeom>
              <a:avLst/>
              <a:gdLst/>
              <a:ahLst/>
              <a:cxnLst/>
              <a:rect r="r" b="b" t="t" l="l"/>
              <a:pathLst>
                <a:path h="3769360" w="5396992">
                  <a:moveTo>
                    <a:pt x="0" y="628269"/>
                  </a:moveTo>
                  <a:cubicBezTo>
                    <a:pt x="0" y="281305"/>
                    <a:pt x="281305" y="0"/>
                    <a:pt x="628269" y="0"/>
                  </a:cubicBezTo>
                  <a:lnTo>
                    <a:pt x="4768723" y="0"/>
                  </a:lnTo>
                  <a:cubicBezTo>
                    <a:pt x="5115687" y="0"/>
                    <a:pt x="5396992" y="281305"/>
                    <a:pt x="5396992" y="628269"/>
                  </a:cubicBezTo>
                  <a:lnTo>
                    <a:pt x="5396992" y="3141091"/>
                  </a:lnTo>
                  <a:cubicBezTo>
                    <a:pt x="5396992" y="3488055"/>
                    <a:pt x="5115687" y="3769360"/>
                    <a:pt x="4768723" y="3769360"/>
                  </a:cubicBezTo>
                  <a:lnTo>
                    <a:pt x="628269" y="3769360"/>
                  </a:lnTo>
                  <a:cubicBezTo>
                    <a:pt x="281305" y="3769360"/>
                    <a:pt x="0" y="3488055"/>
                    <a:pt x="0" y="3141091"/>
                  </a:cubicBezTo>
                  <a:close/>
                </a:path>
              </a:pathLst>
            </a:custGeom>
            <a:solidFill>
              <a:srgbClr val="F3F7FB"/>
            </a:solidFill>
            <a:ln w="15240" cap="sq">
              <a:solidFill>
                <a:srgbClr val="DCE6EF"/>
              </a:solidFill>
              <a:prstDash val="solid"/>
              <a:miter/>
            </a:ln>
          </p:spPr>
        </p:sp>
      </p:grpSp>
      <p:grpSp>
        <p:nvGrpSpPr>
          <p:cNvPr name="Group 26" id="26"/>
          <p:cNvGrpSpPr/>
          <p:nvPr/>
        </p:nvGrpSpPr>
        <p:grpSpPr>
          <a:xfrm rot="0">
            <a:off x="5280660" y="2359152"/>
            <a:ext cx="3621024" cy="795528"/>
            <a:chOff x="0" y="0"/>
            <a:chExt cx="4828032" cy="1060704"/>
          </a:xfrm>
        </p:grpSpPr>
        <p:sp>
          <p:nvSpPr>
            <p:cNvPr name="Freeform 27" id="27"/>
            <p:cNvSpPr/>
            <p:nvPr/>
          </p:nvSpPr>
          <p:spPr>
            <a:xfrm flipH="false" flipV="false" rot="0">
              <a:off x="0" y="0"/>
              <a:ext cx="4828032" cy="1060704"/>
            </a:xfrm>
            <a:custGeom>
              <a:avLst/>
              <a:gdLst/>
              <a:ahLst/>
              <a:cxnLst/>
              <a:rect r="r" b="b" t="t" l="l"/>
              <a:pathLst>
                <a:path h="1060704" w="4828032">
                  <a:moveTo>
                    <a:pt x="0" y="0"/>
                  </a:moveTo>
                  <a:lnTo>
                    <a:pt x="4828032" y="0"/>
                  </a:lnTo>
                  <a:lnTo>
                    <a:pt x="4828032" y="1060704"/>
                  </a:lnTo>
                  <a:lnTo>
                    <a:pt x="0" y="1060704"/>
                  </a:lnTo>
                  <a:close/>
                </a:path>
              </a:pathLst>
            </a:custGeom>
            <a:blipFill>
              <a:blip r:embed="rId4">
                <a:alphaModFix amt="0"/>
              </a:blip>
              <a:stretch>
                <a:fillRect l="0" t="-38690" r="0" b="-38690"/>
              </a:stretch>
            </a:blipFill>
          </p:spPr>
          <p:txBody>
            <a:bodyPr/>
            <a:p/>
          </p:txBody>
        </p:sp>
        <p:sp>
          <p:nvSpPr>
            <p:cNvPr name="TextBox 28" id="28"/>
            <p:cNvSpPr txBox="true"/>
            <p:nvPr/>
          </p:nvSpPr>
          <p:spPr>
            <a:xfrm>
              <a:off x="0" y="0"/>
              <a:ext cx="4828032" cy="1060704"/>
            </a:xfrm>
            <a:prstGeom prst="rect">
              <a:avLst/>
            </a:prstGeom>
          </p:spPr>
          <p:txBody>
            <a:bodyPr anchor="ctr" rtlCol="false" tIns="0" lIns="0" bIns="0" rIns="0"/>
            <a:lstStyle/>
            <a:p>
              <a:pPr algn="ctr">
                <a:lnSpc>
                  <a:spcPts val="5040"/>
                </a:lnSpc>
              </a:pPr>
              <a:r>
                <a:rPr lang="en-US" sz="4200" b="true">
                  <a:solidFill>
                    <a:srgbClr val="00B96B"/>
                  </a:solidFill>
                  <a:latin typeface="Aptos Bold"/>
                  <a:ea typeface="Aptos Bold"/>
                  <a:cs typeface="Aptos Bold"/>
                  <a:sym typeface="Aptos Bold"/>
                </a:rPr>
                <a:t>0.75</a:t>
              </a:r>
            </a:p>
          </p:txBody>
        </p:sp>
      </p:grpSp>
      <p:sp>
        <p:nvSpPr>
          <p:cNvPr name="TextBox 29" id="29"/>
          <p:cNvSpPr txBox="true"/>
          <p:nvPr/>
        </p:nvSpPr>
        <p:spPr>
          <a:xfrm rot="0">
            <a:off x="5276088" y="3241548"/>
            <a:ext cx="3630168" cy="484632"/>
          </a:xfrm>
          <a:prstGeom prst="rect">
            <a:avLst/>
          </a:prstGeom>
        </p:spPr>
        <p:txBody>
          <a:bodyPr anchor="t" rtlCol="false" tIns="0" lIns="0" bIns="0" rIns="0">
            <a:spAutoFit/>
          </a:bodyPr>
          <a:lstStyle/>
          <a:p>
            <a:pPr algn="ctr">
              <a:lnSpc>
                <a:spcPts val="2447"/>
              </a:lnSpc>
            </a:pPr>
            <a:r>
              <a:rPr lang="en-US" sz="2039" b="true">
                <a:solidFill>
                  <a:srgbClr val="153866"/>
                </a:solidFill>
                <a:latin typeface="Aptos Bold"/>
                <a:ea typeface="Aptos Bold"/>
                <a:cs typeface="Aptos Bold"/>
                <a:sym typeface="Aptos Bold"/>
              </a:rPr>
              <a:t>F1 phân đoạn bước</a:t>
            </a:r>
          </a:p>
        </p:txBody>
      </p:sp>
      <p:sp>
        <p:nvSpPr>
          <p:cNvPr name="TextBox 30" id="30"/>
          <p:cNvSpPr txBox="true"/>
          <p:nvPr/>
        </p:nvSpPr>
        <p:spPr>
          <a:xfrm rot="0">
            <a:off x="5330952" y="3872484"/>
            <a:ext cx="3520440" cy="813816"/>
          </a:xfrm>
          <a:prstGeom prst="rect">
            <a:avLst/>
          </a:prstGeom>
        </p:spPr>
        <p:txBody>
          <a:bodyPr anchor="t" rtlCol="false" tIns="0" lIns="0" bIns="0" rIns="0">
            <a:spAutoFit/>
          </a:bodyPr>
          <a:lstStyle/>
          <a:p>
            <a:pPr algn="ctr">
              <a:lnSpc>
                <a:spcPts val="1889"/>
              </a:lnSpc>
            </a:pPr>
            <a:r>
              <a:rPr lang="en-US" sz="1575">
                <a:solidFill>
                  <a:srgbClr val="586777"/>
                </a:solidFill>
                <a:latin typeface="Aptos"/>
                <a:ea typeface="Aptos"/>
                <a:cs typeface="Aptos"/>
                <a:sym typeface="Aptos"/>
              </a:rPr>
              <a:t>F1@IoU0.5 trên V001; MAE bước 0.62 s. V002: 0.714.</a:t>
            </a:r>
          </a:p>
        </p:txBody>
      </p:sp>
      <p:grpSp>
        <p:nvGrpSpPr>
          <p:cNvPr name="Group 31" id="31"/>
          <p:cNvGrpSpPr/>
          <p:nvPr/>
        </p:nvGrpSpPr>
        <p:grpSpPr>
          <a:xfrm rot="0">
            <a:off x="9483852" y="2077212"/>
            <a:ext cx="4047744" cy="2827020"/>
            <a:chOff x="0" y="0"/>
            <a:chExt cx="5396992" cy="3769360"/>
          </a:xfrm>
        </p:grpSpPr>
        <p:sp>
          <p:nvSpPr>
            <p:cNvPr name="Freeform 32" id="32"/>
            <p:cNvSpPr/>
            <p:nvPr/>
          </p:nvSpPr>
          <p:spPr>
            <a:xfrm flipH="false" flipV="false" rot="0">
              <a:off x="0" y="0"/>
              <a:ext cx="5396992" cy="3769360"/>
            </a:xfrm>
            <a:custGeom>
              <a:avLst/>
              <a:gdLst/>
              <a:ahLst/>
              <a:cxnLst/>
              <a:rect r="r" b="b" t="t" l="l"/>
              <a:pathLst>
                <a:path h="3769360" w="5396992">
                  <a:moveTo>
                    <a:pt x="0" y="628269"/>
                  </a:moveTo>
                  <a:cubicBezTo>
                    <a:pt x="0" y="281305"/>
                    <a:pt x="281305" y="0"/>
                    <a:pt x="628269" y="0"/>
                  </a:cubicBezTo>
                  <a:lnTo>
                    <a:pt x="4768723" y="0"/>
                  </a:lnTo>
                  <a:cubicBezTo>
                    <a:pt x="5115687" y="0"/>
                    <a:pt x="5396992" y="281305"/>
                    <a:pt x="5396992" y="628269"/>
                  </a:cubicBezTo>
                  <a:lnTo>
                    <a:pt x="5396992" y="3141091"/>
                  </a:lnTo>
                  <a:cubicBezTo>
                    <a:pt x="5396992" y="3488055"/>
                    <a:pt x="5115687" y="3769360"/>
                    <a:pt x="4768723" y="3769360"/>
                  </a:cubicBezTo>
                  <a:lnTo>
                    <a:pt x="628269" y="3769360"/>
                  </a:lnTo>
                  <a:cubicBezTo>
                    <a:pt x="281305" y="3769360"/>
                    <a:pt x="0" y="3488055"/>
                    <a:pt x="0" y="3141091"/>
                  </a:cubicBezTo>
                  <a:close/>
                </a:path>
              </a:pathLst>
            </a:custGeom>
            <a:solidFill>
              <a:srgbClr val="F3F7FB"/>
            </a:solidFill>
            <a:ln w="15240" cap="sq">
              <a:solidFill>
                <a:srgbClr val="DCE6EF"/>
              </a:solidFill>
              <a:prstDash val="solid"/>
              <a:miter/>
            </a:ln>
          </p:spPr>
        </p:sp>
      </p:grpSp>
      <p:grpSp>
        <p:nvGrpSpPr>
          <p:cNvPr name="Group 33" id="33"/>
          <p:cNvGrpSpPr/>
          <p:nvPr/>
        </p:nvGrpSpPr>
        <p:grpSpPr>
          <a:xfrm rot="0">
            <a:off x="9697212" y="2359152"/>
            <a:ext cx="3621024" cy="795528"/>
            <a:chOff x="0" y="0"/>
            <a:chExt cx="4828032" cy="1060704"/>
          </a:xfrm>
        </p:grpSpPr>
        <p:sp>
          <p:nvSpPr>
            <p:cNvPr name="Freeform 34" id="34"/>
            <p:cNvSpPr/>
            <p:nvPr/>
          </p:nvSpPr>
          <p:spPr>
            <a:xfrm flipH="false" flipV="false" rot="0">
              <a:off x="0" y="0"/>
              <a:ext cx="4828032" cy="1060704"/>
            </a:xfrm>
            <a:custGeom>
              <a:avLst/>
              <a:gdLst/>
              <a:ahLst/>
              <a:cxnLst/>
              <a:rect r="r" b="b" t="t" l="l"/>
              <a:pathLst>
                <a:path h="1060704" w="4828032">
                  <a:moveTo>
                    <a:pt x="0" y="0"/>
                  </a:moveTo>
                  <a:lnTo>
                    <a:pt x="4828032" y="0"/>
                  </a:lnTo>
                  <a:lnTo>
                    <a:pt x="4828032" y="1060704"/>
                  </a:lnTo>
                  <a:lnTo>
                    <a:pt x="0" y="1060704"/>
                  </a:lnTo>
                  <a:close/>
                </a:path>
              </a:pathLst>
            </a:custGeom>
            <a:blipFill>
              <a:blip r:embed="rId4">
                <a:alphaModFix amt="0"/>
              </a:blip>
              <a:stretch>
                <a:fillRect l="0" t="-38690" r="0" b="-38690"/>
              </a:stretch>
            </a:blipFill>
          </p:spPr>
          <p:txBody>
            <a:bodyPr/>
            <a:p/>
          </p:txBody>
        </p:sp>
        <p:sp>
          <p:nvSpPr>
            <p:cNvPr name="TextBox 35" id="35"/>
            <p:cNvSpPr txBox="true"/>
            <p:nvPr/>
          </p:nvSpPr>
          <p:spPr>
            <a:xfrm>
              <a:off x="0" y="0"/>
              <a:ext cx="4828032" cy="1060704"/>
            </a:xfrm>
            <a:prstGeom prst="rect">
              <a:avLst/>
            </a:prstGeom>
          </p:spPr>
          <p:txBody>
            <a:bodyPr anchor="ctr" rtlCol="false" tIns="0" lIns="0" bIns="0" rIns="0"/>
            <a:lstStyle/>
            <a:p>
              <a:pPr algn="ctr">
                <a:lnSpc>
                  <a:spcPts val="5040"/>
                </a:lnSpc>
              </a:pPr>
              <a:r>
                <a:rPr lang="en-US" sz="4200" b="true">
                  <a:solidFill>
                    <a:srgbClr val="008F8A"/>
                  </a:solidFill>
                  <a:latin typeface="Aptos Bold"/>
                  <a:ea typeface="Aptos Bold"/>
                  <a:cs typeface="Aptos Bold"/>
                  <a:sym typeface="Aptos Bold"/>
                </a:rPr>
                <a:t>95%</a:t>
              </a:r>
            </a:p>
          </p:txBody>
        </p:sp>
      </p:grpSp>
      <p:sp>
        <p:nvSpPr>
          <p:cNvPr name="TextBox 36" id="36"/>
          <p:cNvSpPr txBox="true"/>
          <p:nvPr/>
        </p:nvSpPr>
        <p:spPr>
          <a:xfrm rot="0">
            <a:off x="9692640" y="3241548"/>
            <a:ext cx="3630168" cy="484632"/>
          </a:xfrm>
          <a:prstGeom prst="rect">
            <a:avLst/>
          </a:prstGeom>
        </p:spPr>
        <p:txBody>
          <a:bodyPr anchor="t" rtlCol="false" tIns="0" lIns="0" bIns="0" rIns="0">
            <a:spAutoFit/>
          </a:bodyPr>
          <a:lstStyle/>
          <a:p>
            <a:pPr algn="ctr">
              <a:lnSpc>
                <a:spcPts val="2447"/>
              </a:lnSpc>
            </a:pPr>
            <a:r>
              <a:rPr lang="en-US" sz="2039" b="true">
                <a:solidFill>
                  <a:srgbClr val="153866"/>
                </a:solidFill>
                <a:latin typeface="Aptos Bold"/>
                <a:ea typeface="Aptos Bold"/>
                <a:cs typeface="Aptos Bold"/>
                <a:sym typeface="Aptos Bold"/>
              </a:rPr>
              <a:t>Cổ tay phải &lt; 50 px</a:t>
            </a:r>
          </a:p>
        </p:txBody>
      </p:sp>
      <p:sp>
        <p:nvSpPr>
          <p:cNvPr name="TextBox 37" id="37"/>
          <p:cNvSpPr txBox="true"/>
          <p:nvPr/>
        </p:nvSpPr>
        <p:spPr>
          <a:xfrm rot="0">
            <a:off x="9747504" y="3872484"/>
            <a:ext cx="3520440" cy="813816"/>
          </a:xfrm>
          <a:prstGeom prst="rect">
            <a:avLst/>
          </a:prstGeom>
        </p:spPr>
        <p:txBody>
          <a:bodyPr anchor="t" rtlCol="false" tIns="0" lIns="0" bIns="0" rIns="0">
            <a:spAutoFit/>
          </a:bodyPr>
          <a:lstStyle/>
          <a:p>
            <a:pPr algn="ctr">
              <a:lnSpc>
                <a:spcPts val="1889"/>
              </a:lnSpc>
            </a:pPr>
            <a:r>
              <a:rPr lang="en-US" sz="1575">
                <a:solidFill>
                  <a:srgbClr val="586777"/>
                </a:solidFill>
                <a:latin typeface="Aptos"/>
                <a:ea typeface="Aptos"/>
                <a:cs typeface="Aptos"/>
                <a:sym typeface="Aptos"/>
              </a:rPr>
              <a:t>So với skeleton Azure Kinect; trung vị lệch 24.5 px.</a:t>
            </a:r>
          </a:p>
        </p:txBody>
      </p:sp>
      <p:grpSp>
        <p:nvGrpSpPr>
          <p:cNvPr name="Group 38" id="38"/>
          <p:cNvGrpSpPr/>
          <p:nvPr/>
        </p:nvGrpSpPr>
        <p:grpSpPr>
          <a:xfrm rot="0">
            <a:off x="13900404" y="2077212"/>
            <a:ext cx="4047744" cy="2827020"/>
            <a:chOff x="0" y="0"/>
            <a:chExt cx="5396992" cy="3769360"/>
          </a:xfrm>
        </p:grpSpPr>
        <p:sp>
          <p:nvSpPr>
            <p:cNvPr name="Freeform 39" id="39"/>
            <p:cNvSpPr/>
            <p:nvPr/>
          </p:nvSpPr>
          <p:spPr>
            <a:xfrm flipH="false" flipV="false" rot="0">
              <a:off x="0" y="0"/>
              <a:ext cx="5396992" cy="3769360"/>
            </a:xfrm>
            <a:custGeom>
              <a:avLst/>
              <a:gdLst/>
              <a:ahLst/>
              <a:cxnLst/>
              <a:rect r="r" b="b" t="t" l="l"/>
              <a:pathLst>
                <a:path h="3769360" w="5396992">
                  <a:moveTo>
                    <a:pt x="0" y="628269"/>
                  </a:moveTo>
                  <a:cubicBezTo>
                    <a:pt x="0" y="281305"/>
                    <a:pt x="281305" y="0"/>
                    <a:pt x="628269" y="0"/>
                  </a:cubicBezTo>
                  <a:lnTo>
                    <a:pt x="4768723" y="0"/>
                  </a:lnTo>
                  <a:cubicBezTo>
                    <a:pt x="5115687" y="0"/>
                    <a:pt x="5396992" y="281305"/>
                    <a:pt x="5396992" y="628269"/>
                  </a:cubicBezTo>
                  <a:lnTo>
                    <a:pt x="5396992" y="3141091"/>
                  </a:lnTo>
                  <a:cubicBezTo>
                    <a:pt x="5396992" y="3488055"/>
                    <a:pt x="5115687" y="3769360"/>
                    <a:pt x="4768723" y="3769360"/>
                  </a:cubicBezTo>
                  <a:lnTo>
                    <a:pt x="628269" y="3769360"/>
                  </a:lnTo>
                  <a:cubicBezTo>
                    <a:pt x="281305" y="3769360"/>
                    <a:pt x="0" y="3488055"/>
                    <a:pt x="0" y="3141091"/>
                  </a:cubicBezTo>
                  <a:close/>
                </a:path>
              </a:pathLst>
            </a:custGeom>
            <a:solidFill>
              <a:srgbClr val="F3F7FB"/>
            </a:solidFill>
            <a:ln w="15240" cap="sq">
              <a:solidFill>
                <a:srgbClr val="DCE6EF"/>
              </a:solidFill>
              <a:prstDash val="solid"/>
              <a:miter/>
            </a:ln>
          </p:spPr>
        </p:sp>
      </p:grpSp>
      <p:grpSp>
        <p:nvGrpSpPr>
          <p:cNvPr name="Group 40" id="40"/>
          <p:cNvGrpSpPr/>
          <p:nvPr/>
        </p:nvGrpSpPr>
        <p:grpSpPr>
          <a:xfrm rot="0">
            <a:off x="14113764" y="2359152"/>
            <a:ext cx="3621024" cy="795528"/>
            <a:chOff x="0" y="0"/>
            <a:chExt cx="4828032" cy="1060704"/>
          </a:xfrm>
        </p:grpSpPr>
        <p:sp>
          <p:nvSpPr>
            <p:cNvPr name="Freeform 41" id="41"/>
            <p:cNvSpPr/>
            <p:nvPr/>
          </p:nvSpPr>
          <p:spPr>
            <a:xfrm flipH="false" flipV="false" rot="0">
              <a:off x="0" y="0"/>
              <a:ext cx="4828032" cy="1060704"/>
            </a:xfrm>
            <a:custGeom>
              <a:avLst/>
              <a:gdLst/>
              <a:ahLst/>
              <a:cxnLst/>
              <a:rect r="r" b="b" t="t" l="l"/>
              <a:pathLst>
                <a:path h="1060704" w="4828032">
                  <a:moveTo>
                    <a:pt x="0" y="0"/>
                  </a:moveTo>
                  <a:lnTo>
                    <a:pt x="4828032" y="0"/>
                  </a:lnTo>
                  <a:lnTo>
                    <a:pt x="4828032" y="1060704"/>
                  </a:lnTo>
                  <a:lnTo>
                    <a:pt x="0" y="1060704"/>
                  </a:lnTo>
                  <a:close/>
                </a:path>
              </a:pathLst>
            </a:custGeom>
            <a:blipFill>
              <a:blip r:embed="rId4">
                <a:alphaModFix amt="0"/>
              </a:blip>
              <a:stretch>
                <a:fillRect l="0" t="-38690" r="0" b="-38690"/>
              </a:stretch>
            </a:blipFill>
          </p:spPr>
          <p:txBody>
            <a:bodyPr/>
            <a:p/>
          </p:txBody>
        </p:sp>
        <p:sp>
          <p:nvSpPr>
            <p:cNvPr name="TextBox 42" id="42"/>
            <p:cNvSpPr txBox="true"/>
            <p:nvPr/>
          </p:nvSpPr>
          <p:spPr>
            <a:xfrm>
              <a:off x="0" y="0"/>
              <a:ext cx="4828032" cy="1060704"/>
            </a:xfrm>
            <a:prstGeom prst="rect">
              <a:avLst/>
            </a:prstGeom>
          </p:spPr>
          <p:txBody>
            <a:bodyPr anchor="ctr" rtlCol="false" tIns="0" lIns="0" bIns="0" rIns="0"/>
            <a:lstStyle/>
            <a:p>
              <a:pPr algn="ctr">
                <a:lnSpc>
                  <a:spcPts val="5040"/>
                </a:lnSpc>
              </a:pPr>
              <a:r>
                <a:rPr lang="en-US" sz="4200" b="true">
                  <a:solidFill>
                    <a:srgbClr val="153866"/>
                  </a:solidFill>
                  <a:latin typeface="Aptos Bold"/>
                  <a:ea typeface="Aptos Bold"/>
                  <a:cs typeface="Aptos Bold"/>
                  <a:sym typeface="Aptos Bold"/>
                </a:rPr>
                <a:t>~9 s</a:t>
              </a:r>
            </a:p>
          </p:txBody>
        </p:sp>
      </p:grpSp>
      <p:sp>
        <p:nvSpPr>
          <p:cNvPr name="TextBox 43" id="43"/>
          <p:cNvSpPr txBox="true"/>
          <p:nvPr/>
        </p:nvSpPr>
        <p:spPr>
          <a:xfrm rot="0">
            <a:off x="14109192" y="3241548"/>
            <a:ext cx="3630168" cy="484632"/>
          </a:xfrm>
          <a:prstGeom prst="rect">
            <a:avLst/>
          </a:prstGeom>
        </p:spPr>
        <p:txBody>
          <a:bodyPr anchor="t" rtlCol="false" tIns="0" lIns="0" bIns="0" rIns="0">
            <a:spAutoFit/>
          </a:bodyPr>
          <a:lstStyle/>
          <a:p>
            <a:pPr algn="ctr">
              <a:lnSpc>
                <a:spcPts val="2447"/>
              </a:lnSpc>
            </a:pPr>
            <a:r>
              <a:rPr lang="en-US" sz="2039" b="true">
                <a:solidFill>
                  <a:srgbClr val="153866"/>
                </a:solidFill>
                <a:latin typeface="Aptos Bold"/>
                <a:ea typeface="Aptos Bold"/>
                <a:cs typeface="Aptos Bold"/>
                <a:sym typeface="Aptos Bold"/>
              </a:rPr>
              <a:t>Phân tích 2 chu kỳ</a:t>
            </a:r>
          </a:p>
        </p:txBody>
      </p:sp>
      <p:sp>
        <p:nvSpPr>
          <p:cNvPr name="TextBox 44" id="44"/>
          <p:cNvSpPr txBox="true"/>
          <p:nvPr/>
        </p:nvSpPr>
        <p:spPr>
          <a:xfrm rot="0">
            <a:off x="14164056" y="3872484"/>
            <a:ext cx="3520440" cy="813816"/>
          </a:xfrm>
          <a:prstGeom prst="rect">
            <a:avLst/>
          </a:prstGeom>
        </p:spPr>
        <p:txBody>
          <a:bodyPr anchor="t" rtlCol="false" tIns="0" lIns="0" bIns="0" rIns="0">
            <a:spAutoFit/>
          </a:bodyPr>
          <a:lstStyle/>
          <a:p>
            <a:pPr algn="ctr">
              <a:lnSpc>
                <a:spcPts val="1889"/>
              </a:lnSpc>
            </a:pPr>
            <a:r>
              <a:rPr lang="en-US" sz="1575">
                <a:solidFill>
                  <a:srgbClr val="586777"/>
                </a:solidFill>
                <a:latin typeface="Aptos"/>
                <a:ea typeface="Aptos"/>
                <a:cs typeface="Aptos"/>
                <a:sym typeface="Aptos"/>
              </a:rPr>
              <a:t>Bước 02→08 sau khi có keypoint; trích keypoint ~6 phút/video trên CPU.</a:t>
            </a:r>
          </a:p>
        </p:txBody>
      </p:sp>
      <p:grpSp>
        <p:nvGrpSpPr>
          <p:cNvPr name="Group 45" id="45"/>
          <p:cNvGrpSpPr/>
          <p:nvPr/>
        </p:nvGrpSpPr>
        <p:grpSpPr>
          <a:xfrm rot="0">
            <a:off x="787908" y="5314188"/>
            <a:ext cx="16611600" cy="3005328"/>
            <a:chOff x="0" y="0"/>
            <a:chExt cx="22148800" cy="4007104"/>
          </a:xfrm>
        </p:grpSpPr>
        <p:sp>
          <p:nvSpPr>
            <p:cNvPr name="Freeform 46" id="46"/>
            <p:cNvSpPr/>
            <p:nvPr/>
          </p:nvSpPr>
          <p:spPr>
            <a:xfrm flipH="false" flipV="false" rot="0">
              <a:off x="0" y="0"/>
              <a:ext cx="22148800" cy="4007104"/>
            </a:xfrm>
            <a:custGeom>
              <a:avLst/>
              <a:gdLst/>
              <a:ahLst/>
              <a:cxnLst/>
              <a:rect r="r" b="b" t="t" l="l"/>
              <a:pathLst>
                <a:path h="4007104" w="22148800">
                  <a:moveTo>
                    <a:pt x="0" y="667893"/>
                  </a:moveTo>
                  <a:cubicBezTo>
                    <a:pt x="0" y="298958"/>
                    <a:pt x="298958" y="0"/>
                    <a:pt x="667893" y="0"/>
                  </a:cubicBezTo>
                  <a:lnTo>
                    <a:pt x="21480907" y="0"/>
                  </a:lnTo>
                  <a:cubicBezTo>
                    <a:pt x="21849842" y="0"/>
                    <a:pt x="22148800" y="298958"/>
                    <a:pt x="22148800" y="667893"/>
                  </a:cubicBezTo>
                  <a:lnTo>
                    <a:pt x="22148800" y="3339211"/>
                  </a:lnTo>
                  <a:cubicBezTo>
                    <a:pt x="22148800" y="3708019"/>
                    <a:pt x="21849842" y="4007104"/>
                    <a:pt x="21480907" y="4007104"/>
                  </a:cubicBezTo>
                  <a:lnTo>
                    <a:pt x="667893" y="4007104"/>
                  </a:lnTo>
                  <a:cubicBezTo>
                    <a:pt x="298958" y="4007104"/>
                    <a:pt x="0" y="3708146"/>
                    <a:pt x="0" y="3339211"/>
                  </a:cubicBezTo>
                  <a:close/>
                </a:path>
              </a:pathLst>
            </a:custGeom>
            <a:solidFill>
              <a:srgbClr val="F7F9FB"/>
            </a:solidFill>
            <a:ln w="15240" cap="sq">
              <a:solidFill>
                <a:srgbClr val="DCE6EF"/>
              </a:solidFill>
              <a:prstDash val="solid"/>
              <a:miter/>
            </a:ln>
          </p:spPr>
        </p:sp>
      </p:grpSp>
      <p:sp>
        <p:nvSpPr>
          <p:cNvPr name="TextBox 47" id="47"/>
          <p:cNvSpPr txBox="true"/>
          <p:nvPr/>
        </p:nvSpPr>
        <p:spPr>
          <a:xfrm rot="0">
            <a:off x="1147572" y="5563743"/>
            <a:ext cx="6702552" cy="480441"/>
          </a:xfrm>
          <a:prstGeom prst="rect">
            <a:avLst/>
          </a:prstGeom>
        </p:spPr>
        <p:txBody>
          <a:bodyPr anchor="t" rtlCol="false" tIns="0" lIns="0" bIns="0" rIns="0">
            <a:spAutoFit/>
          </a:bodyPr>
          <a:lstStyle/>
          <a:p>
            <a:pPr algn="l">
              <a:lnSpc>
                <a:spcPts val="2520"/>
              </a:lnSpc>
            </a:pPr>
            <a:r>
              <a:rPr lang="en-US" sz="2100" b="true">
                <a:solidFill>
                  <a:srgbClr val="153866"/>
                </a:solidFill>
                <a:latin typeface="Aptos Bold"/>
                <a:ea typeface="Aptos Bold"/>
                <a:cs typeface="Aptos Bold"/>
                <a:sym typeface="Aptos Bold"/>
              </a:rPr>
              <a:t>BUSINESS CASE</a:t>
            </a:r>
          </a:p>
        </p:txBody>
      </p:sp>
      <p:sp>
        <p:nvSpPr>
          <p:cNvPr name="TextBox 48" id="48"/>
          <p:cNvSpPr txBox="true"/>
          <p:nvPr/>
        </p:nvSpPr>
        <p:spPr>
          <a:xfrm rot="0">
            <a:off x="1147572" y="6204204"/>
            <a:ext cx="7045452" cy="1609344"/>
          </a:xfrm>
          <a:prstGeom prst="rect">
            <a:avLst/>
          </a:prstGeom>
        </p:spPr>
        <p:txBody>
          <a:bodyPr anchor="t" rtlCol="false" tIns="0" lIns="0" bIns="0" rIns="0">
            <a:spAutoFit/>
          </a:bodyPr>
          <a:lstStyle/>
          <a:p>
            <a:pPr algn="l">
              <a:lnSpc>
                <a:spcPts val="2070"/>
              </a:lnSpc>
            </a:pPr>
            <a:r>
              <a:rPr lang="en-US" sz="1725">
                <a:solidFill>
                  <a:srgbClr val="1F2D3D"/>
                </a:solidFill>
                <a:latin typeface="Aptos"/>
                <a:ea typeface="Aptos"/>
                <a:cs typeface="Aptos"/>
                <a:sym typeface="Aptos"/>
              </a:rPr>
              <a:t>• Phần cứng gần như 0: webcam/điện thoại + laptop sẵn có, không cần GPU.</a:t>
            </a:r>
          </a:p>
          <a:p>
            <a:pPr algn="l">
              <a:lnSpc>
                <a:spcPts val="2070"/>
              </a:lnSpc>
            </a:pPr>
            <a:r>
              <a:rPr lang="en-US" sz="1725">
                <a:solidFill>
                  <a:srgbClr val="1F2D3D"/>
                </a:solidFill>
                <a:latin typeface="Aptos"/>
                <a:ea typeface="Aptos"/>
                <a:cs typeface="Aptos"/>
                <a:sym typeface="Aptos"/>
              </a:rPr>
              <a:t>• Đo 100% chu kỳ thay vì vài mẫu; thời gian người cho 1 lần time study ước tính &lt; 30 phút (cần kiểm chứng).</a:t>
            </a:r>
          </a:p>
          <a:p>
            <a:pPr algn="l">
              <a:lnSpc>
                <a:spcPts val="2070"/>
              </a:lnSpc>
            </a:pPr>
            <a:r>
              <a:rPr lang="en-US" sz="1725">
                <a:solidFill>
                  <a:srgbClr val="1F2D3D"/>
                </a:solidFill>
                <a:latin typeface="Aptos"/>
                <a:ea typeface="Aptos"/>
                <a:cs typeface="Aptos"/>
                <a:sym typeface="Aptos"/>
              </a:rPr>
              <a:t>• Golden cycle của người thợ giỏi lưu thành chuẩn số hoá cho đào tạo.</a:t>
            </a:r>
          </a:p>
        </p:txBody>
      </p:sp>
      <p:grpSp>
        <p:nvGrpSpPr>
          <p:cNvPr name="Group 49" id="49"/>
          <p:cNvGrpSpPr/>
          <p:nvPr/>
        </p:nvGrpSpPr>
        <p:grpSpPr>
          <a:xfrm rot="0">
            <a:off x="8709660" y="5692140"/>
            <a:ext cx="34290" cy="2276856"/>
            <a:chOff x="0" y="0"/>
            <a:chExt cx="45720" cy="3035808"/>
          </a:xfrm>
        </p:grpSpPr>
        <p:sp>
          <p:nvSpPr>
            <p:cNvPr name="Freeform 50" id="50"/>
            <p:cNvSpPr/>
            <p:nvPr/>
          </p:nvSpPr>
          <p:spPr>
            <a:xfrm flipH="false" flipV="false" rot="0">
              <a:off x="0" y="0"/>
              <a:ext cx="45720" cy="3035808"/>
            </a:xfrm>
            <a:custGeom>
              <a:avLst/>
              <a:gdLst/>
              <a:ahLst/>
              <a:cxnLst/>
              <a:rect r="r" b="b" t="t" l="l"/>
              <a:pathLst>
                <a:path h="3035808" w="45720">
                  <a:moveTo>
                    <a:pt x="0" y="0"/>
                  </a:moveTo>
                  <a:lnTo>
                    <a:pt x="45720" y="0"/>
                  </a:lnTo>
                  <a:lnTo>
                    <a:pt x="45720" y="3035808"/>
                  </a:lnTo>
                  <a:lnTo>
                    <a:pt x="0" y="3035808"/>
                  </a:lnTo>
                  <a:close/>
                </a:path>
              </a:pathLst>
            </a:custGeom>
            <a:solidFill>
              <a:srgbClr val="DCE6EF"/>
            </a:solidFill>
          </p:spPr>
        </p:sp>
      </p:grpSp>
      <p:sp>
        <p:nvSpPr>
          <p:cNvPr name="TextBox 51" id="51"/>
          <p:cNvSpPr txBox="true"/>
          <p:nvPr/>
        </p:nvSpPr>
        <p:spPr>
          <a:xfrm rot="0">
            <a:off x="9171432" y="5563743"/>
            <a:ext cx="7388352" cy="480441"/>
          </a:xfrm>
          <a:prstGeom prst="rect">
            <a:avLst/>
          </a:prstGeom>
        </p:spPr>
        <p:txBody>
          <a:bodyPr anchor="t" rtlCol="false" tIns="0" lIns="0" bIns="0" rIns="0">
            <a:spAutoFit/>
          </a:bodyPr>
          <a:lstStyle/>
          <a:p>
            <a:pPr algn="l">
              <a:lnSpc>
                <a:spcPts val="2520"/>
              </a:lnSpc>
            </a:pPr>
            <a:r>
              <a:rPr lang="en-US" sz="2100" b="true">
                <a:solidFill>
                  <a:srgbClr val="153866"/>
                </a:solidFill>
                <a:latin typeface="Aptos Bold"/>
                <a:ea typeface="Aptos Bold"/>
                <a:cs typeface="Aptos Bold"/>
                <a:sym typeface="Aptos Bold"/>
              </a:rPr>
              <a:t>CÁCH XÁC MINH</a:t>
            </a:r>
          </a:p>
        </p:txBody>
      </p:sp>
      <p:sp>
        <p:nvSpPr>
          <p:cNvPr name="TextBox 52" id="52"/>
          <p:cNvSpPr txBox="true"/>
          <p:nvPr/>
        </p:nvSpPr>
        <p:spPr>
          <a:xfrm rot="0">
            <a:off x="9171432" y="6204204"/>
            <a:ext cx="7525512" cy="1609344"/>
          </a:xfrm>
          <a:prstGeom prst="rect">
            <a:avLst/>
          </a:prstGeom>
        </p:spPr>
        <p:txBody>
          <a:bodyPr anchor="t" rtlCol="false" tIns="0" lIns="0" bIns="0" rIns="0">
            <a:spAutoFit/>
          </a:bodyPr>
          <a:lstStyle/>
          <a:p>
            <a:pPr algn="l">
              <a:lnSpc>
                <a:spcPts val="2070"/>
              </a:lnSpc>
            </a:pPr>
            <a:r>
              <a:rPr lang="en-US" sz="1725">
                <a:solidFill>
                  <a:srgbClr val="1F2D3D"/>
                </a:solidFill>
                <a:latin typeface="Aptos"/>
                <a:ea typeface="Aptos"/>
                <a:cs typeface="Aptos"/>
                <a:sym typeface="Aptos"/>
              </a:rPr>
              <a:t>1. Baseline cùng trạm, cùng định nghĩa bước SOP.</a:t>
            </a:r>
          </a:p>
          <a:p>
            <a:pPr algn="l">
              <a:lnSpc>
                <a:spcPts val="2070"/>
              </a:lnSpc>
            </a:pPr>
            <a:r>
              <a:rPr lang="en-US" sz="1725">
                <a:solidFill>
                  <a:srgbClr val="1F2D3D"/>
                </a:solidFill>
                <a:latin typeface="Aptos"/>
                <a:ea typeface="Aptos"/>
                <a:cs typeface="Aptos"/>
                <a:sym typeface="Aptos"/>
              </a:rPr>
              <a:t>2. Đối chiếu nhãn / đánh giá của kỹ sư IE (như nhãn HA4M).</a:t>
            </a:r>
          </a:p>
          <a:p>
            <a:pPr algn="l">
              <a:lnSpc>
                <a:spcPts val="2070"/>
              </a:lnSpc>
            </a:pPr>
            <a:r>
              <a:rPr lang="en-US" sz="1725">
                <a:solidFill>
                  <a:srgbClr val="1F2D3D"/>
                </a:solidFill>
                <a:latin typeface="Aptos"/>
                <a:ea typeface="Aptos"/>
                <a:cs typeface="Aptos"/>
                <a:sym typeface="Aptos"/>
              </a:rPr>
              <a:t>3. Đo lại sau Kaizen bằng cùng pipeline; so sánh bằng compare_runs.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sp>
        <p:nvSpPr>
          <p:cNvPr name="TextBox 6" id="6"/>
          <p:cNvSpPr txBox="true"/>
          <p:nvPr/>
        </p:nvSpPr>
        <p:spPr>
          <a:xfrm rot="0">
            <a:off x="8958139" y="431149"/>
            <a:ext cx="15590520" cy="1868329"/>
          </a:xfrm>
          <a:prstGeom prst="rect">
            <a:avLst/>
          </a:prstGeom>
        </p:spPr>
        <p:txBody>
          <a:bodyPr anchor="t" rtlCol="false" tIns="0" lIns="0" bIns="0" rIns="0">
            <a:spAutoFit/>
          </a:bodyPr>
          <a:lstStyle/>
          <a:p>
            <a:pPr algn="l">
              <a:lnSpc>
                <a:spcPts val="5832"/>
              </a:lnSpc>
            </a:pPr>
            <a:r>
              <a:rPr lang="en-US" sz="5400" b="true">
                <a:solidFill>
                  <a:srgbClr val="FFFFFF"/>
                </a:solidFill>
                <a:latin typeface="Times New Roman Bold"/>
                <a:ea typeface="Times New Roman Bold"/>
                <a:cs typeface="Times New Roman Bold"/>
                <a:sym typeface="Times New Roman Bold"/>
              </a:rPr>
              <a:t>Kế hoạch triển khai</a:t>
            </a:r>
          </a:p>
        </p:txBody>
      </p:sp>
      <p:grpSp>
        <p:nvGrpSpPr>
          <p:cNvPr name="Group 7" id="7"/>
          <p:cNvGrpSpPr/>
          <p:nvPr/>
        </p:nvGrpSpPr>
        <p:grpSpPr>
          <a:xfrm rot="0">
            <a:off x="746760" y="2255520"/>
            <a:ext cx="3938016" cy="5158740"/>
            <a:chOff x="0" y="0"/>
            <a:chExt cx="5250688" cy="6878320"/>
          </a:xfrm>
        </p:grpSpPr>
        <p:sp>
          <p:nvSpPr>
            <p:cNvPr name="Freeform 8" id="8"/>
            <p:cNvSpPr/>
            <p:nvPr/>
          </p:nvSpPr>
          <p:spPr>
            <a:xfrm flipH="false" flipV="false" rot="0">
              <a:off x="0" y="0"/>
              <a:ext cx="5250688" cy="6878320"/>
            </a:xfrm>
            <a:custGeom>
              <a:avLst/>
              <a:gdLst/>
              <a:ahLst/>
              <a:cxnLst/>
              <a:rect r="r" b="b" t="t" l="l"/>
              <a:pathLst>
                <a:path h="6878320" w="5250688">
                  <a:moveTo>
                    <a:pt x="0" y="875157"/>
                  </a:moveTo>
                  <a:cubicBezTo>
                    <a:pt x="0" y="391795"/>
                    <a:pt x="391795" y="0"/>
                    <a:pt x="875157" y="0"/>
                  </a:cubicBezTo>
                  <a:lnTo>
                    <a:pt x="4375531" y="0"/>
                  </a:lnTo>
                  <a:cubicBezTo>
                    <a:pt x="4858893" y="0"/>
                    <a:pt x="5250688" y="391795"/>
                    <a:pt x="5250688" y="875157"/>
                  </a:cubicBezTo>
                  <a:lnTo>
                    <a:pt x="5250688" y="6003163"/>
                  </a:lnTo>
                  <a:cubicBezTo>
                    <a:pt x="5250688" y="6486525"/>
                    <a:pt x="4858893" y="6878320"/>
                    <a:pt x="4375531" y="6878320"/>
                  </a:cubicBezTo>
                  <a:lnTo>
                    <a:pt x="875157" y="6878320"/>
                  </a:lnTo>
                  <a:cubicBezTo>
                    <a:pt x="391795" y="6878320"/>
                    <a:pt x="0" y="6486525"/>
                    <a:pt x="0" y="6003163"/>
                  </a:cubicBezTo>
                  <a:close/>
                </a:path>
              </a:pathLst>
            </a:custGeom>
            <a:solidFill>
              <a:srgbClr val="F3F7FB"/>
            </a:solidFill>
            <a:ln w="15240" cap="sq">
              <a:solidFill>
                <a:srgbClr val="DCE6EF"/>
              </a:solidFill>
              <a:prstDash val="solid"/>
              <a:miter/>
            </a:ln>
          </p:spPr>
        </p:sp>
      </p:grpSp>
      <p:grpSp>
        <p:nvGrpSpPr>
          <p:cNvPr name="Group 9" id="9"/>
          <p:cNvGrpSpPr/>
          <p:nvPr/>
        </p:nvGrpSpPr>
        <p:grpSpPr>
          <a:xfrm rot="0">
            <a:off x="1001268" y="2578608"/>
            <a:ext cx="1440180" cy="521208"/>
            <a:chOff x="0" y="0"/>
            <a:chExt cx="1920240" cy="694944"/>
          </a:xfrm>
        </p:grpSpPr>
        <p:sp>
          <p:nvSpPr>
            <p:cNvPr name="Freeform 10" id="10"/>
            <p:cNvSpPr/>
            <p:nvPr/>
          </p:nvSpPr>
          <p:spPr>
            <a:xfrm flipH="false" flipV="false" rot="0">
              <a:off x="0" y="0"/>
              <a:ext cx="1920240" cy="694944"/>
            </a:xfrm>
            <a:custGeom>
              <a:avLst/>
              <a:gdLst/>
              <a:ahLst/>
              <a:cxnLst/>
              <a:rect r="r" b="b" t="t" l="l"/>
              <a:pathLst>
                <a:path h="694944" w="1920240">
                  <a:moveTo>
                    <a:pt x="0" y="115824"/>
                  </a:moveTo>
                  <a:cubicBezTo>
                    <a:pt x="0" y="51816"/>
                    <a:pt x="51816" y="0"/>
                    <a:pt x="115824" y="0"/>
                  </a:cubicBezTo>
                  <a:lnTo>
                    <a:pt x="1804416" y="0"/>
                  </a:lnTo>
                  <a:cubicBezTo>
                    <a:pt x="1868424" y="0"/>
                    <a:pt x="1920240" y="51816"/>
                    <a:pt x="1920240" y="115824"/>
                  </a:cubicBezTo>
                  <a:lnTo>
                    <a:pt x="1920240" y="579120"/>
                  </a:lnTo>
                  <a:cubicBezTo>
                    <a:pt x="1920240" y="643128"/>
                    <a:pt x="1868424" y="694944"/>
                    <a:pt x="1804416" y="694944"/>
                  </a:cubicBezTo>
                  <a:lnTo>
                    <a:pt x="115824" y="694944"/>
                  </a:lnTo>
                  <a:cubicBezTo>
                    <a:pt x="51816" y="694944"/>
                    <a:pt x="0" y="643128"/>
                    <a:pt x="0" y="579120"/>
                  </a:cubicBezTo>
                  <a:close/>
                </a:path>
              </a:pathLst>
            </a:custGeom>
            <a:solidFill>
              <a:srgbClr val="EAF3FC"/>
            </a:solidFill>
          </p:spPr>
        </p:sp>
      </p:grpSp>
      <p:grpSp>
        <p:nvGrpSpPr>
          <p:cNvPr name="Group 11" id="11"/>
          <p:cNvGrpSpPr/>
          <p:nvPr/>
        </p:nvGrpSpPr>
        <p:grpSpPr>
          <a:xfrm rot="0">
            <a:off x="1056132" y="2599182"/>
            <a:ext cx="1330452" cy="480060"/>
            <a:chOff x="0" y="0"/>
            <a:chExt cx="1773936" cy="640080"/>
          </a:xfrm>
        </p:grpSpPr>
        <p:sp>
          <p:nvSpPr>
            <p:cNvPr name="Freeform 12" id="12"/>
            <p:cNvSpPr/>
            <p:nvPr/>
          </p:nvSpPr>
          <p:spPr>
            <a:xfrm flipH="false" flipV="false" rot="0">
              <a:off x="0" y="0"/>
              <a:ext cx="1773936" cy="640080"/>
            </a:xfrm>
            <a:custGeom>
              <a:avLst/>
              <a:gdLst/>
              <a:ahLst/>
              <a:cxnLst/>
              <a:rect r="r" b="b" t="t" l="l"/>
              <a:pathLst>
                <a:path h="640080" w="1773936">
                  <a:moveTo>
                    <a:pt x="0" y="0"/>
                  </a:moveTo>
                  <a:lnTo>
                    <a:pt x="1773936" y="0"/>
                  </a:lnTo>
                  <a:lnTo>
                    <a:pt x="1773936" y="640080"/>
                  </a:lnTo>
                  <a:lnTo>
                    <a:pt x="0" y="640080"/>
                  </a:lnTo>
                  <a:close/>
                </a:path>
              </a:pathLst>
            </a:custGeom>
            <a:blipFill>
              <a:blip r:embed="rId3">
                <a:alphaModFix amt="0"/>
              </a:blip>
              <a:stretch>
                <a:fillRect l="0" t="-4001" r="0" b="-4001"/>
              </a:stretch>
            </a:blipFill>
          </p:spPr>
          <p:txBody>
            <a:bodyPr/>
            <a:p/>
          </p:txBody>
        </p:sp>
        <p:sp>
          <p:nvSpPr>
            <p:cNvPr name="TextBox 13" id="13"/>
            <p:cNvSpPr txBox="true"/>
            <p:nvPr/>
          </p:nvSpPr>
          <p:spPr>
            <a:xfrm>
              <a:off x="0" y="0"/>
              <a:ext cx="1773936" cy="640080"/>
            </a:xfrm>
            <a:prstGeom prst="rect">
              <a:avLst/>
            </a:prstGeom>
          </p:spPr>
          <p:txBody>
            <a:bodyPr anchor="ctr" rtlCol="false" tIns="0" lIns="0" bIns="0" rIns="0"/>
            <a:lstStyle/>
            <a:p>
              <a:pPr algn="ctr">
                <a:lnSpc>
                  <a:spcPts val="1800"/>
                </a:lnSpc>
              </a:pPr>
              <a:r>
                <a:rPr lang="en-US" sz="1500" b="true">
                  <a:solidFill>
                    <a:srgbClr val="1265A8"/>
                  </a:solidFill>
                  <a:latin typeface="Aptos Bold"/>
                  <a:ea typeface="Aptos Bold"/>
                  <a:cs typeface="Aptos Bold"/>
                  <a:sym typeface="Aptos Bold"/>
                </a:rPr>
                <a:t>ĐÃ XONG</a:t>
              </a:r>
            </a:p>
          </p:txBody>
        </p:sp>
      </p:grpSp>
      <p:sp>
        <p:nvSpPr>
          <p:cNvPr name="TextBox 14" id="14"/>
          <p:cNvSpPr txBox="true"/>
          <p:nvPr/>
        </p:nvSpPr>
        <p:spPr>
          <a:xfrm rot="0">
            <a:off x="1037844" y="3392424"/>
            <a:ext cx="3355848" cy="704088"/>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PoC hackathon</a:t>
            </a:r>
          </a:p>
        </p:txBody>
      </p:sp>
      <p:sp>
        <p:nvSpPr>
          <p:cNvPr name="TextBox 15" id="15"/>
          <p:cNvSpPr txBox="true"/>
          <p:nvPr/>
        </p:nvSpPr>
        <p:spPr>
          <a:xfrm rot="0">
            <a:off x="1037844" y="4307205"/>
            <a:ext cx="3383280" cy="2477643"/>
          </a:xfrm>
          <a:prstGeom prst="rect">
            <a:avLst/>
          </a:prstGeom>
        </p:spPr>
        <p:txBody>
          <a:bodyPr anchor="t" rtlCol="false" tIns="0" lIns="0" bIns="0" rIns="0">
            <a:spAutoFit/>
          </a:bodyPr>
          <a:lstStyle/>
          <a:p>
            <a:pPr algn="l">
              <a:lnSpc>
                <a:spcPts val="2177"/>
              </a:lnSpc>
            </a:pPr>
            <a:r>
              <a:rPr lang="en-US" sz="1814">
                <a:solidFill>
                  <a:srgbClr val="1F2D3D"/>
                </a:solidFill>
                <a:latin typeface="Aptos"/>
                <a:ea typeface="Aptos"/>
                <a:cs typeface="Aptos"/>
                <a:sym typeface="Aptos"/>
              </a:rPr>
              <a:t>Pipeline end-to-end trên HA4M, đánh giá vs nhãn, validator LLM, dashboard + video demo.</a:t>
            </a:r>
          </a:p>
        </p:txBody>
      </p:sp>
      <p:grpSp>
        <p:nvGrpSpPr>
          <p:cNvPr name="Group 16" id="16"/>
          <p:cNvGrpSpPr/>
          <p:nvPr/>
        </p:nvGrpSpPr>
        <p:grpSpPr>
          <a:xfrm rot="0">
            <a:off x="4677156" y="4251960"/>
            <a:ext cx="411480" cy="617220"/>
            <a:chOff x="0" y="0"/>
            <a:chExt cx="548640" cy="822960"/>
          </a:xfrm>
        </p:grpSpPr>
        <p:sp>
          <p:nvSpPr>
            <p:cNvPr name="Freeform 17" id="17"/>
            <p:cNvSpPr/>
            <p:nvPr/>
          </p:nvSpPr>
          <p:spPr>
            <a:xfrm flipH="false" flipV="false" rot="0">
              <a:off x="0" y="0"/>
              <a:ext cx="548640" cy="822960"/>
            </a:xfrm>
            <a:custGeom>
              <a:avLst/>
              <a:gdLst/>
              <a:ahLst/>
              <a:cxnLst/>
              <a:rect r="r" b="b" t="t" l="l"/>
              <a:pathLst>
                <a:path h="822960" w="548640">
                  <a:moveTo>
                    <a:pt x="0" y="0"/>
                  </a:moveTo>
                  <a:lnTo>
                    <a:pt x="548640" y="0"/>
                  </a:lnTo>
                  <a:lnTo>
                    <a:pt x="548640" y="822960"/>
                  </a:lnTo>
                  <a:lnTo>
                    <a:pt x="0" y="822960"/>
                  </a:lnTo>
                  <a:close/>
                </a:path>
              </a:pathLst>
            </a:custGeom>
            <a:blipFill>
              <a:blip r:embed="rId3">
                <a:alphaModFix amt="0"/>
              </a:blip>
              <a:stretch>
                <a:fillRect l="-142455" t="0" r="-142455" b="0"/>
              </a:stretch>
            </a:blipFill>
          </p:spPr>
        </p:sp>
        <p:sp>
          <p:nvSpPr>
            <p:cNvPr name="TextBox 18" id="18"/>
            <p:cNvSpPr txBox="true"/>
            <p:nvPr/>
          </p:nvSpPr>
          <p:spPr>
            <a:xfrm>
              <a:off x="0" y="0"/>
              <a:ext cx="548640" cy="822960"/>
            </a:xfrm>
            <a:prstGeom prst="rect">
              <a:avLst/>
            </a:prstGeom>
          </p:spPr>
          <p:txBody>
            <a:bodyPr anchor="ctr" rtlCol="false" tIns="0" lIns="0" bIns="0" rIns="0"/>
            <a:lstStyle/>
            <a:p>
              <a:pPr algn="ctr">
                <a:lnSpc>
                  <a:spcPts val="4140"/>
                </a:lnSpc>
              </a:pPr>
              <a:r>
                <a:rPr lang="en-US" sz="3450" b="true">
                  <a:solidFill>
                    <a:srgbClr val="00B96B"/>
                  </a:solidFill>
                  <a:latin typeface="Aptos Bold"/>
                  <a:ea typeface="Aptos Bold"/>
                  <a:cs typeface="Aptos Bold"/>
                  <a:sym typeface="Aptos Bold"/>
                </a:rPr>
                <a:t>→</a:t>
              </a:r>
            </a:p>
          </p:txBody>
        </p:sp>
      </p:grpSp>
      <p:grpSp>
        <p:nvGrpSpPr>
          <p:cNvPr name="Group 19" id="19"/>
          <p:cNvGrpSpPr/>
          <p:nvPr/>
        </p:nvGrpSpPr>
        <p:grpSpPr>
          <a:xfrm rot="0">
            <a:off x="5108448" y="2255520"/>
            <a:ext cx="3938016" cy="5158740"/>
            <a:chOff x="0" y="0"/>
            <a:chExt cx="5250688" cy="6878320"/>
          </a:xfrm>
        </p:grpSpPr>
        <p:sp>
          <p:nvSpPr>
            <p:cNvPr name="Freeform 20" id="20"/>
            <p:cNvSpPr/>
            <p:nvPr/>
          </p:nvSpPr>
          <p:spPr>
            <a:xfrm flipH="false" flipV="false" rot="0">
              <a:off x="0" y="0"/>
              <a:ext cx="5250688" cy="6878320"/>
            </a:xfrm>
            <a:custGeom>
              <a:avLst/>
              <a:gdLst/>
              <a:ahLst/>
              <a:cxnLst/>
              <a:rect r="r" b="b" t="t" l="l"/>
              <a:pathLst>
                <a:path h="6878320" w="5250688">
                  <a:moveTo>
                    <a:pt x="0" y="875157"/>
                  </a:moveTo>
                  <a:cubicBezTo>
                    <a:pt x="0" y="391795"/>
                    <a:pt x="391795" y="0"/>
                    <a:pt x="875157" y="0"/>
                  </a:cubicBezTo>
                  <a:lnTo>
                    <a:pt x="4375531" y="0"/>
                  </a:lnTo>
                  <a:cubicBezTo>
                    <a:pt x="4858893" y="0"/>
                    <a:pt x="5250688" y="391795"/>
                    <a:pt x="5250688" y="875157"/>
                  </a:cubicBezTo>
                  <a:lnTo>
                    <a:pt x="5250688" y="6003163"/>
                  </a:lnTo>
                  <a:cubicBezTo>
                    <a:pt x="5250688" y="6486525"/>
                    <a:pt x="4858893" y="6878320"/>
                    <a:pt x="4375531" y="6878320"/>
                  </a:cubicBezTo>
                  <a:lnTo>
                    <a:pt x="875157" y="6878320"/>
                  </a:lnTo>
                  <a:cubicBezTo>
                    <a:pt x="391795" y="6878320"/>
                    <a:pt x="0" y="6486525"/>
                    <a:pt x="0" y="6003163"/>
                  </a:cubicBezTo>
                  <a:close/>
                </a:path>
              </a:pathLst>
            </a:custGeom>
            <a:solidFill>
              <a:srgbClr val="F3F7FB"/>
            </a:solidFill>
            <a:ln w="15240" cap="sq">
              <a:solidFill>
                <a:srgbClr val="DCE6EF"/>
              </a:solidFill>
              <a:prstDash val="solid"/>
              <a:miter/>
            </a:ln>
          </p:spPr>
        </p:sp>
      </p:grpSp>
      <p:grpSp>
        <p:nvGrpSpPr>
          <p:cNvPr name="Group 21" id="21"/>
          <p:cNvGrpSpPr/>
          <p:nvPr/>
        </p:nvGrpSpPr>
        <p:grpSpPr>
          <a:xfrm rot="0">
            <a:off x="5362956" y="2578608"/>
            <a:ext cx="1440180" cy="521208"/>
            <a:chOff x="0" y="0"/>
            <a:chExt cx="1920240" cy="694944"/>
          </a:xfrm>
        </p:grpSpPr>
        <p:sp>
          <p:nvSpPr>
            <p:cNvPr name="Freeform 22" id="22"/>
            <p:cNvSpPr/>
            <p:nvPr/>
          </p:nvSpPr>
          <p:spPr>
            <a:xfrm flipH="false" flipV="false" rot="0">
              <a:off x="0" y="0"/>
              <a:ext cx="1920240" cy="694944"/>
            </a:xfrm>
            <a:custGeom>
              <a:avLst/>
              <a:gdLst/>
              <a:ahLst/>
              <a:cxnLst/>
              <a:rect r="r" b="b" t="t" l="l"/>
              <a:pathLst>
                <a:path h="694944" w="1920240">
                  <a:moveTo>
                    <a:pt x="0" y="115824"/>
                  </a:moveTo>
                  <a:cubicBezTo>
                    <a:pt x="0" y="51816"/>
                    <a:pt x="51816" y="0"/>
                    <a:pt x="115824" y="0"/>
                  </a:cubicBezTo>
                  <a:lnTo>
                    <a:pt x="1804416" y="0"/>
                  </a:lnTo>
                  <a:cubicBezTo>
                    <a:pt x="1868424" y="0"/>
                    <a:pt x="1920240" y="51816"/>
                    <a:pt x="1920240" y="115824"/>
                  </a:cubicBezTo>
                  <a:lnTo>
                    <a:pt x="1920240" y="579120"/>
                  </a:lnTo>
                  <a:cubicBezTo>
                    <a:pt x="1920240" y="643128"/>
                    <a:pt x="1868424" y="694944"/>
                    <a:pt x="1804416" y="694944"/>
                  </a:cubicBezTo>
                  <a:lnTo>
                    <a:pt x="115824" y="694944"/>
                  </a:lnTo>
                  <a:cubicBezTo>
                    <a:pt x="51816" y="694944"/>
                    <a:pt x="0" y="643128"/>
                    <a:pt x="0" y="579120"/>
                  </a:cubicBezTo>
                  <a:close/>
                </a:path>
              </a:pathLst>
            </a:custGeom>
            <a:solidFill>
              <a:srgbClr val="EAF3FC"/>
            </a:solidFill>
          </p:spPr>
        </p:sp>
      </p:grpSp>
      <p:grpSp>
        <p:nvGrpSpPr>
          <p:cNvPr name="Group 23" id="23"/>
          <p:cNvGrpSpPr/>
          <p:nvPr/>
        </p:nvGrpSpPr>
        <p:grpSpPr>
          <a:xfrm rot="0">
            <a:off x="5417820" y="2599182"/>
            <a:ext cx="1330452" cy="480060"/>
            <a:chOff x="0" y="0"/>
            <a:chExt cx="1773936" cy="640080"/>
          </a:xfrm>
        </p:grpSpPr>
        <p:sp>
          <p:nvSpPr>
            <p:cNvPr name="Freeform 24" id="24"/>
            <p:cNvSpPr/>
            <p:nvPr/>
          </p:nvSpPr>
          <p:spPr>
            <a:xfrm flipH="false" flipV="false" rot="0">
              <a:off x="0" y="0"/>
              <a:ext cx="1773936" cy="640080"/>
            </a:xfrm>
            <a:custGeom>
              <a:avLst/>
              <a:gdLst/>
              <a:ahLst/>
              <a:cxnLst/>
              <a:rect r="r" b="b" t="t" l="l"/>
              <a:pathLst>
                <a:path h="640080" w="1773936">
                  <a:moveTo>
                    <a:pt x="0" y="0"/>
                  </a:moveTo>
                  <a:lnTo>
                    <a:pt x="1773936" y="0"/>
                  </a:lnTo>
                  <a:lnTo>
                    <a:pt x="1773936" y="640080"/>
                  </a:lnTo>
                  <a:lnTo>
                    <a:pt x="0" y="640080"/>
                  </a:lnTo>
                  <a:close/>
                </a:path>
              </a:pathLst>
            </a:custGeom>
            <a:blipFill>
              <a:blip r:embed="rId3">
                <a:alphaModFix amt="0"/>
              </a:blip>
              <a:stretch>
                <a:fillRect l="0" t="-4001" r="0" b="-4001"/>
              </a:stretch>
            </a:blipFill>
          </p:spPr>
          <p:txBody>
            <a:bodyPr/>
            <a:p/>
          </p:txBody>
        </p:sp>
        <p:sp>
          <p:nvSpPr>
            <p:cNvPr name="TextBox 25" id="25"/>
            <p:cNvSpPr txBox="true"/>
            <p:nvPr/>
          </p:nvSpPr>
          <p:spPr>
            <a:xfrm>
              <a:off x="0" y="0"/>
              <a:ext cx="1773936" cy="640080"/>
            </a:xfrm>
            <a:prstGeom prst="rect">
              <a:avLst/>
            </a:prstGeom>
          </p:spPr>
          <p:txBody>
            <a:bodyPr anchor="ctr" rtlCol="false" tIns="0" lIns="0" bIns="0" rIns="0"/>
            <a:lstStyle/>
            <a:p>
              <a:pPr algn="ctr">
                <a:lnSpc>
                  <a:spcPts val="1800"/>
                </a:lnSpc>
              </a:pPr>
              <a:r>
                <a:rPr lang="en-US" sz="1500" b="true">
                  <a:solidFill>
                    <a:srgbClr val="008F8A"/>
                  </a:solidFill>
                  <a:latin typeface="Aptos Bold"/>
                  <a:ea typeface="Aptos Bold"/>
                  <a:cs typeface="Aptos Bold"/>
                  <a:sym typeface="Aptos Bold"/>
                </a:rPr>
                <a:t>TUẦN 1–4</a:t>
              </a:r>
            </a:p>
          </p:txBody>
        </p:sp>
      </p:grpSp>
      <p:sp>
        <p:nvSpPr>
          <p:cNvPr name="TextBox 26" id="26"/>
          <p:cNvSpPr txBox="true"/>
          <p:nvPr/>
        </p:nvSpPr>
        <p:spPr>
          <a:xfrm rot="0">
            <a:off x="5399532" y="3392424"/>
            <a:ext cx="3355848" cy="704088"/>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Pilot 1 trạm</a:t>
            </a:r>
          </a:p>
        </p:txBody>
      </p:sp>
      <p:sp>
        <p:nvSpPr>
          <p:cNvPr name="TextBox 27" id="27"/>
          <p:cNvSpPr txBox="true"/>
          <p:nvPr/>
        </p:nvSpPr>
        <p:spPr>
          <a:xfrm rot="0">
            <a:off x="5399532" y="4307205"/>
            <a:ext cx="3383280" cy="2477643"/>
          </a:xfrm>
          <a:prstGeom prst="rect">
            <a:avLst/>
          </a:prstGeom>
        </p:spPr>
        <p:txBody>
          <a:bodyPr anchor="t" rtlCol="false" tIns="0" lIns="0" bIns="0" rIns="0">
            <a:spAutoFit/>
          </a:bodyPr>
          <a:lstStyle/>
          <a:p>
            <a:pPr algn="l">
              <a:lnSpc>
                <a:spcPts val="2177"/>
              </a:lnSpc>
            </a:pPr>
            <a:r>
              <a:rPr lang="en-US" sz="1814">
                <a:solidFill>
                  <a:srgbClr val="1F2D3D"/>
                </a:solidFill>
                <a:latin typeface="Aptos"/>
                <a:ea typeface="Aptos"/>
                <a:cs typeface="Aptos"/>
                <a:sym typeface="Aptos"/>
              </a:rPr>
              <a:t>Hiệu chỉnh camera, vẽ zone theo layout thật, đổi px→cm, đối chiếu với kỹ sư IE.</a:t>
            </a:r>
          </a:p>
        </p:txBody>
      </p:sp>
      <p:grpSp>
        <p:nvGrpSpPr>
          <p:cNvPr name="Group 28" id="28"/>
          <p:cNvGrpSpPr/>
          <p:nvPr/>
        </p:nvGrpSpPr>
        <p:grpSpPr>
          <a:xfrm rot="0">
            <a:off x="9038844" y="4251960"/>
            <a:ext cx="411480" cy="617220"/>
            <a:chOff x="0" y="0"/>
            <a:chExt cx="548640" cy="822960"/>
          </a:xfrm>
        </p:grpSpPr>
        <p:sp>
          <p:nvSpPr>
            <p:cNvPr name="Freeform 29" id="29"/>
            <p:cNvSpPr/>
            <p:nvPr/>
          </p:nvSpPr>
          <p:spPr>
            <a:xfrm flipH="false" flipV="false" rot="0">
              <a:off x="0" y="0"/>
              <a:ext cx="548640" cy="822960"/>
            </a:xfrm>
            <a:custGeom>
              <a:avLst/>
              <a:gdLst/>
              <a:ahLst/>
              <a:cxnLst/>
              <a:rect r="r" b="b" t="t" l="l"/>
              <a:pathLst>
                <a:path h="822960" w="548640">
                  <a:moveTo>
                    <a:pt x="0" y="0"/>
                  </a:moveTo>
                  <a:lnTo>
                    <a:pt x="548640" y="0"/>
                  </a:lnTo>
                  <a:lnTo>
                    <a:pt x="548640" y="822960"/>
                  </a:lnTo>
                  <a:lnTo>
                    <a:pt x="0" y="822960"/>
                  </a:lnTo>
                  <a:close/>
                </a:path>
              </a:pathLst>
            </a:custGeom>
            <a:blipFill>
              <a:blip r:embed="rId3">
                <a:alphaModFix amt="0"/>
              </a:blip>
              <a:stretch>
                <a:fillRect l="-142455" t="0" r="-142455" b="0"/>
              </a:stretch>
            </a:blipFill>
          </p:spPr>
        </p:sp>
        <p:sp>
          <p:nvSpPr>
            <p:cNvPr name="TextBox 30" id="30"/>
            <p:cNvSpPr txBox="true"/>
            <p:nvPr/>
          </p:nvSpPr>
          <p:spPr>
            <a:xfrm>
              <a:off x="0" y="0"/>
              <a:ext cx="548640" cy="822960"/>
            </a:xfrm>
            <a:prstGeom prst="rect">
              <a:avLst/>
            </a:prstGeom>
          </p:spPr>
          <p:txBody>
            <a:bodyPr anchor="ctr" rtlCol="false" tIns="0" lIns="0" bIns="0" rIns="0"/>
            <a:lstStyle/>
            <a:p>
              <a:pPr algn="ctr">
                <a:lnSpc>
                  <a:spcPts val="4140"/>
                </a:lnSpc>
              </a:pPr>
              <a:r>
                <a:rPr lang="en-US" sz="3450" b="true">
                  <a:solidFill>
                    <a:srgbClr val="00B96B"/>
                  </a:solidFill>
                  <a:latin typeface="Aptos Bold"/>
                  <a:ea typeface="Aptos Bold"/>
                  <a:cs typeface="Aptos Bold"/>
                  <a:sym typeface="Aptos Bold"/>
                </a:rPr>
                <a:t>→</a:t>
              </a:r>
            </a:p>
          </p:txBody>
        </p:sp>
      </p:grpSp>
      <p:grpSp>
        <p:nvGrpSpPr>
          <p:cNvPr name="Group 31" id="31"/>
          <p:cNvGrpSpPr/>
          <p:nvPr/>
        </p:nvGrpSpPr>
        <p:grpSpPr>
          <a:xfrm rot="0">
            <a:off x="9470136" y="2255520"/>
            <a:ext cx="3938016" cy="5158740"/>
            <a:chOff x="0" y="0"/>
            <a:chExt cx="5250688" cy="6878320"/>
          </a:xfrm>
        </p:grpSpPr>
        <p:sp>
          <p:nvSpPr>
            <p:cNvPr name="Freeform 32" id="32"/>
            <p:cNvSpPr/>
            <p:nvPr/>
          </p:nvSpPr>
          <p:spPr>
            <a:xfrm flipH="false" flipV="false" rot="0">
              <a:off x="0" y="0"/>
              <a:ext cx="5250688" cy="6878320"/>
            </a:xfrm>
            <a:custGeom>
              <a:avLst/>
              <a:gdLst/>
              <a:ahLst/>
              <a:cxnLst/>
              <a:rect r="r" b="b" t="t" l="l"/>
              <a:pathLst>
                <a:path h="6878320" w="5250688">
                  <a:moveTo>
                    <a:pt x="0" y="875157"/>
                  </a:moveTo>
                  <a:cubicBezTo>
                    <a:pt x="0" y="391795"/>
                    <a:pt x="391795" y="0"/>
                    <a:pt x="875157" y="0"/>
                  </a:cubicBezTo>
                  <a:lnTo>
                    <a:pt x="4375531" y="0"/>
                  </a:lnTo>
                  <a:cubicBezTo>
                    <a:pt x="4858893" y="0"/>
                    <a:pt x="5250688" y="391795"/>
                    <a:pt x="5250688" y="875157"/>
                  </a:cubicBezTo>
                  <a:lnTo>
                    <a:pt x="5250688" y="6003163"/>
                  </a:lnTo>
                  <a:cubicBezTo>
                    <a:pt x="5250688" y="6486525"/>
                    <a:pt x="4858893" y="6878320"/>
                    <a:pt x="4375531" y="6878320"/>
                  </a:cubicBezTo>
                  <a:lnTo>
                    <a:pt x="875157" y="6878320"/>
                  </a:lnTo>
                  <a:cubicBezTo>
                    <a:pt x="391795" y="6878320"/>
                    <a:pt x="0" y="6486525"/>
                    <a:pt x="0" y="6003163"/>
                  </a:cubicBezTo>
                  <a:close/>
                </a:path>
              </a:pathLst>
            </a:custGeom>
            <a:solidFill>
              <a:srgbClr val="F3F7FB"/>
            </a:solidFill>
            <a:ln w="15240" cap="sq">
              <a:solidFill>
                <a:srgbClr val="DCE6EF"/>
              </a:solidFill>
              <a:prstDash val="solid"/>
              <a:miter/>
            </a:ln>
          </p:spPr>
        </p:sp>
      </p:grpSp>
      <p:grpSp>
        <p:nvGrpSpPr>
          <p:cNvPr name="Group 33" id="33"/>
          <p:cNvGrpSpPr/>
          <p:nvPr/>
        </p:nvGrpSpPr>
        <p:grpSpPr>
          <a:xfrm rot="0">
            <a:off x="9724644" y="2578608"/>
            <a:ext cx="1440180" cy="521208"/>
            <a:chOff x="0" y="0"/>
            <a:chExt cx="1920240" cy="694944"/>
          </a:xfrm>
        </p:grpSpPr>
        <p:sp>
          <p:nvSpPr>
            <p:cNvPr name="Freeform 34" id="34"/>
            <p:cNvSpPr/>
            <p:nvPr/>
          </p:nvSpPr>
          <p:spPr>
            <a:xfrm flipH="false" flipV="false" rot="0">
              <a:off x="0" y="0"/>
              <a:ext cx="1920240" cy="694944"/>
            </a:xfrm>
            <a:custGeom>
              <a:avLst/>
              <a:gdLst/>
              <a:ahLst/>
              <a:cxnLst/>
              <a:rect r="r" b="b" t="t" l="l"/>
              <a:pathLst>
                <a:path h="694944" w="1920240">
                  <a:moveTo>
                    <a:pt x="0" y="115824"/>
                  </a:moveTo>
                  <a:cubicBezTo>
                    <a:pt x="0" y="51816"/>
                    <a:pt x="51816" y="0"/>
                    <a:pt x="115824" y="0"/>
                  </a:cubicBezTo>
                  <a:lnTo>
                    <a:pt x="1804416" y="0"/>
                  </a:lnTo>
                  <a:cubicBezTo>
                    <a:pt x="1868424" y="0"/>
                    <a:pt x="1920240" y="51816"/>
                    <a:pt x="1920240" y="115824"/>
                  </a:cubicBezTo>
                  <a:lnTo>
                    <a:pt x="1920240" y="579120"/>
                  </a:lnTo>
                  <a:cubicBezTo>
                    <a:pt x="1920240" y="643128"/>
                    <a:pt x="1868424" y="694944"/>
                    <a:pt x="1804416" y="694944"/>
                  </a:cubicBezTo>
                  <a:lnTo>
                    <a:pt x="115824" y="694944"/>
                  </a:lnTo>
                  <a:cubicBezTo>
                    <a:pt x="51816" y="694944"/>
                    <a:pt x="0" y="643128"/>
                    <a:pt x="0" y="579120"/>
                  </a:cubicBezTo>
                  <a:close/>
                </a:path>
              </a:pathLst>
            </a:custGeom>
            <a:solidFill>
              <a:srgbClr val="E9F8F0"/>
            </a:solidFill>
          </p:spPr>
        </p:sp>
      </p:grpSp>
      <p:grpSp>
        <p:nvGrpSpPr>
          <p:cNvPr name="Group 35" id="35"/>
          <p:cNvGrpSpPr/>
          <p:nvPr/>
        </p:nvGrpSpPr>
        <p:grpSpPr>
          <a:xfrm rot="0">
            <a:off x="9779508" y="2599182"/>
            <a:ext cx="1330452" cy="480060"/>
            <a:chOff x="0" y="0"/>
            <a:chExt cx="1773936" cy="640080"/>
          </a:xfrm>
        </p:grpSpPr>
        <p:sp>
          <p:nvSpPr>
            <p:cNvPr name="Freeform 36" id="36"/>
            <p:cNvSpPr/>
            <p:nvPr/>
          </p:nvSpPr>
          <p:spPr>
            <a:xfrm flipH="false" flipV="false" rot="0">
              <a:off x="0" y="0"/>
              <a:ext cx="1773936" cy="640080"/>
            </a:xfrm>
            <a:custGeom>
              <a:avLst/>
              <a:gdLst/>
              <a:ahLst/>
              <a:cxnLst/>
              <a:rect r="r" b="b" t="t" l="l"/>
              <a:pathLst>
                <a:path h="640080" w="1773936">
                  <a:moveTo>
                    <a:pt x="0" y="0"/>
                  </a:moveTo>
                  <a:lnTo>
                    <a:pt x="1773936" y="0"/>
                  </a:lnTo>
                  <a:lnTo>
                    <a:pt x="1773936" y="640080"/>
                  </a:lnTo>
                  <a:lnTo>
                    <a:pt x="0" y="640080"/>
                  </a:lnTo>
                  <a:close/>
                </a:path>
              </a:pathLst>
            </a:custGeom>
            <a:blipFill>
              <a:blip r:embed="rId3">
                <a:alphaModFix amt="0"/>
              </a:blip>
              <a:stretch>
                <a:fillRect l="0" t="-4001" r="0" b="-4001"/>
              </a:stretch>
            </a:blipFill>
          </p:spPr>
          <p:txBody>
            <a:bodyPr/>
            <a:p/>
          </p:txBody>
        </p:sp>
        <p:sp>
          <p:nvSpPr>
            <p:cNvPr name="TextBox 37" id="37"/>
            <p:cNvSpPr txBox="true"/>
            <p:nvPr/>
          </p:nvSpPr>
          <p:spPr>
            <a:xfrm>
              <a:off x="0" y="0"/>
              <a:ext cx="1773936" cy="640080"/>
            </a:xfrm>
            <a:prstGeom prst="rect">
              <a:avLst/>
            </a:prstGeom>
          </p:spPr>
          <p:txBody>
            <a:bodyPr anchor="ctr" rtlCol="false" tIns="0" lIns="0" bIns="0" rIns="0"/>
            <a:lstStyle/>
            <a:p>
              <a:pPr algn="ctr">
                <a:lnSpc>
                  <a:spcPts val="1800"/>
                </a:lnSpc>
              </a:pPr>
              <a:r>
                <a:rPr lang="en-US" sz="1500" b="true">
                  <a:solidFill>
                    <a:srgbClr val="00B96B"/>
                  </a:solidFill>
                  <a:latin typeface="Aptos Bold"/>
                  <a:ea typeface="Aptos Bold"/>
                  <a:cs typeface="Aptos Bold"/>
                  <a:sym typeface="Aptos Bold"/>
                </a:rPr>
                <a:t>THÁNG 2–3</a:t>
              </a:r>
            </a:p>
          </p:txBody>
        </p:sp>
      </p:grpSp>
      <p:sp>
        <p:nvSpPr>
          <p:cNvPr name="TextBox 38" id="38"/>
          <p:cNvSpPr txBox="true"/>
          <p:nvPr/>
        </p:nvSpPr>
        <p:spPr>
          <a:xfrm rot="0">
            <a:off x="9761220" y="3392424"/>
            <a:ext cx="3355848" cy="704088"/>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Mở rộng 3–5 trạm</a:t>
            </a:r>
          </a:p>
        </p:txBody>
      </p:sp>
      <p:sp>
        <p:nvSpPr>
          <p:cNvPr name="TextBox 39" id="39"/>
          <p:cNvSpPr txBox="true"/>
          <p:nvPr/>
        </p:nvSpPr>
        <p:spPr>
          <a:xfrm rot="0">
            <a:off x="9761220" y="4307205"/>
            <a:ext cx="3383280" cy="2477643"/>
          </a:xfrm>
          <a:prstGeom prst="rect">
            <a:avLst/>
          </a:prstGeom>
        </p:spPr>
        <p:txBody>
          <a:bodyPr anchor="t" rtlCol="false" tIns="0" lIns="0" bIns="0" rIns="0">
            <a:spAutoFit/>
          </a:bodyPr>
          <a:lstStyle/>
          <a:p>
            <a:pPr algn="l">
              <a:lnSpc>
                <a:spcPts val="2177"/>
              </a:lnSpc>
            </a:pPr>
            <a:r>
              <a:rPr lang="en-US" sz="1814">
                <a:solidFill>
                  <a:srgbClr val="1F2D3D"/>
                </a:solidFill>
                <a:latin typeface="Aptos"/>
                <a:ea typeface="Aptos"/>
                <a:cs typeface="Aptos"/>
                <a:sym typeface="Aptos"/>
              </a:rPr>
              <a:t>Thư viện golden cycle, nạp SOP nội bộ vào KB, đo tỷ lệ đề xuất được kỹ sư chấp nhận.</a:t>
            </a:r>
          </a:p>
        </p:txBody>
      </p:sp>
      <p:grpSp>
        <p:nvGrpSpPr>
          <p:cNvPr name="Group 40" id="40"/>
          <p:cNvGrpSpPr/>
          <p:nvPr/>
        </p:nvGrpSpPr>
        <p:grpSpPr>
          <a:xfrm rot="0">
            <a:off x="13400532" y="4251960"/>
            <a:ext cx="411480" cy="617220"/>
            <a:chOff x="0" y="0"/>
            <a:chExt cx="548640" cy="822960"/>
          </a:xfrm>
        </p:grpSpPr>
        <p:sp>
          <p:nvSpPr>
            <p:cNvPr name="Freeform 41" id="41"/>
            <p:cNvSpPr/>
            <p:nvPr/>
          </p:nvSpPr>
          <p:spPr>
            <a:xfrm flipH="false" flipV="false" rot="0">
              <a:off x="0" y="0"/>
              <a:ext cx="548640" cy="822960"/>
            </a:xfrm>
            <a:custGeom>
              <a:avLst/>
              <a:gdLst/>
              <a:ahLst/>
              <a:cxnLst/>
              <a:rect r="r" b="b" t="t" l="l"/>
              <a:pathLst>
                <a:path h="822960" w="548640">
                  <a:moveTo>
                    <a:pt x="0" y="0"/>
                  </a:moveTo>
                  <a:lnTo>
                    <a:pt x="548640" y="0"/>
                  </a:lnTo>
                  <a:lnTo>
                    <a:pt x="548640" y="822960"/>
                  </a:lnTo>
                  <a:lnTo>
                    <a:pt x="0" y="822960"/>
                  </a:lnTo>
                  <a:close/>
                </a:path>
              </a:pathLst>
            </a:custGeom>
            <a:blipFill>
              <a:blip r:embed="rId3">
                <a:alphaModFix amt="0"/>
              </a:blip>
              <a:stretch>
                <a:fillRect l="-142455" t="0" r="-142455" b="0"/>
              </a:stretch>
            </a:blipFill>
          </p:spPr>
        </p:sp>
        <p:sp>
          <p:nvSpPr>
            <p:cNvPr name="TextBox 42" id="42"/>
            <p:cNvSpPr txBox="true"/>
            <p:nvPr/>
          </p:nvSpPr>
          <p:spPr>
            <a:xfrm>
              <a:off x="0" y="0"/>
              <a:ext cx="548640" cy="822960"/>
            </a:xfrm>
            <a:prstGeom prst="rect">
              <a:avLst/>
            </a:prstGeom>
          </p:spPr>
          <p:txBody>
            <a:bodyPr anchor="ctr" rtlCol="false" tIns="0" lIns="0" bIns="0" rIns="0"/>
            <a:lstStyle/>
            <a:p>
              <a:pPr algn="ctr">
                <a:lnSpc>
                  <a:spcPts val="4140"/>
                </a:lnSpc>
              </a:pPr>
              <a:r>
                <a:rPr lang="en-US" sz="3450" b="true">
                  <a:solidFill>
                    <a:srgbClr val="00B96B"/>
                  </a:solidFill>
                  <a:latin typeface="Aptos Bold"/>
                  <a:ea typeface="Aptos Bold"/>
                  <a:cs typeface="Aptos Bold"/>
                  <a:sym typeface="Aptos Bold"/>
                </a:rPr>
                <a:t>→</a:t>
              </a:r>
            </a:p>
          </p:txBody>
        </p:sp>
      </p:grpSp>
      <p:grpSp>
        <p:nvGrpSpPr>
          <p:cNvPr name="Group 43" id="43"/>
          <p:cNvGrpSpPr/>
          <p:nvPr/>
        </p:nvGrpSpPr>
        <p:grpSpPr>
          <a:xfrm rot="0">
            <a:off x="13831824" y="2255520"/>
            <a:ext cx="3938016" cy="5158740"/>
            <a:chOff x="0" y="0"/>
            <a:chExt cx="5250688" cy="6878320"/>
          </a:xfrm>
        </p:grpSpPr>
        <p:sp>
          <p:nvSpPr>
            <p:cNvPr name="Freeform 44" id="44"/>
            <p:cNvSpPr/>
            <p:nvPr/>
          </p:nvSpPr>
          <p:spPr>
            <a:xfrm flipH="false" flipV="false" rot="0">
              <a:off x="0" y="0"/>
              <a:ext cx="5250688" cy="6878320"/>
            </a:xfrm>
            <a:custGeom>
              <a:avLst/>
              <a:gdLst/>
              <a:ahLst/>
              <a:cxnLst/>
              <a:rect r="r" b="b" t="t" l="l"/>
              <a:pathLst>
                <a:path h="6878320" w="5250688">
                  <a:moveTo>
                    <a:pt x="0" y="875157"/>
                  </a:moveTo>
                  <a:cubicBezTo>
                    <a:pt x="0" y="391795"/>
                    <a:pt x="391795" y="0"/>
                    <a:pt x="875157" y="0"/>
                  </a:cubicBezTo>
                  <a:lnTo>
                    <a:pt x="4375531" y="0"/>
                  </a:lnTo>
                  <a:cubicBezTo>
                    <a:pt x="4858893" y="0"/>
                    <a:pt x="5250688" y="391795"/>
                    <a:pt x="5250688" y="875157"/>
                  </a:cubicBezTo>
                  <a:lnTo>
                    <a:pt x="5250688" y="6003163"/>
                  </a:lnTo>
                  <a:cubicBezTo>
                    <a:pt x="5250688" y="6486525"/>
                    <a:pt x="4858893" y="6878320"/>
                    <a:pt x="4375531" y="6878320"/>
                  </a:cubicBezTo>
                  <a:lnTo>
                    <a:pt x="875157" y="6878320"/>
                  </a:lnTo>
                  <a:cubicBezTo>
                    <a:pt x="391795" y="6878320"/>
                    <a:pt x="0" y="6486525"/>
                    <a:pt x="0" y="6003163"/>
                  </a:cubicBezTo>
                  <a:close/>
                </a:path>
              </a:pathLst>
            </a:custGeom>
            <a:solidFill>
              <a:srgbClr val="F3F7FB"/>
            </a:solidFill>
            <a:ln w="15240" cap="sq">
              <a:solidFill>
                <a:srgbClr val="DCE6EF"/>
              </a:solidFill>
              <a:prstDash val="solid"/>
              <a:miter/>
            </a:ln>
          </p:spPr>
        </p:sp>
      </p:grpSp>
      <p:grpSp>
        <p:nvGrpSpPr>
          <p:cNvPr name="Group 45" id="45"/>
          <p:cNvGrpSpPr/>
          <p:nvPr/>
        </p:nvGrpSpPr>
        <p:grpSpPr>
          <a:xfrm rot="0">
            <a:off x="14086332" y="2578608"/>
            <a:ext cx="1440180" cy="521208"/>
            <a:chOff x="0" y="0"/>
            <a:chExt cx="1920240" cy="694944"/>
          </a:xfrm>
        </p:grpSpPr>
        <p:sp>
          <p:nvSpPr>
            <p:cNvPr name="Freeform 46" id="46"/>
            <p:cNvSpPr/>
            <p:nvPr/>
          </p:nvSpPr>
          <p:spPr>
            <a:xfrm flipH="false" flipV="false" rot="0">
              <a:off x="0" y="0"/>
              <a:ext cx="1920240" cy="694944"/>
            </a:xfrm>
            <a:custGeom>
              <a:avLst/>
              <a:gdLst/>
              <a:ahLst/>
              <a:cxnLst/>
              <a:rect r="r" b="b" t="t" l="l"/>
              <a:pathLst>
                <a:path h="694944" w="1920240">
                  <a:moveTo>
                    <a:pt x="0" y="115824"/>
                  </a:moveTo>
                  <a:cubicBezTo>
                    <a:pt x="0" y="51816"/>
                    <a:pt x="51816" y="0"/>
                    <a:pt x="115824" y="0"/>
                  </a:cubicBezTo>
                  <a:lnTo>
                    <a:pt x="1804416" y="0"/>
                  </a:lnTo>
                  <a:cubicBezTo>
                    <a:pt x="1868424" y="0"/>
                    <a:pt x="1920240" y="51816"/>
                    <a:pt x="1920240" y="115824"/>
                  </a:cubicBezTo>
                  <a:lnTo>
                    <a:pt x="1920240" y="579120"/>
                  </a:lnTo>
                  <a:cubicBezTo>
                    <a:pt x="1920240" y="643128"/>
                    <a:pt x="1868424" y="694944"/>
                    <a:pt x="1804416" y="694944"/>
                  </a:cubicBezTo>
                  <a:lnTo>
                    <a:pt x="115824" y="694944"/>
                  </a:lnTo>
                  <a:cubicBezTo>
                    <a:pt x="51816" y="694944"/>
                    <a:pt x="0" y="643128"/>
                    <a:pt x="0" y="579120"/>
                  </a:cubicBezTo>
                  <a:close/>
                </a:path>
              </a:pathLst>
            </a:custGeom>
            <a:solidFill>
              <a:srgbClr val="E9F8F0"/>
            </a:solidFill>
          </p:spPr>
        </p:sp>
      </p:grpSp>
      <p:grpSp>
        <p:nvGrpSpPr>
          <p:cNvPr name="Group 47" id="47"/>
          <p:cNvGrpSpPr/>
          <p:nvPr/>
        </p:nvGrpSpPr>
        <p:grpSpPr>
          <a:xfrm rot="0">
            <a:off x="14141196" y="2599182"/>
            <a:ext cx="1330452" cy="480060"/>
            <a:chOff x="0" y="0"/>
            <a:chExt cx="1773936" cy="640080"/>
          </a:xfrm>
        </p:grpSpPr>
        <p:sp>
          <p:nvSpPr>
            <p:cNvPr name="Freeform 48" id="48"/>
            <p:cNvSpPr/>
            <p:nvPr/>
          </p:nvSpPr>
          <p:spPr>
            <a:xfrm flipH="false" flipV="false" rot="0">
              <a:off x="0" y="0"/>
              <a:ext cx="1773936" cy="640080"/>
            </a:xfrm>
            <a:custGeom>
              <a:avLst/>
              <a:gdLst/>
              <a:ahLst/>
              <a:cxnLst/>
              <a:rect r="r" b="b" t="t" l="l"/>
              <a:pathLst>
                <a:path h="640080" w="1773936">
                  <a:moveTo>
                    <a:pt x="0" y="0"/>
                  </a:moveTo>
                  <a:lnTo>
                    <a:pt x="1773936" y="0"/>
                  </a:lnTo>
                  <a:lnTo>
                    <a:pt x="1773936" y="640080"/>
                  </a:lnTo>
                  <a:lnTo>
                    <a:pt x="0" y="640080"/>
                  </a:lnTo>
                  <a:close/>
                </a:path>
              </a:pathLst>
            </a:custGeom>
            <a:blipFill>
              <a:blip r:embed="rId3">
                <a:alphaModFix amt="0"/>
              </a:blip>
              <a:stretch>
                <a:fillRect l="0" t="-4001" r="0" b="-4001"/>
              </a:stretch>
            </a:blipFill>
          </p:spPr>
          <p:txBody>
            <a:bodyPr/>
            <a:p/>
          </p:txBody>
        </p:sp>
        <p:sp>
          <p:nvSpPr>
            <p:cNvPr name="TextBox 49" id="49"/>
            <p:cNvSpPr txBox="true"/>
            <p:nvPr/>
          </p:nvSpPr>
          <p:spPr>
            <a:xfrm>
              <a:off x="0" y="0"/>
              <a:ext cx="1773936" cy="640080"/>
            </a:xfrm>
            <a:prstGeom prst="rect">
              <a:avLst/>
            </a:prstGeom>
          </p:spPr>
          <p:txBody>
            <a:bodyPr anchor="ctr" rtlCol="false" tIns="0" lIns="0" bIns="0" rIns="0"/>
            <a:lstStyle/>
            <a:p>
              <a:pPr algn="ctr">
                <a:lnSpc>
                  <a:spcPts val="1800"/>
                </a:lnSpc>
              </a:pPr>
              <a:r>
                <a:rPr lang="en-US" sz="1500" b="true">
                  <a:solidFill>
                    <a:srgbClr val="153866"/>
                  </a:solidFill>
                  <a:latin typeface="Aptos Bold"/>
                  <a:ea typeface="Aptos Bold"/>
                  <a:cs typeface="Aptos Bold"/>
                  <a:sym typeface="Aptos Bold"/>
                </a:rPr>
                <a:t>THÁNG 4–6</a:t>
              </a:r>
            </a:p>
          </p:txBody>
        </p:sp>
      </p:grpSp>
      <p:sp>
        <p:nvSpPr>
          <p:cNvPr name="TextBox 50" id="50"/>
          <p:cNvSpPr txBox="true"/>
          <p:nvPr/>
        </p:nvSpPr>
        <p:spPr>
          <a:xfrm rot="0">
            <a:off x="14122908" y="3392424"/>
            <a:ext cx="3355848" cy="704088"/>
          </a:xfrm>
          <a:prstGeom prst="rect">
            <a:avLst/>
          </a:prstGeom>
        </p:spPr>
        <p:txBody>
          <a:bodyPr anchor="t" rtlCol="false" tIns="0" lIns="0" bIns="0" rIns="0">
            <a:spAutoFit/>
          </a:bodyPr>
          <a:lstStyle/>
          <a:p>
            <a:pPr algn="l">
              <a:lnSpc>
                <a:spcPts val="2790"/>
              </a:lnSpc>
            </a:pPr>
            <a:r>
              <a:rPr lang="en-US" sz="2325" b="true">
                <a:solidFill>
                  <a:srgbClr val="153866"/>
                </a:solidFill>
                <a:latin typeface="Aptos Bold"/>
                <a:ea typeface="Aptos Bold"/>
                <a:cs typeface="Aptos Bold"/>
                <a:sym typeface="Aptos Bold"/>
              </a:rPr>
              <a:t>Nâng cấp model</a:t>
            </a:r>
          </a:p>
        </p:txBody>
      </p:sp>
      <p:sp>
        <p:nvSpPr>
          <p:cNvPr name="TextBox 51" id="51"/>
          <p:cNvSpPr txBox="true"/>
          <p:nvPr/>
        </p:nvSpPr>
        <p:spPr>
          <a:xfrm rot="0">
            <a:off x="14122908" y="4307205"/>
            <a:ext cx="3383280" cy="2477643"/>
          </a:xfrm>
          <a:prstGeom prst="rect">
            <a:avLst/>
          </a:prstGeom>
        </p:spPr>
        <p:txBody>
          <a:bodyPr anchor="t" rtlCol="false" tIns="0" lIns="0" bIns="0" rIns="0">
            <a:spAutoFit/>
          </a:bodyPr>
          <a:lstStyle/>
          <a:p>
            <a:pPr algn="l">
              <a:lnSpc>
                <a:spcPts val="2177"/>
              </a:lnSpc>
            </a:pPr>
            <a:r>
              <a:rPr lang="en-US" sz="1814">
                <a:solidFill>
                  <a:srgbClr val="1F2D3D"/>
                </a:solidFill>
                <a:latin typeface="Aptos"/>
                <a:ea typeface="Aptos"/>
                <a:cs typeface="Aptos"/>
                <a:sym typeface="Aptos"/>
              </a:rPr>
              <a:t>Phân đoạn học sâu (MS-TCN/ST-GCN) trên dữ liệu tích lũy, đa camera, đào tạo người mới.</a:t>
            </a:r>
          </a:p>
        </p:txBody>
      </p:sp>
      <p:grpSp>
        <p:nvGrpSpPr>
          <p:cNvPr name="Group 52" id="52"/>
          <p:cNvGrpSpPr/>
          <p:nvPr/>
        </p:nvGrpSpPr>
        <p:grpSpPr>
          <a:xfrm rot="0">
            <a:off x="897636" y="7837932"/>
            <a:ext cx="16474440" cy="838200"/>
            <a:chOff x="0" y="0"/>
            <a:chExt cx="21965920" cy="1117600"/>
          </a:xfrm>
        </p:grpSpPr>
        <p:sp>
          <p:nvSpPr>
            <p:cNvPr name="Freeform 53" id="53"/>
            <p:cNvSpPr/>
            <p:nvPr/>
          </p:nvSpPr>
          <p:spPr>
            <a:xfrm flipH="false" flipV="false" rot="0">
              <a:off x="0" y="0"/>
              <a:ext cx="21965921" cy="1117600"/>
            </a:xfrm>
            <a:custGeom>
              <a:avLst/>
              <a:gdLst/>
              <a:ahLst/>
              <a:cxnLst/>
              <a:rect r="r" b="b" t="t" l="l"/>
              <a:pathLst>
                <a:path h="1117600" w="21965921">
                  <a:moveTo>
                    <a:pt x="0" y="186309"/>
                  </a:moveTo>
                  <a:cubicBezTo>
                    <a:pt x="0" y="83439"/>
                    <a:pt x="83439" y="0"/>
                    <a:pt x="186309" y="0"/>
                  </a:cubicBezTo>
                  <a:lnTo>
                    <a:pt x="21779612" y="0"/>
                  </a:lnTo>
                  <a:cubicBezTo>
                    <a:pt x="21882481" y="0"/>
                    <a:pt x="21965921" y="83439"/>
                    <a:pt x="21965921" y="186309"/>
                  </a:cubicBezTo>
                  <a:lnTo>
                    <a:pt x="21965921" y="931291"/>
                  </a:lnTo>
                  <a:cubicBezTo>
                    <a:pt x="21965921" y="1034161"/>
                    <a:pt x="21882481" y="1117600"/>
                    <a:pt x="21779612" y="1117600"/>
                  </a:cubicBezTo>
                  <a:lnTo>
                    <a:pt x="186309" y="1117600"/>
                  </a:lnTo>
                  <a:cubicBezTo>
                    <a:pt x="83439" y="1117600"/>
                    <a:pt x="0" y="1034161"/>
                    <a:pt x="0" y="931291"/>
                  </a:cubicBezTo>
                  <a:close/>
                </a:path>
              </a:pathLst>
            </a:custGeom>
            <a:solidFill>
              <a:srgbClr val="EAF3FC"/>
            </a:solidFill>
            <a:ln w="15240" cap="sq">
              <a:solidFill>
                <a:srgbClr val="EAF3FC"/>
              </a:solidFill>
              <a:prstDash val="solid"/>
              <a:miter/>
            </a:ln>
          </p:spPr>
        </p:sp>
      </p:grpSp>
      <p:grpSp>
        <p:nvGrpSpPr>
          <p:cNvPr name="Group 54" id="54"/>
          <p:cNvGrpSpPr/>
          <p:nvPr/>
        </p:nvGrpSpPr>
        <p:grpSpPr>
          <a:xfrm rot="0">
            <a:off x="1165860" y="7996428"/>
            <a:ext cx="15910560" cy="480060"/>
            <a:chOff x="0" y="0"/>
            <a:chExt cx="21214080" cy="640080"/>
          </a:xfrm>
        </p:grpSpPr>
        <p:sp>
          <p:nvSpPr>
            <p:cNvPr name="Freeform 55" id="55"/>
            <p:cNvSpPr/>
            <p:nvPr/>
          </p:nvSpPr>
          <p:spPr>
            <a:xfrm flipH="false" flipV="false" rot="0">
              <a:off x="0" y="0"/>
              <a:ext cx="21214080" cy="640080"/>
            </a:xfrm>
            <a:custGeom>
              <a:avLst/>
              <a:gdLst/>
              <a:ahLst/>
              <a:cxnLst/>
              <a:rect r="r" b="b" t="t" l="l"/>
              <a:pathLst>
                <a:path h="640080" w="21214080">
                  <a:moveTo>
                    <a:pt x="0" y="0"/>
                  </a:moveTo>
                  <a:lnTo>
                    <a:pt x="21214080" y="0"/>
                  </a:lnTo>
                  <a:lnTo>
                    <a:pt x="21214080" y="640080"/>
                  </a:lnTo>
                  <a:lnTo>
                    <a:pt x="0" y="640080"/>
                  </a:lnTo>
                  <a:close/>
                </a:path>
              </a:pathLst>
            </a:custGeom>
            <a:blipFill>
              <a:blip r:embed="rId3">
                <a:alphaModFix amt="0"/>
              </a:blip>
              <a:stretch>
                <a:fillRect l="0" t="-595789" r="0" b="-595789"/>
              </a:stretch>
            </a:blipFill>
          </p:spPr>
          <p:txBody>
            <a:bodyPr/>
            <a:p/>
          </p:txBody>
        </p:sp>
        <p:sp>
          <p:nvSpPr>
            <p:cNvPr name="TextBox 56" id="56"/>
            <p:cNvSpPr txBox="true"/>
            <p:nvPr/>
          </p:nvSpPr>
          <p:spPr>
            <a:xfrm>
              <a:off x="0" y="0"/>
              <a:ext cx="21214080" cy="640080"/>
            </a:xfrm>
            <a:prstGeom prst="rect">
              <a:avLst/>
            </a:prstGeom>
          </p:spPr>
          <p:txBody>
            <a:bodyPr anchor="ctr" rtlCol="false" tIns="0" lIns="0" bIns="0" rIns="0"/>
            <a:lstStyle/>
            <a:p>
              <a:pPr algn="ctr">
                <a:lnSpc>
                  <a:spcPts val="2160"/>
                </a:lnSpc>
              </a:pPr>
              <a:r>
                <a:rPr lang="en-US" sz="1800" b="true">
                  <a:solidFill>
                    <a:srgbClr val="153866"/>
                  </a:solidFill>
                  <a:latin typeface="Aptos Bold"/>
                  <a:ea typeface="Aptos Bold"/>
                  <a:cs typeface="Aptos Bold"/>
                  <a:sym typeface="Aptos Bold"/>
                </a:rPr>
                <a:t>DELIVERABLES: dashboard theo trạm • baseline 3M • báo cáo có dẫn nguồn • golden cycle • backlog Kaizen</a:t>
              </a:r>
            </a:p>
          </p:txBody>
        </p:sp>
      </p:grpSp>
      <p:sp>
        <p:nvSpPr>
          <p:cNvPr name="TextBox 57" id="57"/>
          <p:cNvSpPr txBox="true"/>
          <p:nvPr/>
        </p:nvSpPr>
        <p:spPr>
          <a:xfrm rot="0">
            <a:off x="1078992" y="8851392"/>
            <a:ext cx="16098012" cy="320040"/>
          </a:xfrm>
          <a:prstGeom prst="rect">
            <a:avLst/>
          </a:prstGeom>
        </p:spPr>
        <p:txBody>
          <a:bodyPr anchor="t" rtlCol="false" tIns="0" lIns="0" bIns="0" rIns="0">
            <a:spAutoFit/>
          </a:bodyPr>
          <a:lstStyle/>
          <a:p>
            <a:pPr algn="l">
              <a:lnSpc>
                <a:spcPts val="1584"/>
              </a:lnSpc>
            </a:pPr>
            <a:r>
              <a:rPr lang="en-US" sz="1320">
                <a:solidFill>
                  <a:srgbClr val="586777"/>
                </a:solidFill>
                <a:latin typeface="Aptos"/>
                <a:ea typeface="Aptos"/>
                <a:cs typeface="Aptos"/>
                <a:sym typeface="Aptos"/>
              </a:rPr>
              <a:t>Giả định: video và SOP được cấp quyền truy cập; chỉ lưu keypoint để bảo vệ quyền riêng tư; mốc thời gian điều chỉnh theo phạm vi thực tế.</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0" y="1862595"/>
            <a:ext cx="18283390" cy="8686800"/>
            <a:chOff x="0" y="0"/>
            <a:chExt cx="24377853" cy="11582400"/>
          </a:xfrm>
        </p:grpSpPr>
        <p:sp>
          <p:nvSpPr>
            <p:cNvPr name="Freeform 5" id="5"/>
            <p:cNvSpPr/>
            <p:nvPr/>
          </p:nvSpPr>
          <p:spPr>
            <a:xfrm flipH="false" flipV="false" rot="0">
              <a:off x="0" y="0"/>
              <a:ext cx="24377904" cy="11582400"/>
            </a:xfrm>
            <a:custGeom>
              <a:avLst/>
              <a:gdLst/>
              <a:ahLst/>
              <a:cxnLst/>
              <a:rect r="r" b="b" t="t" l="l"/>
              <a:pathLst>
                <a:path h="11582400" w="24377904">
                  <a:moveTo>
                    <a:pt x="0" y="0"/>
                  </a:moveTo>
                  <a:lnTo>
                    <a:pt x="24377904" y="0"/>
                  </a:lnTo>
                  <a:lnTo>
                    <a:pt x="24377904" y="11582400"/>
                  </a:lnTo>
                  <a:lnTo>
                    <a:pt x="0" y="11582400"/>
                  </a:lnTo>
                  <a:close/>
                </a:path>
              </a:pathLst>
            </a:custGeom>
            <a:solidFill>
              <a:srgbClr val="FFFFFF"/>
            </a:solidFill>
          </p:spPr>
        </p:sp>
      </p:grpSp>
      <p:sp>
        <p:nvSpPr>
          <p:cNvPr name="TextBox 6" id="6"/>
          <p:cNvSpPr txBox="true"/>
          <p:nvPr/>
        </p:nvSpPr>
        <p:spPr>
          <a:xfrm rot="0">
            <a:off x="14050947" y="299952"/>
            <a:ext cx="6324267" cy="1868329"/>
          </a:xfrm>
          <a:prstGeom prst="rect">
            <a:avLst/>
          </a:prstGeom>
        </p:spPr>
        <p:txBody>
          <a:bodyPr anchor="t" rtlCol="false" tIns="0" lIns="0" bIns="0" rIns="0">
            <a:spAutoFit/>
          </a:bodyPr>
          <a:lstStyle/>
          <a:p>
            <a:pPr algn="l">
              <a:lnSpc>
                <a:spcPts val="5832"/>
              </a:lnSpc>
            </a:pPr>
            <a:r>
              <a:rPr lang="en-US" sz="5400" b="true">
                <a:solidFill>
                  <a:srgbClr val="FFFFFF"/>
                </a:solidFill>
                <a:latin typeface="Times New Roman Bold"/>
                <a:ea typeface="Times New Roman Bold"/>
                <a:cs typeface="Times New Roman Bold"/>
                <a:sym typeface="Times New Roman Bold"/>
              </a:rPr>
              <a:t>Kết luận</a:t>
            </a:r>
          </a:p>
        </p:txBody>
      </p:sp>
      <p:grpSp>
        <p:nvGrpSpPr>
          <p:cNvPr name="Group 7" id="7"/>
          <p:cNvGrpSpPr/>
          <p:nvPr/>
        </p:nvGrpSpPr>
        <p:grpSpPr>
          <a:xfrm rot="0">
            <a:off x="987552" y="2029968"/>
            <a:ext cx="16322040" cy="905256"/>
            <a:chOff x="0" y="0"/>
            <a:chExt cx="21762720" cy="1207008"/>
          </a:xfrm>
        </p:grpSpPr>
        <p:sp>
          <p:nvSpPr>
            <p:cNvPr name="Freeform 8" id="8"/>
            <p:cNvSpPr/>
            <p:nvPr/>
          </p:nvSpPr>
          <p:spPr>
            <a:xfrm flipH="false" flipV="false" rot="0">
              <a:off x="0" y="0"/>
              <a:ext cx="21762720" cy="1207008"/>
            </a:xfrm>
            <a:custGeom>
              <a:avLst/>
              <a:gdLst/>
              <a:ahLst/>
              <a:cxnLst/>
              <a:rect r="r" b="b" t="t" l="l"/>
              <a:pathLst>
                <a:path h="1207008" w="21762720">
                  <a:moveTo>
                    <a:pt x="0" y="0"/>
                  </a:moveTo>
                  <a:lnTo>
                    <a:pt x="21762720" y="0"/>
                  </a:lnTo>
                  <a:lnTo>
                    <a:pt x="21762720" y="1207008"/>
                  </a:lnTo>
                  <a:lnTo>
                    <a:pt x="0" y="1207008"/>
                  </a:lnTo>
                  <a:close/>
                </a:path>
              </a:pathLst>
            </a:custGeom>
            <a:blipFill>
              <a:blip r:embed="rId3">
                <a:alphaModFix amt="0"/>
              </a:blip>
              <a:stretch>
                <a:fillRect l="0" t="-301321" r="0" b="-301321"/>
              </a:stretch>
            </a:blipFill>
          </p:spPr>
          <p:txBody>
            <a:bodyPr/>
            <a:p/>
          </p:txBody>
        </p:sp>
        <p:sp>
          <p:nvSpPr>
            <p:cNvPr name="TextBox 9" id="9"/>
            <p:cNvSpPr txBox="true"/>
            <p:nvPr/>
          </p:nvSpPr>
          <p:spPr>
            <a:xfrm>
              <a:off x="0" y="0"/>
              <a:ext cx="21762720" cy="1207008"/>
            </a:xfrm>
            <a:prstGeom prst="rect">
              <a:avLst/>
            </a:prstGeom>
          </p:spPr>
          <p:txBody>
            <a:bodyPr anchor="ctr" rtlCol="false" tIns="0" lIns="0" bIns="0" rIns="0"/>
            <a:lstStyle/>
            <a:p>
              <a:pPr algn="ctr">
                <a:lnSpc>
                  <a:spcPts val="3779"/>
                </a:lnSpc>
              </a:pPr>
              <a:r>
                <a:rPr lang="en-US" sz="3150" b="true">
                  <a:solidFill>
                    <a:srgbClr val="153866"/>
                  </a:solidFill>
                  <a:latin typeface="Aptos Bold"/>
                  <a:ea typeface="Aptos Bold"/>
                  <a:cs typeface="Aptos Bold"/>
                  <a:sym typeface="Aptos Bold"/>
                </a:rPr>
                <a:t>KHÔNG CHỈ BẤM GIỜ — BIẾN THAO TÁC THÀNH TRI THỨC ĐO ĐƯỢC.</a:t>
              </a:r>
            </a:p>
          </p:txBody>
        </p:sp>
      </p:grpSp>
      <p:grpSp>
        <p:nvGrpSpPr>
          <p:cNvPr name="Group 10" id="10"/>
          <p:cNvGrpSpPr/>
          <p:nvPr/>
        </p:nvGrpSpPr>
        <p:grpSpPr>
          <a:xfrm rot="0">
            <a:off x="1391412" y="3448812"/>
            <a:ext cx="4514088" cy="2511552"/>
            <a:chOff x="0" y="0"/>
            <a:chExt cx="6018784" cy="3348736"/>
          </a:xfrm>
        </p:grpSpPr>
        <p:sp>
          <p:nvSpPr>
            <p:cNvPr name="Freeform 11" id="11"/>
            <p:cNvSpPr/>
            <p:nvPr/>
          </p:nvSpPr>
          <p:spPr>
            <a:xfrm flipH="false" flipV="false" rot="0">
              <a:off x="0" y="0"/>
              <a:ext cx="6018784" cy="3348736"/>
            </a:xfrm>
            <a:custGeom>
              <a:avLst/>
              <a:gdLst/>
              <a:ahLst/>
              <a:cxnLst/>
              <a:rect r="r" b="b" t="t" l="l"/>
              <a:pathLst>
                <a:path h="3348736" w="6018784">
                  <a:moveTo>
                    <a:pt x="0" y="558165"/>
                  </a:moveTo>
                  <a:cubicBezTo>
                    <a:pt x="0" y="249936"/>
                    <a:pt x="249936" y="0"/>
                    <a:pt x="558165" y="0"/>
                  </a:cubicBezTo>
                  <a:lnTo>
                    <a:pt x="5460619" y="0"/>
                  </a:lnTo>
                  <a:cubicBezTo>
                    <a:pt x="5768848" y="0"/>
                    <a:pt x="6018784" y="249936"/>
                    <a:pt x="6018784" y="558165"/>
                  </a:cubicBezTo>
                  <a:lnTo>
                    <a:pt x="6018784" y="2790571"/>
                  </a:lnTo>
                  <a:cubicBezTo>
                    <a:pt x="6018784" y="3098800"/>
                    <a:pt x="5768848" y="3348736"/>
                    <a:pt x="5460619" y="3348736"/>
                  </a:cubicBezTo>
                  <a:lnTo>
                    <a:pt x="558165" y="3348736"/>
                  </a:lnTo>
                  <a:cubicBezTo>
                    <a:pt x="249936" y="3348736"/>
                    <a:pt x="0" y="3098800"/>
                    <a:pt x="0" y="2790571"/>
                  </a:cubicBezTo>
                  <a:close/>
                </a:path>
              </a:pathLst>
            </a:custGeom>
            <a:solidFill>
              <a:srgbClr val="F3F7FB"/>
            </a:solidFill>
            <a:ln w="15240" cap="sq">
              <a:solidFill>
                <a:srgbClr val="DCE6EF"/>
              </a:solidFill>
              <a:prstDash val="solid"/>
              <a:miter/>
            </a:ln>
          </p:spPr>
        </p:sp>
      </p:grpSp>
      <p:sp>
        <p:nvSpPr>
          <p:cNvPr name="TextBox 12" id="12"/>
          <p:cNvSpPr txBox="true"/>
          <p:nvPr/>
        </p:nvSpPr>
        <p:spPr>
          <a:xfrm rot="0">
            <a:off x="1613916" y="3762756"/>
            <a:ext cx="4069080" cy="484632"/>
          </a:xfrm>
          <a:prstGeom prst="rect">
            <a:avLst/>
          </a:prstGeom>
        </p:spPr>
        <p:txBody>
          <a:bodyPr anchor="t" rtlCol="false" tIns="0" lIns="0" bIns="0" rIns="0">
            <a:spAutoFit/>
          </a:bodyPr>
          <a:lstStyle/>
          <a:p>
            <a:pPr algn="ctr">
              <a:lnSpc>
                <a:spcPts val="3060"/>
              </a:lnSpc>
            </a:pPr>
            <a:r>
              <a:rPr lang="en-US" sz="2550" b="true">
                <a:solidFill>
                  <a:srgbClr val="1265A8"/>
                </a:solidFill>
                <a:latin typeface="Aptos Bold"/>
                <a:ea typeface="Aptos Bold"/>
                <a:cs typeface="Aptos Bold"/>
                <a:sym typeface="Aptos Bold"/>
              </a:rPr>
              <a:t>MEASURE</a:t>
            </a:r>
          </a:p>
        </p:txBody>
      </p:sp>
      <p:sp>
        <p:nvSpPr>
          <p:cNvPr name="TextBox 13" id="13"/>
          <p:cNvSpPr txBox="true"/>
          <p:nvPr/>
        </p:nvSpPr>
        <p:spPr>
          <a:xfrm rot="0">
            <a:off x="1613916" y="4375785"/>
            <a:ext cx="4069080" cy="392811"/>
          </a:xfrm>
          <a:prstGeom prst="rect">
            <a:avLst/>
          </a:prstGeom>
        </p:spPr>
        <p:txBody>
          <a:bodyPr anchor="t" rtlCol="false" tIns="0" lIns="0" bIns="0" rIns="0">
            <a:spAutoFit/>
          </a:bodyPr>
          <a:lstStyle/>
          <a:p>
            <a:pPr algn="ctr">
              <a:lnSpc>
                <a:spcPts val="2195"/>
              </a:lnSpc>
            </a:pPr>
            <a:r>
              <a:rPr lang="en-US" sz="1829" b="true">
                <a:solidFill>
                  <a:srgbClr val="153866"/>
                </a:solidFill>
                <a:latin typeface="Aptos Bold"/>
                <a:ea typeface="Aptos Bold"/>
                <a:cs typeface="Aptos Bold"/>
                <a:sym typeface="Aptos Bold"/>
              </a:rPr>
              <a:t>Computer Vision</a:t>
            </a:r>
          </a:p>
        </p:txBody>
      </p:sp>
      <p:sp>
        <p:nvSpPr>
          <p:cNvPr name="TextBox 14" id="14"/>
          <p:cNvSpPr txBox="true"/>
          <p:nvPr/>
        </p:nvSpPr>
        <p:spPr>
          <a:xfrm rot="0">
            <a:off x="1709928" y="4887468"/>
            <a:ext cx="3877056" cy="745236"/>
          </a:xfrm>
          <a:prstGeom prst="rect">
            <a:avLst/>
          </a:prstGeom>
        </p:spPr>
        <p:txBody>
          <a:bodyPr anchor="t" rtlCol="false" tIns="0" lIns="0" bIns="0" rIns="0">
            <a:spAutoFit/>
          </a:bodyPr>
          <a:lstStyle/>
          <a:p>
            <a:pPr algn="ctr">
              <a:lnSpc>
                <a:spcPts val="1889"/>
              </a:lnSpc>
            </a:pPr>
            <a:r>
              <a:rPr lang="en-US" sz="1575">
                <a:solidFill>
                  <a:srgbClr val="1F2D3D"/>
                </a:solidFill>
                <a:latin typeface="Aptos"/>
                <a:ea typeface="Aptos"/>
                <a:cs typeface="Aptos"/>
                <a:sym typeface="Aptos"/>
              </a:rPr>
              <a:t>Bước SOP, cycle time, 3M từ video camera thường.</a:t>
            </a:r>
          </a:p>
        </p:txBody>
      </p:sp>
      <p:grpSp>
        <p:nvGrpSpPr>
          <p:cNvPr name="Group 15" id="15"/>
          <p:cNvGrpSpPr/>
          <p:nvPr/>
        </p:nvGrpSpPr>
        <p:grpSpPr>
          <a:xfrm rot="0">
            <a:off x="6877812" y="3448812"/>
            <a:ext cx="4514088" cy="2511552"/>
            <a:chOff x="0" y="0"/>
            <a:chExt cx="6018784" cy="3348736"/>
          </a:xfrm>
        </p:grpSpPr>
        <p:sp>
          <p:nvSpPr>
            <p:cNvPr name="Freeform 16" id="16"/>
            <p:cNvSpPr/>
            <p:nvPr/>
          </p:nvSpPr>
          <p:spPr>
            <a:xfrm flipH="false" flipV="false" rot="0">
              <a:off x="0" y="0"/>
              <a:ext cx="6018784" cy="3348736"/>
            </a:xfrm>
            <a:custGeom>
              <a:avLst/>
              <a:gdLst/>
              <a:ahLst/>
              <a:cxnLst/>
              <a:rect r="r" b="b" t="t" l="l"/>
              <a:pathLst>
                <a:path h="3348736" w="6018784">
                  <a:moveTo>
                    <a:pt x="0" y="558165"/>
                  </a:moveTo>
                  <a:cubicBezTo>
                    <a:pt x="0" y="249936"/>
                    <a:pt x="249936" y="0"/>
                    <a:pt x="558165" y="0"/>
                  </a:cubicBezTo>
                  <a:lnTo>
                    <a:pt x="5460619" y="0"/>
                  </a:lnTo>
                  <a:cubicBezTo>
                    <a:pt x="5768848" y="0"/>
                    <a:pt x="6018784" y="249936"/>
                    <a:pt x="6018784" y="558165"/>
                  </a:cubicBezTo>
                  <a:lnTo>
                    <a:pt x="6018784" y="2790571"/>
                  </a:lnTo>
                  <a:cubicBezTo>
                    <a:pt x="6018784" y="3098800"/>
                    <a:pt x="5768848" y="3348736"/>
                    <a:pt x="5460619" y="3348736"/>
                  </a:cubicBezTo>
                  <a:lnTo>
                    <a:pt x="558165" y="3348736"/>
                  </a:lnTo>
                  <a:cubicBezTo>
                    <a:pt x="249936" y="3348736"/>
                    <a:pt x="0" y="3098800"/>
                    <a:pt x="0" y="2790571"/>
                  </a:cubicBezTo>
                  <a:close/>
                </a:path>
              </a:pathLst>
            </a:custGeom>
            <a:solidFill>
              <a:srgbClr val="F3F7FB"/>
            </a:solidFill>
            <a:ln w="15240" cap="sq">
              <a:solidFill>
                <a:srgbClr val="DCE6EF"/>
              </a:solidFill>
              <a:prstDash val="solid"/>
              <a:miter/>
            </a:ln>
          </p:spPr>
        </p:sp>
      </p:grpSp>
      <p:sp>
        <p:nvSpPr>
          <p:cNvPr name="TextBox 17" id="17"/>
          <p:cNvSpPr txBox="true"/>
          <p:nvPr/>
        </p:nvSpPr>
        <p:spPr>
          <a:xfrm rot="0">
            <a:off x="7100316" y="3762756"/>
            <a:ext cx="4069080" cy="484632"/>
          </a:xfrm>
          <a:prstGeom prst="rect">
            <a:avLst/>
          </a:prstGeom>
        </p:spPr>
        <p:txBody>
          <a:bodyPr anchor="t" rtlCol="false" tIns="0" lIns="0" bIns="0" rIns="0">
            <a:spAutoFit/>
          </a:bodyPr>
          <a:lstStyle/>
          <a:p>
            <a:pPr algn="ctr">
              <a:lnSpc>
                <a:spcPts val="3060"/>
              </a:lnSpc>
            </a:pPr>
            <a:r>
              <a:rPr lang="en-US" sz="2550" b="true">
                <a:solidFill>
                  <a:srgbClr val="00B96B"/>
                </a:solidFill>
                <a:latin typeface="Aptos Bold"/>
                <a:ea typeface="Aptos Bold"/>
                <a:cs typeface="Aptos Bold"/>
                <a:sym typeface="Aptos Bold"/>
              </a:rPr>
              <a:t>EXPLAIN</a:t>
            </a:r>
          </a:p>
        </p:txBody>
      </p:sp>
      <p:sp>
        <p:nvSpPr>
          <p:cNvPr name="TextBox 18" id="18"/>
          <p:cNvSpPr txBox="true"/>
          <p:nvPr/>
        </p:nvSpPr>
        <p:spPr>
          <a:xfrm rot="0">
            <a:off x="7100316" y="4375785"/>
            <a:ext cx="4069080" cy="392811"/>
          </a:xfrm>
          <a:prstGeom prst="rect">
            <a:avLst/>
          </a:prstGeom>
        </p:spPr>
        <p:txBody>
          <a:bodyPr anchor="t" rtlCol="false" tIns="0" lIns="0" bIns="0" rIns="0">
            <a:spAutoFit/>
          </a:bodyPr>
          <a:lstStyle/>
          <a:p>
            <a:pPr algn="ctr">
              <a:lnSpc>
                <a:spcPts val="2195"/>
              </a:lnSpc>
            </a:pPr>
            <a:r>
              <a:rPr lang="en-US" sz="1829" b="true">
                <a:solidFill>
                  <a:srgbClr val="153866"/>
                </a:solidFill>
                <a:latin typeface="Aptos Bold"/>
                <a:ea typeface="Aptos Bold"/>
                <a:cs typeface="Aptos Bold"/>
                <a:sym typeface="Aptos Bold"/>
              </a:rPr>
              <a:t>Kaizen Copilot</a:t>
            </a:r>
          </a:p>
        </p:txBody>
      </p:sp>
      <p:sp>
        <p:nvSpPr>
          <p:cNvPr name="TextBox 19" id="19"/>
          <p:cNvSpPr txBox="true"/>
          <p:nvPr/>
        </p:nvSpPr>
        <p:spPr>
          <a:xfrm rot="0">
            <a:off x="7196328" y="4887468"/>
            <a:ext cx="3877056" cy="745236"/>
          </a:xfrm>
          <a:prstGeom prst="rect">
            <a:avLst/>
          </a:prstGeom>
        </p:spPr>
        <p:txBody>
          <a:bodyPr anchor="t" rtlCol="false" tIns="0" lIns="0" bIns="0" rIns="0">
            <a:spAutoFit/>
          </a:bodyPr>
          <a:lstStyle/>
          <a:p>
            <a:pPr algn="ctr">
              <a:lnSpc>
                <a:spcPts val="1889"/>
              </a:lnSpc>
            </a:pPr>
            <a:r>
              <a:rPr lang="en-US" sz="1575">
                <a:solidFill>
                  <a:srgbClr val="1F2D3D"/>
                </a:solidFill>
                <a:latin typeface="Aptos"/>
                <a:ea typeface="Aptos"/>
                <a:cs typeface="Aptos"/>
                <a:sym typeface="Aptos"/>
              </a:rPr>
              <a:t>LLM giải thích có trích dẫn, không được tạo số.</a:t>
            </a:r>
          </a:p>
        </p:txBody>
      </p:sp>
      <p:grpSp>
        <p:nvGrpSpPr>
          <p:cNvPr name="Group 20" id="20"/>
          <p:cNvGrpSpPr/>
          <p:nvPr/>
        </p:nvGrpSpPr>
        <p:grpSpPr>
          <a:xfrm rot="0">
            <a:off x="12364212" y="3448812"/>
            <a:ext cx="4514088" cy="2511552"/>
            <a:chOff x="0" y="0"/>
            <a:chExt cx="6018784" cy="3348736"/>
          </a:xfrm>
        </p:grpSpPr>
        <p:sp>
          <p:nvSpPr>
            <p:cNvPr name="Freeform 21" id="21"/>
            <p:cNvSpPr/>
            <p:nvPr/>
          </p:nvSpPr>
          <p:spPr>
            <a:xfrm flipH="false" flipV="false" rot="0">
              <a:off x="0" y="0"/>
              <a:ext cx="6018784" cy="3348736"/>
            </a:xfrm>
            <a:custGeom>
              <a:avLst/>
              <a:gdLst/>
              <a:ahLst/>
              <a:cxnLst/>
              <a:rect r="r" b="b" t="t" l="l"/>
              <a:pathLst>
                <a:path h="3348736" w="6018784">
                  <a:moveTo>
                    <a:pt x="0" y="558165"/>
                  </a:moveTo>
                  <a:cubicBezTo>
                    <a:pt x="0" y="249936"/>
                    <a:pt x="249936" y="0"/>
                    <a:pt x="558165" y="0"/>
                  </a:cubicBezTo>
                  <a:lnTo>
                    <a:pt x="5460619" y="0"/>
                  </a:lnTo>
                  <a:cubicBezTo>
                    <a:pt x="5768848" y="0"/>
                    <a:pt x="6018784" y="249936"/>
                    <a:pt x="6018784" y="558165"/>
                  </a:cubicBezTo>
                  <a:lnTo>
                    <a:pt x="6018784" y="2790571"/>
                  </a:lnTo>
                  <a:cubicBezTo>
                    <a:pt x="6018784" y="3098800"/>
                    <a:pt x="5768848" y="3348736"/>
                    <a:pt x="5460619" y="3348736"/>
                  </a:cubicBezTo>
                  <a:lnTo>
                    <a:pt x="558165" y="3348736"/>
                  </a:lnTo>
                  <a:cubicBezTo>
                    <a:pt x="249936" y="3348736"/>
                    <a:pt x="0" y="3098800"/>
                    <a:pt x="0" y="2790571"/>
                  </a:cubicBezTo>
                  <a:close/>
                </a:path>
              </a:pathLst>
            </a:custGeom>
            <a:solidFill>
              <a:srgbClr val="F3F7FB"/>
            </a:solidFill>
            <a:ln w="15240" cap="sq">
              <a:solidFill>
                <a:srgbClr val="DCE6EF"/>
              </a:solidFill>
              <a:prstDash val="solid"/>
              <a:miter/>
            </a:ln>
          </p:spPr>
        </p:sp>
      </p:grpSp>
      <p:sp>
        <p:nvSpPr>
          <p:cNvPr name="TextBox 22" id="22"/>
          <p:cNvSpPr txBox="true"/>
          <p:nvPr/>
        </p:nvSpPr>
        <p:spPr>
          <a:xfrm rot="0">
            <a:off x="12586716" y="3762756"/>
            <a:ext cx="4069080" cy="484632"/>
          </a:xfrm>
          <a:prstGeom prst="rect">
            <a:avLst/>
          </a:prstGeom>
        </p:spPr>
        <p:txBody>
          <a:bodyPr anchor="t" rtlCol="false" tIns="0" lIns="0" bIns="0" rIns="0">
            <a:spAutoFit/>
          </a:bodyPr>
          <a:lstStyle/>
          <a:p>
            <a:pPr algn="ctr">
              <a:lnSpc>
                <a:spcPts val="3060"/>
              </a:lnSpc>
            </a:pPr>
            <a:r>
              <a:rPr lang="en-US" sz="2550" b="true">
                <a:solidFill>
                  <a:srgbClr val="008F8A"/>
                </a:solidFill>
                <a:latin typeface="Aptos Bold"/>
                <a:ea typeface="Aptos Bold"/>
                <a:cs typeface="Aptos Bold"/>
                <a:sym typeface="Aptos Bold"/>
              </a:rPr>
              <a:t>VERIFY</a:t>
            </a:r>
          </a:p>
        </p:txBody>
      </p:sp>
      <p:sp>
        <p:nvSpPr>
          <p:cNvPr name="TextBox 23" id="23"/>
          <p:cNvSpPr txBox="true"/>
          <p:nvPr/>
        </p:nvSpPr>
        <p:spPr>
          <a:xfrm rot="0">
            <a:off x="12586716" y="4375785"/>
            <a:ext cx="4069080" cy="392811"/>
          </a:xfrm>
          <a:prstGeom prst="rect">
            <a:avLst/>
          </a:prstGeom>
        </p:spPr>
        <p:txBody>
          <a:bodyPr anchor="t" rtlCol="false" tIns="0" lIns="0" bIns="0" rIns="0">
            <a:spAutoFit/>
          </a:bodyPr>
          <a:lstStyle/>
          <a:p>
            <a:pPr algn="ctr">
              <a:lnSpc>
                <a:spcPts val="2195"/>
              </a:lnSpc>
            </a:pPr>
            <a:r>
              <a:rPr lang="en-US" sz="1829" b="true">
                <a:solidFill>
                  <a:srgbClr val="153866"/>
                </a:solidFill>
                <a:latin typeface="Aptos Bold"/>
                <a:ea typeface="Aptos Bold"/>
                <a:cs typeface="Aptos Bold"/>
                <a:sym typeface="Aptos Bold"/>
              </a:rPr>
              <a:t>Human-in-the-loop</a:t>
            </a:r>
          </a:p>
        </p:txBody>
      </p:sp>
      <p:sp>
        <p:nvSpPr>
          <p:cNvPr name="TextBox 24" id="24"/>
          <p:cNvSpPr txBox="true"/>
          <p:nvPr/>
        </p:nvSpPr>
        <p:spPr>
          <a:xfrm rot="0">
            <a:off x="12682728" y="4887468"/>
            <a:ext cx="3877056" cy="745236"/>
          </a:xfrm>
          <a:prstGeom prst="rect">
            <a:avLst/>
          </a:prstGeom>
        </p:spPr>
        <p:txBody>
          <a:bodyPr anchor="t" rtlCol="false" tIns="0" lIns="0" bIns="0" rIns="0">
            <a:spAutoFit/>
          </a:bodyPr>
          <a:lstStyle/>
          <a:p>
            <a:pPr algn="ctr">
              <a:lnSpc>
                <a:spcPts val="1889"/>
              </a:lnSpc>
            </a:pPr>
            <a:r>
              <a:rPr lang="en-US" sz="1575">
                <a:solidFill>
                  <a:srgbClr val="1F2D3D"/>
                </a:solidFill>
                <a:latin typeface="Aptos"/>
                <a:ea typeface="Aptos"/>
                <a:cs typeface="Aptos"/>
                <a:sym typeface="Aptos"/>
              </a:rPr>
              <a:t>Kỹ sư duyệt; đo lại trước–sau cùng phương pháp.</a:t>
            </a:r>
          </a:p>
        </p:txBody>
      </p:sp>
      <p:grpSp>
        <p:nvGrpSpPr>
          <p:cNvPr name="Group 25" id="25"/>
          <p:cNvGrpSpPr/>
          <p:nvPr/>
        </p:nvGrpSpPr>
        <p:grpSpPr>
          <a:xfrm rot="0">
            <a:off x="1199388" y="6603492"/>
            <a:ext cx="15898368" cy="1606296"/>
            <a:chOff x="0" y="0"/>
            <a:chExt cx="21197824" cy="2141728"/>
          </a:xfrm>
        </p:grpSpPr>
        <p:sp>
          <p:nvSpPr>
            <p:cNvPr name="Freeform 26" id="26"/>
            <p:cNvSpPr/>
            <p:nvPr/>
          </p:nvSpPr>
          <p:spPr>
            <a:xfrm flipH="false" flipV="false" rot="0">
              <a:off x="0" y="0"/>
              <a:ext cx="21197824" cy="2141728"/>
            </a:xfrm>
            <a:custGeom>
              <a:avLst/>
              <a:gdLst/>
              <a:ahLst/>
              <a:cxnLst/>
              <a:rect r="r" b="b" t="t" l="l"/>
              <a:pathLst>
                <a:path h="2141728" w="21197824">
                  <a:moveTo>
                    <a:pt x="0" y="356997"/>
                  </a:moveTo>
                  <a:cubicBezTo>
                    <a:pt x="0" y="159766"/>
                    <a:pt x="159766" y="0"/>
                    <a:pt x="356997" y="0"/>
                  </a:cubicBezTo>
                  <a:lnTo>
                    <a:pt x="20840827" y="0"/>
                  </a:lnTo>
                  <a:cubicBezTo>
                    <a:pt x="21037931" y="0"/>
                    <a:pt x="21197824" y="159766"/>
                    <a:pt x="21197824" y="356997"/>
                  </a:cubicBezTo>
                  <a:lnTo>
                    <a:pt x="21197824" y="1784731"/>
                  </a:lnTo>
                  <a:cubicBezTo>
                    <a:pt x="21197824" y="1981835"/>
                    <a:pt x="21038058" y="2141728"/>
                    <a:pt x="20840827" y="2141728"/>
                  </a:cubicBezTo>
                  <a:lnTo>
                    <a:pt x="356997" y="2141728"/>
                  </a:lnTo>
                  <a:cubicBezTo>
                    <a:pt x="159766" y="2141728"/>
                    <a:pt x="0" y="1981962"/>
                    <a:pt x="0" y="1784731"/>
                  </a:cubicBezTo>
                  <a:close/>
                </a:path>
              </a:pathLst>
            </a:custGeom>
            <a:solidFill>
              <a:srgbClr val="153866"/>
            </a:solidFill>
            <a:ln w="15240" cap="sq">
              <a:solidFill>
                <a:srgbClr val="153866"/>
              </a:solidFill>
              <a:prstDash val="solid"/>
              <a:miter/>
            </a:ln>
          </p:spPr>
        </p:sp>
      </p:grpSp>
      <p:grpSp>
        <p:nvGrpSpPr>
          <p:cNvPr name="Group 27" id="27"/>
          <p:cNvGrpSpPr/>
          <p:nvPr/>
        </p:nvGrpSpPr>
        <p:grpSpPr>
          <a:xfrm rot="0">
            <a:off x="1577340" y="6885432"/>
            <a:ext cx="15142464" cy="987552"/>
            <a:chOff x="0" y="0"/>
            <a:chExt cx="20189952" cy="1316736"/>
          </a:xfrm>
        </p:grpSpPr>
        <p:sp>
          <p:nvSpPr>
            <p:cNvPr name="Freeform 28" id="28"/>
            <p:cNvSpPr/>
            <p:nvPr/>
          </p:nvSpPr>
          <p:spPr>
            <a:xfrm flipH="false" flipV="false" rot="0">
              <a:off x="0" y="0"/>
              <a:ext cx="20189952" cy="1316736"/>
            </a:xfrm>
            <a:custGeom>
              <a:avLst/>
              <a:gdLst/>
              <a:ahLst/>
              <a:cxnLst/>
              <a:rect r="r" b="b" t="t" l="l"/>
              <a:pathLst>
                <a:path h="1316736" w="20189952">
                  <a:moveTo>
                    <a:pt x="0" y="0"/>
                  </a:moveTo>
                  <a:lnTo>
                    <a:pt x="20189952" y="0"/>
                  </a:lnTo>
                  <a:lnTo>
                    <a:pt x="20189952" y="1316736"/>
                  </a:lnTo>
                  <a:lnTo>
                    <a:pt x="0" y="1316736"/>
                  </a:lnTo>
                  <a:close/>
                </a:path>
              </a:pathLst>
            </a:custGeom>
            <a:blipFill>
              <a:blip r:embed="rId3">
                <a:alphaModFix amt="0"/>
              </a:blip>
              <a:stretch>
                <a:fillRect l="0" t="-248770" r="0" b="-248770"/>
              </a:stretch>
            </a:blipFill>
          </p:spPr>
          <p:txBody>
            <a:bodyPr/>
            <a:p/>
          </p:txBody>
        </p:sp>
        <p:sp>
          <p:nvSpPr>
            <p:cNvPr name="TextBox 29" id="29"/>
            <p:cNvSpPr txBox="true"/>
            <p:nvPr/>
          </p:nvSpPr>
          <p:spPr>
            <a:xfrm>
              <a:off x="0" y="0"/>
              <a:ext cx="20189952" cy="1316736"/>
            </a:xfrm>
            <a:prstGeom prst="rect">
              <a:avLst/>
            </a:prstGeom>
          </p:spPr>
          <p:txBody>
            <a:bodyPr anchor="ctr" rtlCol="false" tIns="0" lIns="0" bIns="0" rIns="0"/>
            <a:lstStyle/>
            <a:p>
              <a:pPr algn="ctr">
                <a:lnSpc>
                  <a:spcPts val="2879"/>
                </a:lnSpc>
              </a:pPr>
              <a:r>
                <a:rPr lang="en-US" sz="2400" b="true">
                  <a:solidFill>
                    <a:srgbClr val="FFFFFF"/>
                  </a:solidFill>
                  <a:latin typeface="Aptos Bold"/>
                  <a:ea typeface="Aptos Bold"/>
                  <a:cs typeface="Aptos Bold"/>
                  <a:sym typeface="Aptos Bold"/>
                </a:rPr>
                <a:t>Đề xuất: pilot 4 tuần tại một trạm DENSO — quay video, dashboard 3M có bằng chứng, kỹ sư duyệt và đo lại trước–sau.</a:t>
              </a:r>
            </a:p>
          </p:txBody>
        </p:sp>
      </p:grpSp>
      <p:sp>
        <p:nvSpPr>
          <p:cNvPr name="TextBox 30" id="30"/>
          <p:cNvSpPr txBox="true"/>
          <p:nvPr/>
        </p:nvSpPr>
        <p:spPr>
          <a:xfrm rot="0">
            <a:off x="3232404" y="8535924"/>
            <a:ext cx="11846052" cy="374904"/>
          </a:xfrm>
          <a:prstGeom prst="rect">
            <a:avLst/>
          </a:prstGeom>
        </p:spPr>
        <p:txBody>
          <a:bodyPr anchor="t" rtlCol="false" tIns="0" lIns="0" bIns="0" rIns="0">
            <a:spAutoFit/>
          </a:bodyPr>
          <a:lstStyle/>
          <a:p>
            <a:pPr algn="ctr">
              <a:lnSpc>
                <a:spcPts val="2070"/>
              </a:lnSpc>
            </a:pPr>
            <a:r>
              <a:rPr lang="en-US" sz="1725" b="true">
                <a:solidFill>
                  <a:srgbClr val="586777"/>
                </a:solidFill>
                <a:latin typeface="Aptos Bold"/>
                <a:ea typeface="Aptos Bold"/>
                <a:cs typeface="Aptos Bold"/>
                <a:sym typeface="Aptos Bold"/>
              </a:rPr>
              <a:t>Đo đúng • Giải thích có căn cứ • Kỹ sư quyết định • Tri thức được tích lũy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8508206" y="95250"/>
            <a:ext cx="1309688" cy="228600"/>
          </a:xfrm>
          <a:prstGeom prst="rect">
            <a:avLst/>
          </a:prstGeom>
        </p:spPr>
        <p:txBody>
          <a:bodyPr anchor="t" rtlCol="false" tIns="0" lIns="0" bIns="0" rIns="0">
            <a:spAutoFit/>
          </a:bodyPr>
          <a:lstStyle/>
          <a:p>
            <a:pPr algn="l">
              <a:lnSpc>
                <a:spcPts val="1800"/>
              </a:lnSpc>
            </a:pPr>
            <a:r>
              <a:rPr lang="en-US" sz="1500">
                <a:solidFill>
                  <a:srgbClr val="FF0000">
                    <a:alpha val="49804"/>
                  </a:srgbClr>
                </a:solidFill>
                <a:latin typeface="Aptos"/>
                <a:ea typeface="Aptos"/>
                <a:cs typeface="Aptos"/>
                <a:sym typeface="Aptos"/>
              </a:rPr>
              <a:t>CONFIDENTIAL</a:t>
            </a:r>
          </a:p>
        </p:txBody>
      </p:sp>
      <p:grpSp>
        <p:nvGrpSpPr>
          <p:cNvPr name="Group 4" id="4"/>
          <p:cNvGrpSpPr/>
          <p:nvPr/>
        </p:nvGrpSpPr>
        <p:grpSpPr>
          <a:xfrm rot="0">
            <a:off x="599094" y="488728"/>
            <a:ext cx="2857500" cy="1143000"/>
            <a:chOff x="0" y="0"/>
            <a:chExt cx="3810000" cy="1524000"/>
          </a:xfrm>
        </p:grpSpPr>
        <p:sp>
          <p:nvSpPr>
            <p:cNvPr name="Freeform 5" id="5" descr="A blue and green text with a black background  Description automatically generated"/>
            <p:cNvSpPr/>
            <p:nvPr/>
          </p:nvSpPr>
          <p:spPr>
            <a:xfrm flipH="false" flipV="false" rot="0">
              <a:off x="0" y="0"/>
              <a:ext cx="3810000" cy="1524000"/>
            </a:xfrm>
            <a:custGeom>
              <a:avLst/>
              <a:gdLst/>
              <a:ahLst/>
              <a:cxnLst/>
              <a:rect r="r" b="b" t="t" l="l"/>
              <a:pathLst>
                <a:path h="1524000" w="3810000">
                  <a:moveTo>
                    <a:pt x="0" y="0"/>
                  </a:moveTo>
                  <a:lnTo>
                    <a:pt x="3810000" y="0"/>
                  </a:lnTo>
                  <a:lnTo>
                    <a:pt x="3810000" y="1524000"/>
                  </a:lnTo>
                  <a:lnTo>
                    <a:pt x="0" y="1524000"/>
                  </a:lnTo>
                  <a:lnTo>
                    <a:pt x="0" y="0"/>
                  </a:lnTo>
                  <a:close/>
                </a:path>
              </a:pathLst>
            </a:custGeom>
            <a:blipFill>
              <a:blip r:embed="rId3"/>
              <a:stretch>
                <a:fillRect l="0" t="0" r="0" b="0"/>
              </a:stretch>
            </a:blipFill>
          </p:spPr>
        </p:sp>
      </p:grpSp>
      <p:sp>
        <p:nvSpPr>
          <p:cNvPr name="TextBox 6" id="6"/>
          <p:cNvSpPr txBox="true"/>
          <p:nvPr/>
        </p:nvSpPr>
        <p:spPr>
          <a:xfrm rot="0">
            <a:off x="1037844" y="7850124"/>
            <a:ext cx="8554212" cy="704088"/>
          </a:xfrm>
          <a:prstGeom prst="rect">
            <a:avLst/>
          </a:prstGeom>
        </p:spPr>
        <p:txBody>
          <a:bodyPr anchor="t" rtlCol="false" tIns="0" lIns="0" bIns="0" rIns="0">
            <a:spAutoFit/>
          </a:bodyPr>
          <a:lstStyle/>
          <a:p>
            <a:pPr algn="l">
              <a:lnSpc>
                <a:spcPts val="4500"/>
              </a:lnSpc>
            </a:pPr>
            <a:r>
              <a:rPr lang="en-US" sz="3750" b="true">
                <a:solidFill>
                  <a:srgbClr val="FFFFFF"/>
                </a:solidFill>
                <a:latin typeface="Aptos Bold"/>
                <a:ea typeface="Aptos Bold"/>
                <a:cs typeface="Aptos Bold"/>
                <a:sym typeface="Aptos Bold"/>
              </a:rPr>
              <a:t>AI KAIZEN COPILOT</a:t>
            </a:r>
          </a:p>
        </p:txBody>
      </p:sp>
      <p:sp>
        <p:nvSpPr>
          <p:cNvPr name="TextBox 7" id="7"/>
          <p:cNvSpPr txBox="true"/>
          <p:nvPr/>
        </p:nvSpPr>
        <p:spPr>
          <a:xfrm rot="0">
            <a:off x="1078992" y="8590788"/>
            <a:ext cx="9857232" cy="457200"/>
          </a:xfrm>
          <a:prstGeom prst="rect">
            <a:avLst/>
          </a:prstGeom>
        </p:spPr>
        <p:txBody>
          <a:bodyPr anchor="t" rtlCol="false" tIns="0" lIns="0" bIns="0" rIns="0">
            <a:spAutoFit/>
          </a:bodyPr>
          <a:lstStyle/>
          <a:p>
            <a:pPr algn="l">
              <a:lnSpc>
                <a:spcPts val="2340"/>
              </a:lnSpc>
            </a:pPr>
            <a:r>
              <a:rPr lang="en-US" sz="1950" b="true">
                <a:solidFill>
                  <a:srgbClr val="E7F3FF"/>
                </a:solidFill>
                <a:latin typeface="Aptos Bold"/>
                <a:ea typeface="Aptos Bold"/>
                <a:cs typeface="Aptos Bold"/>
                <a:sym typeface="Aptos Bold"/>
              </a:rPr>
              <a:t>CẢM ƠN — HỎI &amp; ĐÁP</a:t>
            </a:r>
          </a:p>
        </p:txBody>
      </p:sp>
      <p:sp>
        <p:nvSpPr>
          <p:cNvPr name="TextBox 8" id="8"/>
          <p:cNvSpPr txBox="true"/>
          <p:nvPr/>
        </p:nvSpPr>
        <p:spPr>
          <a:xfrm rot="0">
            <a:off x="1078992" y="9153144"/>
            <a:ext cx="9857232" cy="333756"/>
          </a:xfrm>
          <a:prstGeom prst="rect">
            <a:avLst/>
          </a:prstGeom>
        </p:spPr>
        <p:txBody>
          <a:bodyPr anchor="t" rtlCol="false" tIns="0" lIns="0" bIns="0" rIns="0">
            <a:spAutoFit/>
          </a:bodyPr>
          <a:lstStyle/>
          <a:p>
            <a:pPr algn="l">
              <a:lnSpc>
                <a:spcPts val="1800"/>
              </a:lnSpc>
            </a:pPr>
            <a:r>
              <a:rPr lang="en-US" sz="1500">
                <a:solidFill>
                  <a:srgbClr val="D5E6FF"/>
                </a:solidFill>
                <a:latin typeface="Aptos"/>
                <a:ea typeface="Aptos"/>
                <a:cs typeface="Aptos"/>
                <a:sym typeface="Aptos"/>
              </a:rPr>
              <a:t>DENSO Factory Hacks 2026  •  MEASURE · EXPLAIN · VERIFY</a:t>
            </a:r>
          </a:p>
        </p:txBody>
      </p:sp>
      <p:sp>
        <p:nvSpPr>
          <p:cNvPr id="9" name="TextBox 8"/>
          <p:cNvSpPr txBox="1"/>
          <p:nvPr/>
        </p:nvSpPr>
        <p:spPr>
          <a:xfrm>
            <a:off x="1078992" y="9601200"/>
            <a:ext cx="14630400" cy="365760"/>
          </a:xfrm>
          <a:prstGeom prst="rect">
            <a:avLst/>
          </a:prstGeom>
          <a:noFill/>
        </p:spPr>
        <p:txBody>
          <a:bodyPr wrap="square" lIns="0" rIns="0" tIns="0" bIns="0" anchor="t">
            <a:spAutoFit/>
          </a:bodyPr>
          <a:lstStyle/>
          <a:p>
            <a:pPr algn="l">
              <a:lnSpc>
                <a:spcPct val="112000"/>
              </a:lnSpc>
              <a:spcAft>
                <a:spcPts val="400"/>
              </a:spcAft>
            </a:pPr>
            <a:r>
              <a:rPr sz="1400" b="0">
                <a:solidFill>
                  <a:srgbClr val="FFFFFF"/>
                </a:solidFill>
                <a:latin typeface="Aptos"/>
              </a:rPr>
              <a:t>Trịnh Gia Huy (nhóm trưởng) · Vũ Văn Mạnh · Nguyễn Trần Quang · Trịnh Hoài Nam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DAHXtHm8cCo</dc:identifier>
  <dcterms:modified xsi:type="dcterms:W3CDTF">2011-08-01T06:04:30Z</dcterms:modified>
  <cp:revision>1</cp:revision>
  <dc:title>AI Kaizen Copilot — DENSO Factory Hacks 2026</dc:title>
</cp:coreProperties>
</file>